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85" r:id="rId36"/>
    <p:sldId id="286" r:id="rId37"/>
    <p:sldId id="279" r:id="rId25"/>
    <p:sldId id="280" r:id="rId26"/>
    <p:sldId id="281" r:id="rId27"/>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831f278-3c4a-4e03-6694-4312e82a9f63}">
          <p14:sldIdLst>
            <p14:sldId id="256"/>
            <p14:sldId id="257"/>
            <p14:sldId id="258"/>
            <p14:sldId id="259"/>
            <p14:sldId id="260"/>
            <p14:sldId id="261"/>
          </p14:sldIdLst>
        </p14:section>
        <p14:section name="Use-case scenarios" id="{3804ec80-3078-2e50-9f63-8a67968a1c07}">
          <p14:sldIdLst>
            <p14:sldId id="262"/>
            <p14:sldId id="263"/>
            <p14:sldId id="264"/>
            <p14:sldId id="265"/>
            <p14:sldId id="266"/>
            <p14:sldId id="267"/>
            <p14:sldId id="268"/>
            <p14:sldId id="269"/>
            <p14:sldId id="270"/>
            <p14:sldId id="271"/>
            <p14:sldId id="272"/>
            <p14:sldId id="273"/>
            <p14:sldId id="274"/>
            <p14:sldId id="275"/>
            <p14:sldId id="276"/>
            <p14:sldId id="277"/>
            <p14:sldId id="285"/>
            <p14:sldId id="286"/>
            <p14:sldId id="279"/>
          </p14:sldIdLst>
        </p14:section>
        <p14:section name="Production readiness" id="{76f79d88-a0de-5764-6e20-e440b6fd2c37}">
          <p14:sldIdLst>
            <p14:sldId id="280"/>
            <p14:sldId id="281"/>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30.xml"/><Relationship Id="rId37" Type="http://schemas.openxmlformats.org/officeDocument/2006/relationships/slide" Target="slides/slide3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11827"/>
                </a:solidFill>
                <a:latin typeface="+mn-lt"/>
              </a:defRPr>
            </a:pPr>
            <a:r>
              <a:rPr sz="1400" b="0" i="0" u="none" strike="noStrike">
                <a:solidFill>
                  <a:srgbClr val="111827"/>
                </a:solidFill>
                <a:latin typeface="+mn-lt"/>
              </a:rPr>
              <a:t>Similarity weights (%)</a:t>
            </a:r>
          </a:p>
        </c:rich>
      </c:tx>
      <c:layout/>
      <c:overlay val="0"/>
    </c:title>
    <c:autoTitleDeleted val="0"/>
    <c:plotArea>
      <c:layout/>
      <c:barChart>
        <c:barDir val="bar"/>
        <c:grouping val="clustered"/>
        <c:varyColors val="0"/>
        <c:ser>
          <c:idx val="0"/>
          <c:order val="0"/>
          <c:tx>
            <c:strRef>
              <c:f>Sheet1!$B$1</c:f>
              <c:strCache>
                <c:ptCount val="1"/>
                <c:pt idx="0">
                  <c:v>Weight</c:v>
                </c:pt>
              </c:strCache>
            </c:strRef>
          </c:tx>
          <c:spPr>
            <a:solidFill>
              <a:srgbClr val="1E3A5F"/>
            </a:solidFill>
            <a:effectLst/>
          </c:spPr>
          <c:invertIfNegative val="0"/>
          <c:dLbls>
            <c:numFmt formatCode="0&quot;%&quot;" sourceLinked="0"/>
            <c:txPr>
              <a:bodyPr/>
              <a:lstStyle/>
              <a:p>
                <a:pPr>
                  <a:defRPr b="0" i="0" strike="noStrike" sz="1200" u="none">
                    <a:solidFill>
                      <a:srgbClr val="111827"/>
                    </a:solidFill>
                    <a:latin typeface="+mn-lt"/>
                  </a:defRPr>
                </a:pPr>
              </a:p>
            </c:txPr>
            <c:showLegendKey val="0"/>
            <c:showVal val="1"/>
            <c:showCatName val="0"/>
            <c:showSerName val="0"/>
            <c:showPercent val="0"/>
            <c:showBubbleSize val="0"/>
            <c:showLeaderLines val="0"/>
          </c:dLbls>
          <c:cat>
            <c:multiLvlStrRef>
              <c:f>Sheet1!$A$2:$A$5</c:f>
              <c:multiLvlStrCache>
                <c:ptCount val="4"/>
                <c:lvl>
                  <c:pt idx="0">
                    <c:v>Sleep</c:v>
                  </c:pt>
                  <c:pt idx="1">
                    <c:v>Study</c:v>
                  </c:pt>
                  <c:pt idx="2">
                    <c:v>Cleanliness</c:v>
                  </c:pt>
                  <c:pt idx="3">
                    <c:v>Social</c:v>
                  </c:pt>
                </c:lvl>
              </c:multiLvlStrCache>
            </c:multiLvlStrRef>
          </c:cat>
          <c:val>
            <c:numRef>
              <c:f>Sheet1!$B$2:$B$5</c:f>
              <c:numCache>
                <c:formatCode>General</c:formatCode>
                <c:ptCount val="4"/>
                <c:pt idx="0">
                  <c:v>30</c:v>
                </c:pt>
                <c:pt idx="1">
                  <c:v>25</c:v>
                </c:pt>
                <c:pt idx="2">
                  <c:v>25</c:v>
                </c:pt>
                <c:pt idx="3">
                  <c:v>20</c:v>
                </c:pt>
              </c:numCache>
            </c:numRef>
          </c:val>
        </c:ser>
        <c:dLbls>
          <c:numFmt formatCode="0&quot;%&quot;" sourceLinked="0"/>
          <c:txPr>
            <a:bodyPr/>
            <a:lstStyle/>
            <a:p>
              <a:pPr>
                <a:defRPr b="0" i="0" strike="noStrike" sz="1200" u="none">
                  <a:solidFill>
                    <a:srgbClr val="11182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max val="4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Demeure AI is a single platform that runs hostel and campus operations end to end. Every screen in this deck was captured from the running application, using real flows across four signed-in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is a real bottleneck in Indian hostels: paper outpass registers, complaints scattered across WhatsApp, surveys collected in spreadsheets nobody reads, and dues reconciled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persona signs in to a workspace scoped to their job. The server enforces the same scoping, so a student can never call an admin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from this build: 13 modules in the sidebar, the 100-student survey dataset seeded at first start, 31 automated backend tests, 8 scripted end-to-end scenarios, and the gzipped first-load JavaScript.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React app talks only to the FastAPI service. Each adapter has a local implementation and an AWS one, chosen at start-up from the environment: SQLite or DynamoDB, local disk or S3, logged email or SES, browser speech or Polly.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Credentials are verified server-side against salted hashes. The session lives in an HttpOnly, SameSite=Strict cookie. Ten failed attempts in five minutes lock the client out. Production refuses demo PINs and weak secrets at start-up.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screenshot comes from an automated Chrome run against the real backend, so the flows shown are exactly what users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picks dates, gives a reason and attaches a PDF. The file is validated (type, content, 5 MB) and stored privately. The leave is saved with the student's identity taken from the session, not from the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uploader and hostel or campus staff can open the attachment. Approval is a one-way state change; acting twice returns a conflict instead of silently overwriting.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can now request visitor passes themselves; this flow was missing before. On approval the server issues a gate pass code and emails the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sets the per-unit rate and dispatches. This opens a new billing cycle, so every student owes for the new cycle even if they paid the last one. The chart switches between three metered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statement is computed on the server from the current rate, so the browser cannot change the amount. The UPI ID is validated, and paying twice in one cycle is refused. Note: the payment gateway itself is simulated in this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100-student dataset in the repo is seeded at first start and normalised to the survey form's vocabulary. New student submissions join it immediately; here the total is 101 after Pratik submitted.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habit maps to a 0-2 scale and is compared with the warden's inputs, weighted as shown. Same-block preference adds a small bonus. Before this release the results were hard-coded.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Allocations are saved centrally and checked on the server: no overfilling and no duplicate names. Every warden session sees the same occupancy.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Triage runs on the server. The category with the most keyword hits wins, with safety-critical categories winning ties, and terms like sparks or socket escalate to a 2-hour SLA. Staff move tickets from Open to Dispatched to 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are embedded with MiniLM and matched against the hostel rulebooks. The top passages go to a Groq-hosted LLM, which must answer only from them. Answers show their source files, and the speaker icon reads them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manager uploads the weekly menu sheet. It is parsed in the browser, validated (7 days, sane lengths), and published on the server, so every student sees it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Ratings are stored with the student's real name from the session, and the manager's rating distribution updates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Anonymous tickets keep the filer so they can track their own case, but staff responses never include who filed it. Staff can still escalate it to investigation and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Booking and ticket IDs now come from the server, so the screen and the database agree. Admins gained approve/reject and status-advance controls that were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gate event is a SHA-256 block chained to the previous one. The server re-verifies the whole chain on every read, and editing any past record flips the badge to an integrity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Admins can test SES, S3 and Polly from one screen. Every data write, email and upload appears in the SDK log console, whether the system is on real AWS or in local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covers the engineering work: security, persistence, validation, testing and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tile is a concrete change in this release, covered by the automated test suite or the end-to-end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honest gaps. Payments are simulated, academics use sample data until a student information system is connected, and the gate scanner needs real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live demo: sign in as the student, submit a leave, switch to the warden and approve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directory lists all residents with masked phone numbers and current dues status. Opening a profile decrypts it for that session and writes an audit entry. The campus admin can show the record exactly as stored: contact, guardian, health and address fields are AES-256-GCM ciphertext.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Staff add a resident through a validated form or import a CSV/Excel sheet. Each resident gets a bed in a block that matches their gender, an encrypted record and a one-time access code that is e-mailed to them. Rows with errors are reported and skipped; codes can be downloaded as a CSV.</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3A5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502920"/>
            <a:ext cx="4206240" cy="292608"/>
          </a:xfrm>
          <a:prstGeom prst="rect">
            <a:avLst/>
          </a:prstGeom>
          <a:noFill/>
          <a:ln/>
        </p:spPr>
        <p:txBody>
          <a:bodyPr wrap="square" rtlCol="0"/>
          <a:lstStyle>
            <a:lvl1pPr indent="0" marL="0">
              <a:buNone/>
              <a:defRPr lang="en-US" sz="1100" b="1" dirty="0">
                <a:solidFill>
                  <a:schemeClr val="accent3"/>
                </a:solidFill>
                <a:latin typeface="Courier New" pitchFamily="34" charset="0"/>
                <a:ea typeface="Courier New" pitchFamily="34" charset="-122"/>
                <a:cs typeface="Courier New" pitchFamily="34" charset="-120"/>
              </a:defRPr>
            </a:lvl1pPr>
          </a:lstStyle>
          <a:p>
            <a:pPr indent="0" marL="0">
              <a:buNone/>
            </a:pPr>
            <a:endParaRPr lang="en-US" sz="1100" dirty="0"/>
          </a:p>
        </p:txBody>
      </p:sp>
      <p:sp>
        <p:nvSpPr>
          <p:cNvPr id="3" name="Text 0"/>
          <p:cNvSpPr/>
          <p:nvPr>
            <p:ph idx="101" type="title" hasCustomPrompt="1"/>
          </p:nvPr>
        </p:nvSpPr>
        <p:spPr>
          <a:xfrm>
            <a:off x="457200" y="914400"/>
            <a:ext cx="4206240" cy="1417320"/>
          </a:xfrm>
          <a:prstGeom prst="rect">
            <a:avLst/>
          </a:prstGeom>
          <a:noFill/>
          <a:ln/>
        </p:spPr>
        <p:txBody>
          <a:bodyPr wrap="square" rtlCol="0"/>
          <a:lstStyle>
            <a:lvl1pPr indent="0" marL="0">
              <a:buNone/>
              <a:defRPr lang="en-US" sz="4800" b="1" dirty="0">
                <a:solidFill>
                  <a:schemeClr val="bg1"/>
                </a:solidFill>
              </a:defRPr>
            </a:lvl1pPr>
          </a:lstStyle>
          <a:p>
            <a:pPr indent="0" marL="0">
              <a:buNone/>
            </a:pPr>
            <a:endParaRPr lang="en-US" sz="4800" dirty="0"/>
          </a:p>
        </p:txBody>
      </p:sp>
      <p:sp>
        <p:nvSpPr>
          <p:cNvPr id="4" name="Text 0"/>
          <p:cNvSpPr/>
          <p:nvPr>
            <p:ph idx="102" type="body" hasCustomPrompt="1"/>
          </p:nvPr>
        </p:nvSpPr>
        <p:spPr>
          <a:xfrm>
            <a:off x="457200" y="2423160"/>
            <a:ext cx="3931920" cy="118872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11827"/>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8046720" cy="320040"/>
          </a:xfrm>
          <a:prstGeom prst="rect">
            <a:avLst/>
          </a:prstGeom>
          <a:noFill/>
          <a:ln/>
        </p:spPr>
        <p:txBody>
          <a:bodyPr wrap="square" rtlCol="0"/>
          <a:lstStyle>
            <a:lvl1pPr indent="0" marL="0">
              <a:buNone/>
              <a:defRPr lang="en-US" sz="1200" b="1" dirty="0">
                <a:solidFill>
                  <a:schemeClr val="accent3"/>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3" name="Text 0"/>
          <p:cNvSpPr/>
          <p:nvPr>
            <p:ph idx="101" type="title" hasCustomPrompt="1"/>
          </p:nvPr>
        </p:nvSpPr>
        <p:spPr>
          <a:xfrm>
            <a:off x="548640" y="1783080"/>
            <a:ext cx="8046720" cy="91440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4" name="Text 0"/>
          <p:cNvSpPr/>
          <p:nvPr>
            <p:ph idx="102" type="body" hasCustomPrompt="1"/>
          </p:nvPr>
        </p:nvSpPr>
        <p:spPr>
          <a:xfrm>
            <a:off x="548640" y="2788920"/>
            <a:ext cx="6949440" cy="109728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
        <p:nvSpPr>
          <p:cNvPr id="5" name="Text 0"/>
          <p:cNvSpPr/>
          <p:nvPr/>
        </p:nvSpPr>
        <p:spPr>
          <a:xfrm>
            <a:off x="457200" y="4818888"/>
            <a:ext cx="3657600" cy="201168"/>
          </a:xfrm>
          <a:prstGeom prst="rect">
            <a:avLst/>
          </a:prstGeom>
          <a:noFill/>
          <a:ln/>
        </p:spPr>
        <p:txBody>
          <a:bodyPr wrap="square" lIns="0" tIns="0" rIns="0" bIns="0" rtlCol="0" anchor="ctr"/>
          <a:lstStyle/>
          <a:p>
            <a:pPr indent="0" marL="0">
              <a:buNone/>
            </a:pPr>
            <a:r>
              <a:rPr lang="en-US" sz="800" dirty="0">
                <a:solidFill>
                  <a:schemeClr val="bg2"/>
                </a:solidFill>
                <a:latin typeface="Courier New" pitchFamily="34" charset="0"/>
                <a:ea typeface="Courier New" pitchFamily="34" charset="-122"/>
                <a:cs typeface="Courier New" pitchFamily="34" charset="-120"/>
              </a:rPr>
              <a:t>DEMEURE AI  ·  CAMPUS OS</a:t>
            </a:r>
            <a:endParaRPr lang="en-US" sz="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F8F6F2"/>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rtlCol="0"/>
          <a:lstStyle>
            <a:lvl1pPr indent="0" marL="0">
              <a:buNone/>
              <a:defRPr lang="en-US" sz="1000" b="1" dirty="0">
                <a:solidFill>
                  <a:schemeClr val="accent2"/>
                </a:solidFill>
                <a:latin typeface="Courier New" pitchFamily="34" charset="0"/>
                <a:ea typeface="Courier New" pitchFamily="34" charset="-122"/>
                <a:cs typeface="Courier New" pitchFamily="34" charset="-120"/>
              </a:defRPr>
            </a:lvl1pPr>
          </a:lstStyle>
          <a:p>
            <a:pPr indent="0" marL="0">
              <a:buNone/>
            </a:pP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rtlCol="0"/>
          <a:lstStyle>
            <a:lvl1pPr indent="0" marL="0">
              <a:buNone/>
              <a:defRPr lang="en-US" sz="2800" b="1" dirty="0">
                <a:solidFill>
                  <a:schemeClr val="tx2"/>
                </a:solidFill>
              </a:defRPr>
            </a:lvl1pPr>
          </a:lstStyle>
          <a:p>
            <a:pPr indent="0" marL="0">
              <a:buNone/>
            </a:pPr>
            <a:endParaRPr lang="en-US" sz="2800" dirty="0"/>
          </a:p>
        </p:txBody>
      </p:sp>
      <p:sp>
        <p:nvSpPr>
          <p:cNvPr id="4" name="Text 0"/>
          <p:cNvSpPr/>
          <p:nvPr/>
        </p:nvSpPr>
        <p:spPr>
          <a:xfrm>
            <a:off x="457200" y="4818888"/>
            <a:ext cx="3657600" cy="201168"/>
          </a:xfrm>
          <a:prstGeom prst="rect">
            <a:avLst/>
          </a:prstGeom>
          <a:noFill/>
          <a:ln/>
        </p:spPr>
        <p:txBody>
          <a:bodyPr wrap="square" lIns="0" tIns="0" rIns="0" bIns="0" rtlCol="0" anchor="ctr"/>
          <a:lstStyle/>
          <a:p>
            <a:pPr indent="0" marL="0">
              <a:buNone/>
            </a:pPr>
            <a:r>
              <a:rPr lang="en-US" sz="800" dirty="0">
                <a:solidFill>
                  <a:schemeClr val="accent6"/>
                </a:solidFill>
                <a:latin typeface="Courier New" pitchFamily="34" charset="0"/>
                <a:ea typeface="Courier New" pitchFamily="34" charset="-122"/>
                <a:cs typeface="Courier New" pitchFamily="34" charset="-120"/>
              </a:rPr>
              <a:t>DEMEURE AI  ·  CAMPUS OS</a:t>
            </a:r>
            <a:endParaRPr lang="en-US" sz="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F8F6F2"/>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notesSlide" Target="../notesSlides/notesSlide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3" Type="http://schemas.openxmlformats.org/officeDocument/2006/relationships/notesSlide" Target="../notesSlides/notesSlide3.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4.jpg"/><Relationship Id="rId3" Type="http://schemas.openxmlformats.org/officeDocument/2006/relationships/slideLayout" Target="../slideLayouts/slideLayout4.xml"/><Relationship Id="rId4" Type="http://schemas.openxmlformats.org/officeDocument/2006/relationships/notesSlide" Target="../notesSlides/notesSlide6.xml"/><Relationship Id="rId5"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3" Type="http://schemas.openxmlformats.org/officeDocument/2006/relationships/notesSlide" Target="../notesSlides/notesSlide8.xml"/><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image" Target="../media/image7.jpg"/><Relationship Id="rId3" Type="http://schemas.openxmlformats.org/officeDocument/2006/relationships/slideLayout" Target="../slideLayouts/slideLayout4.xml"/><Relationship Id="rId4" Type="http://schemas.openxmlformats.org/officeDocument/2006/relationships/notesSlide" Target="../notesSlides/notesSlide9.xml"/><Relationship Id="rId5"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image" Target="../media/image9.jpg"/><Relationship Id="rId3" Type="http://schemas.openxmlformats.org/officeDocument/2006/relationships/slideLayout" Target="../slideLayouts/slideLayout4.xml"/><Relationship Id="rId4" Type="http://schemas.openxmlformats.org/officeDocument/2006/relationships/notesSlide" Target="../notesSlides/notesSlide10.xml"/><Relationship Id="rId5" Type="http://schemas.openxmlformats.org/officeDocument/2006/relationships/image" Target="../media/image8.jp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4.xml"/><Relationship Id="rId3" Type="http://schemas.openxmlformats.org/officeDocument/2006/relationships/notesSlide" Target="../notesSlides/notesSlide11.xml"/><Relationship Id="rId4"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image" Target="../media/image12.jpg"/><Relationship Id="rId3" Type="http://schemas.openxmlformats.org/officeDocument/2006/relationships/slideLayout" Target="../slideLayouts/slideLayout4.xml"/><Relationship Id="rId4" Type="http://schemas.openxmlformats.org/officeDocument/2006/relationships/notesSlide" Target="../notesSlides/notesSlide12.xml"/><Relationship Id="rId5" Type="http://schemas.openxmlformats.org/officeDocument/2006/relationships/image" Target="../media/image11.jp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xml"/><Relationship Id="rId3" Type="http://schemas.openxmlformats.org/officeDocument/2006/relationships/notesSlide" Target="../notesSlides/notesSlide13.xml"/><Relationship Id="rId4" Type="http://schemas.openxmlformats.org/officeDocument/2006/relationships/image" Target="../media/image13.jpg"/></Relationships>
</file>

<file path=ppt/slides/_rels/slide14.xml.rels><?xml version='1.0' encoding='UTF-8' standalone='yes'?>
<Relationships xmlns="http://schemas.openxmlformats.org/package/2006/relationships"><Relationship Id="rId2" Type="http://schemas.openxmlformats.org/officeDocument/2006/relationships/chart" Target="../charts/chart1.xml"/><Relationship Id="rId3" Type="http://schemas.openxmlformats.org/officeDocument/2006/relationships/slideLayout" Target="../slideLayouts/slideLayout4.xml"/><Relationship Id="rId4" Type="http://schemas.openxmlformats.org/officeDocument/2006/relationships/notesSlide" Target="../notesSlides/notesSlide14.xml"/><Relationship Id="rId5"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image" Target="../media/image16.jpg"/><Relationship Id="rId3" Type="http://schemas.openxmlformats.org/officeDocument/2006/relationships/slideLayout" Target="../slideLayouts/slideLayout4.xml"/><Relationship Id="rId4" Type="http://schemas.openxmlformats.org/officeDocument/2006/relationships/notesSlide" Target="../notesSlides/notesSlide15.xml"/><Relationship Id="rId5"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image" Target="../media/image18.jpg"/><Relationship Id="rId3" Type="http://schemas.openxmlformats.org/officeDocument/2006/relationships/slideLayout" Target="../slideLayouts/slideLayout4.xml"/><Relationship Id="rId4" Type="http://schemas.openxmlformats.org/officeDocument/2006/relationships/notesSlide" Target="../notesSlides/notesSlide16.xml"/><Relationship Id="rId5" Type="http://schemas.openxmlformats.org/officeDocument/2006/relationships/image" Target="../media/image17.jp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4.xml"/><Relationship Id="rId3" Type="http://schemas.openxmlformats.org/officeDocument/2006/relationships/notesSlide" Target="../notesSlides/notesSlide17.xml"/><Relationship Id="rId4" Type="http://schemas.openxmlformats.org/officeDocument/2006/relationships/image" Target="../media/image19.jpg"/></Relationships>
</file>

<file path=ppt/slides/_rels/slide18.xml.rels><?xml version='1.0' encoding='UTF-8' standalone='yes'?>
<Relationships xmlns="http://schemas.openxmlformats.org/package/2006/relationships"><Relationship Id="rId1" Type="http://schemas.openxmlformats.org/officeDocument/2006/relationships/image" Target="../media/image21.jpg"/><Relationship Id="rId3" Type="http://schemas.openxmlformats.org/officeDocument/2006/relationships/slideLayout" Target="../slideLayouts/slideLayout4.xml"/><Relationship Id="rId4" Type="http://schemas.openxmlformats.org/officeDocument/2006/relationships/notesSlide" Target="../notesSlides/notesSlide18.xml"/><Relationship Id="rId5" Type="http://schemas.openxmlformats.org/officeDocument/2006/relationships/image" Target="../media/image20.jpg"/></Relationships>
</file>

<file path=ppt/slides/_rels/slide19.xml.rels><?xml version='1.0' encoding='UTF-8' standalone='yes'?>
<Relationships xmlns="http://schemas.openxmlformats.org/package/2006/relationships"><Relationship Id="rId1" Type="http://schemas.openxmlformats.org/officeDocument/2006/relationships/image" Target="../media/image23.jpg"/><Relationship Id="rId3" Type="http://schemas.openxmlformats.org/officeDocument/2006/relationships/slideLayout" Target="../slideLayouts/slideLayout4.xml"/><Relationship Id="rId4" Type="http://schemas.openxmlformats.org/officeDocument/2006/relationships/notesSlide" Target="../notesSlides/notesSlide19.xml"/><Relationship Id="rId5" Type="http://schemas.openxmlformats.org/officeDocument/2006/relationships/image" Target="../media/image22.jpg"/></Relationships>
</file>

<file path=ppt/slides/_rels/slide20.xml.rels><?xml version='1.0' encoding='UTF-8' standalone='yes'?>
<Relationships xmlns="http://schemas.openxmlformats.org/package/2006/relationships"><Relationship Id="rId1" Type="http://schemas.openxmlformats.org/officeDocument/2006/relationships/image" Target="../media/image25.jpg"/><Relationship Id="rId3" Type="http://schemas.openxmlformats.org/officeDocument/2006/relationships/slideLayout" Target="../slideLayouts/slideLayout4.xml"/><Relationship Id="rId4" Type="http://schemas.openxmlformats.org/officeDocument/2006/relationships/notesSlide" Target="../notesSlides/notesSlide20.xml"/><Relationship Id="rId5" Type="http://schemas.openxmlformats.org/officeDocument/2006/relationships/image" Target="../media/image24.jpg"/></Relationships>
</file>

<file path=ppt/slides/_rels/slide21.xml.rels><?xml version='1.0' encoding='UTF-8' standalone='yes'?>
<Relationships xmlns="http://schemas.openxmlformats.org/package/2006/relationships"><Relationship Id="rId1" Type="http://schemas.openxmlformats.org/officeDocument/2006/relationships/image" Target="../media/image27.jpg"/><Relationship Id="rId3" Type="http://schemas.openxmlformats.org/officeDocument/2006/relationships/slideLayout" Target="../slideLayouts/slideLayout4.xml"/><Relationship Id="rId4" Type="http://schemas.openxmlformats.org/officeDocument/2006/relationships/notesSlide" Target="../notesSlides/notesSlide21.xml"/><Relationship Id="rId5" Type="http://schemas.openxmlformats.org/officeDocument/2006/relationships/image" Target="../media/image26.jpg"/></Relationships>
</file>

<file path=ppt/slides/_rels/slide22.xml.rels><?xml version='1.0' encoding='UTF-8' standalone='yes'?>
<Relationships xmlns="http://schemas.openxmlformats.org/package/2006/relationships"><Relationship Id="rId1" Type="http://schemas.openxmlformats.org/officeDocument/2006/relationships/image" Target="../media/image29.jpg"/><Relationship Id="rId3" Type="http://schemas.openxmlformats.org/officeDocument/2006/relationships/slideLayout" Target="../slideLayouts/slideLayout4.xml"/><Relationship Id="rId4" Type="http://schemas.openxmlformats.org/officeDocument/2006/relationships/notesSlide" Target="../notesSlides/notesSlide22.xml"/><Relationship Id="rId5" Type="http://schemas.openxmlformats.org/officeDocument/2006/relationships/image" Target="../media/image28.jpg"/></Relationships>
</file>

<file path=ppt/slides/_rels/slide24.xml.rels><?xml version='1.0' encoding='UTF-8' standalone='yes'?>
<Relationships xmlns="http://schemas.openxmlformats.org/package/2006/relationships"><Relationship Id="rId1" Type="http://schemas.openxmlformats.org/officeDocument/2006/relationships/image" Target="../media/image31.jpg"/><Relationship Id="rId3" Type="http://schemas.openxmlformats.org/officeDocument/2006/relationships/slideLayout" Target="../slideLayouts/slideLayout4.xml"/><Relationship Id="rId4" Type="http://schemas.openxmlformats.org/officeDocument/2006/relationships/notesSlide" Target="../notesSlides/notesSlide24.xml"/><Relationship Id="rId5" Type="http://schemas.openxmlformats.org/officeDocument/2006/relationships/image" Target="../media/image3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slideLayout" Target="../slideLayouts/slideLayout4.xml"/><Relationship Id="rId10"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4.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notesSlide" Target="../notesSlides/notesSlide29.xml"/><Relationship Id="rId4" Type="http://schemas.openxmlformats.org/officeDocument/2006/relationships/image" Target="../media/image3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33.jpg"/><Relationship Id="rId4" Type="http://schemas.openxmlformats.org/officeDocument/2006/relationships/image" Target="../media/image3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35.jpg"/><Relationship Id="rId4" Type="http://schemas.openxmlformats.org/officeDocument/2006/relationships/image" Target="../media/image36.jp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502920"/>
            <a:ext cx="4206240" cy="292608"/>
          </a:xfrm>
          <a:prstGeom prst="rect">
            <a:avLst/>
          </a:prstGeom>
          <a:noFill/>
          <a:ln/>
        </p:spPr>
        <p:txBody>
          <a:bodyPr wrap="square" lIns="0" tIns="0" rIns="0" bIns="0" rtlCol="0"/>
          <a:lstStyle/>
          <a:p>
            <a:pPr indent="0" marL="0">
              <a:buNone/>
            </a:pPr>
            <a:r>
              <a:rPr lang="en-US" sz="1100" b="1" dirty="0">
                <a:solidFill>
                  <a:schemeClr val="accent3"/>
                </a:solidFill>
                <a:latin typeface="Courier New" pitchFamily="34" charset="0"/>
                <a:ea typeface="Courier New" pitchFamily="34" charset="-122"/>
                <a:cs typeface="Courier New" pitchFamily="34" charset="-120"/>
              </a:rPr>
              <a:t>FINAL REVIEW  ·  OCTOBER 2026</a:t>
            </a:r>
            <a:endParaRPr lang="en-US" sz="1100" dirty="0"/>
          </a:p>
        </p:txBody>
      </p:sp>
      <p:sp>
        <p:nvSpPr>
          <p:cNvPr id="3" name="Text 0"/>
          <p:cNvSpPr/>
          <p:nvPr>
            <p:ph idx="101" type="title" hasCustomPrompt="1"/>
          </p:nvPr>
        </p:nvSpPr>
        <p:spPr>
          <a:xfrm>
            <a:off x="457200" y="868680"/>
            <a:ext cx="4206240" cy="777240"/>
          </a:xfrm>
          <a:prstGeom prst="rect">
            <a:avLst/>
          </a:prstGeom>
          <a:noFill/>
          <a:ln/>
        </p:spPr>
        <p:txBody>
          <a:bodyPr wrap="square" lIns="0" tIns="0" rIns="0" bIns="0" rtlCol="0" anchor="t"/>
          <a:lstStyle/>
          <a:p>
            <a:pPr indent="0" marL="0" algn="l">
              <a:buNone/>
            </a:pPr>
            <a:r>
              <a:rPr lang="en-US" sz="4800" b="1" dirty="0">
                <a:solidFill>
                  <a:schemeClr val="bg1"/>
                </a:solidFill>
              </a:rPr>
              <a:t>Demeure AI</a:t>
            </a:r>
            <a:endParaRPr lang="en-US" sz="4800" dirty="0"/>
          </a:p>
        </p:txBody>
      </p:sp>
      <p:sp>
        <p:nvSpPr>
          <p:cNvPr id="4" name="Text 0"/>
          <p:cNvSpPr/>
          <p:nvPr>
            <p:ph idx="102" type="body" hasCustomPrompt="1"/>
          </p:nvPr>
        </p:nvSpPr>
        <p:spPr>
          <a:xfrm>
            <a:off x="457200" y="1691640"/>
            <a:ext cx="3931920" cy="548640"/>
          </a:xfrm>
          <a:prstGeom prst="rect">
            <a:avLst/>
          </a:prstGeom>
          <a:noFill/>
          <a:ln/>
        </p:spPr>
        <p:txBody>
          <a:bodyPr wrap="square" lIns="0" tIns="0" rIns="0" bIns="0" rtlCol="0" anchor="t"/>
          <a:lstStyle/>
          <a:p>
            <a:pPr indent="0" marL="0">
              <a:buNone/>
            </a:pPr>
            <a:r>
              <a:rPr lang="en-US" sz="1500" dirty="0">
                <a:solidFill>
                  <a:schemeClr val="bg2"/>
                </a:solidFill>
              </a:rPr>
              <a:t>Intelligent campus operating system for hostel and campus life</a:t>
            </a:r>
            <a:endParaRPr lang="en-US" sz="1600" dirty="0"/>
          </a:p>
        </p:txBody>
      </p:sp>
      <p:sp>
        <p:nvSpPr>
          <p:cNvPr id="5" name="Shape 3"/>
          <p:cNvSpPr/>
          <p:nvPr/>
        </p:nvSpPr>
        <p:spPr>
          <a:xfrm>
            <a:off x="4809744" y="969264"/>
            <a:ext cx="4005072" cy="2578608"/>
          </a:xfrm>
          <a:prstGeom prst="rect">
            <a:avLst/>
          </a:prstGeom>
          <a:solidFill>
            <a:schemeClr val="bg1"/>
          </a:solidFill>
          <a:ln w="9525">
            <a:solidFill>
              <a:schemeClr val="bg1"/>
            </a:solidFill>
            <a:prstDash val="solid"/>
          </a:ln>
          <a:effectLst>
            <a:outerShdw sx="100000" sy="100000" kx="0" ky="0" algn="bl" rotWithShape="0" blurRad="127000" dist="50800" dir="5400000">
              <a:srgbClr val="000000">
                <a:alpha val="35000"/>
              </a:srgbClr>
            </a:outerShdw>
          </a:effectLst>
        </p:spPr>
      </p:sp>
      <p:pic>
        <p:nvPicPr>
          <p:cNvPr id="6" name="Image 0" descr="Demeure AI landing page">    </p:cNvPr>
          <p:cNvPicPr>
            <a:picLocks noChangeAspect="1"/>
          </p:cNvPicPr>
          <p:nvPr/>
        </p:nvPicPr>
        <p:blipFill>
          <a:blip r:embed="rId4"/>
          <a:stretch>
            <a:fillRect/>
          </a:stretch>
        </p:blipFill>
        <p:spPr>
          <a:xfrm>
            <a:off x="4846320" y="1005840"/>
            <a:ext cx="3931920" cy="2458606"/>
          </a:xfrm>
          <a:prstGeom prst="rect">
            <a:avLst/>
          </a:prstGeom>
        </p:spPr>
      </p:pic>
      <p:sp>
        <p:nvSpPr>
          <p:cNvPr id="7" name="Text 4"/>
          <p:cNvSpPr txBox="1"/>
          <p:nvPr/>
        </p:nvSpPr>
        <p:spPr>
          <a:xfrm>
            <a:off x="4846320" y="3639312"/>
            <a:ext cx="393192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Live product screenshots throughout</a:t>
            </a:r>
            <a:endParaRPr lang="en-US" sz="1000" dirty="0"/>
          </a:p>
        </p:txBody>
      </p:sp>
      <p:sp>
        <p:nvSpPr>
          <p:cNvPr id="8" name="team"/>
          <p:cNvSpPr txBox="1"/>
          <p:nvPr/>
        </p:nvSpPr>
        <p:spPr>
          <a:xfrm>
            <a:off x="457200" y="2423160"/>
            <a:ext cx="4114800" cy="274320"/>
          </a:xfrm>
          <a:prstGeom prst="rect">
            <a:avLst/>
          </a:prstGeom>
          <a:noFill/>
        </p:spPr>
        <p:txBody>
          <a:bodyPr wrap="square" lIns="0" rIns="0" tIns="0" bIns="0" anchor="t">
            <a:spAutoFit/>
          </a:bodyPr>
          <a:lstStyle/>
          <a:p>
            <a:pPr>
              <a:spcAft>
                <a:spcPts val="400"/>
              </a:spcAft>
            </a:pPr>
            <a:r>
              <a:rPr sz="1000" b="1">
                <a:solidFill>
                  <a:schemeClr val="accent3"/>
                </a:solidFill>
                <a:latin typeface="Courier New"/>
              </a:rPr>
              <a:t>TEAM</a:t>
            </a:r>
          </a:p>
          <a:p>
            <a:pPr>
              <a:spcAft>
                <a:spcPts val="200"/>
              </a:spcAft>
            </a:pPr>
            <a:r>
              <a:rPr sz="1300" b="0">
                <a:solidFill>
                  <a:schemeClr val="bg1"/>
                </a:solidFill>
                <a:latin typeface="Arial"/>
              </a:rPr>
              <a:t>Pratik Kumar  ·  24BML0027</a:t>
            </a:r>
          </a:p>
          <a:p>
            <a:pPr>
              <a:spcAft>
                <a:spcPts val="200"/>
              </a:spcAft>
            </a:pPr>
            <a:r>
              <a:rPr sz="1300" b="0">
                <a:solidFill>
                  <a:schemeClr val="bg1"/>
                </a:solidFill>
                <a:latin typeface="Arial"/>
              </a:rPr>
              <a:t>Thakur Chand Choudhary  ·  24BML0012</a:t>
            </a:r>
          </a:p>
          <a:p>
            <a:pPr>
              <a:spcAft>
                <a:spcPts val="0"/>
              </a:spcAft>
            </a:pPr>
            <a:r>
              <a:rPr sz="1300" b="0">
                <a:solidFill>
                  <a:schemeClr val="bg1"/>
                </a:solidFill>
                <a:latin typeface="Arial"/>
              </a:rPr>
              <a:t>Nikunj Goydani  ·  24BEC0338</a:t>
            </a:r>
          </a:p>
        </p:txBody>
      </p:sp>
      <p:sp>
        <p:nvSpPr>
          <p:cNvPr id="9" name="faculty-guide"/>
          <p:cNvSpPr txBox="1"/>
          <p:nvPr/>
        </p:nvSpPr>
        <p:spPr>
          <a:xfrm>
            <a:off x="457200" y="3611880"/>
            <a:ext cx="4114800" cy="274320"/>
          </a:xfrm>
          <a:prstGeom prst="rect">
            <a:avLst/>
          </a:prstGeom>
          <a:noFill/>
        </p:spPr>
        <p:txBody>
          <a:bodyPr wrap="square" lIns="0" rIns="0" tIns="0" bIns="0" anchor="t">
            <a:spAutoFit/>
          </a:bodyPr>
          <a:lstStyle/>
          <a:p>
            <a:pPr>
              <a:spcAft>
                <a:spcPts val="400"/>
              </a:spcAft>
            </a:pPr>
            <a:r>
              <a:rPr sz="1000" b="1">
                <a:solidFill>
                  <a:schemeClr val="accent3"/>
                </a:solidFill>
                <a:latin typeface="Courier New"/>
              </a:rPr>
              <a:t>FACULTY GUIDE</a:t>
            </a:r>
          </a:p>
          <a:p>
            <a:pPr>
              <a:spcAft>
                <a:spcPts val="200"/>
              </a:spcAft>
            </a:pPr>
            <a:r>
              <a:rPr sz="1300" b="1">
                <a:solidFill>
                  <a:schemeClr val="bg1"/>
                </a:solidFill>
                <a:latin typeface="Arial"/>
              </a:rPr>
              <a:t>Dr. Rajalaxmi S</a:t>
            </a:r>
          </a:p>
          <a:p>
            <a:pPr>
              <a:spcAft>
                <a:spcPts val="100"/>
              </a:spcAft>
            </a:pPr>
            <a:r>
              <a:rPr sz="1050" b="0">
                <a:solidFill>
                  <a:schemeClr val="bg2"/>
                </a:solidFill>
                <a:latin typeface="Arial"/>
              </a:rPr>
              <a:t>Assistant Professor Sr. Grade 1</a:t>
            </a:r>
          </a:p>
          <a:p>
            <a:pPr>
              <a:spcAft>
                <a:spcPts val="0"/>
              </a:spcAft>
            </a:pPr>
            <a:r>
              <a:rPr sz="1050" b="0">
                <a:solidFill>
                  <a:schemeClr val="bg2"/>
                </a:solidFill>
                <a:latin typeface="Arial"/>
              </a:rPr>
              <a:t>School of Electronics Engineering (SENSE), VIT Vellore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dirty="0">
                <a:solidFill>
                  <a:schemeClr val="accent2"/>
                </a:solidFill>
                <a:latin typeface="Courier New" pitchFamily="34" charset="0"/>
                <a:ea typeface="Courier New" pitchFamily="34" charset="-122"/>
                <a:cs typeface="Courier New" pitchFamily="34" charset="-120"/>
              </a:rPr>
              <a:t>THE PROBLEM</a:t>
            </a: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indent="0" marL="0">
              <a:buNone/>
            </a:pPr>
            <a:r>
              <a:rPr lang="en-US" sz="2800" b="1" dirty="0">
                <a:solidFill>
                  <a:schemeClr val="tx2"/>
                </a:solidFill>
              </a:rPr>
              <a:t>Campus operations still run on paper</a:t>
            </a:r>
            <a:endParaRPr lang="en-US" sz="2800" dirty="0"/>
          </a:p>
        </p:txBody>
      </p:sp>
      <p:sp>
        <p:nvSpPr>
          <p:cNvPr id="5" name="card-Paper registers"/>
          <p:cNvSpPr/>
          <p:nvPr/>
        </p:nvSpPr>
        <p:spPr>
          <a:xfrm>
            <a:off x="457200" y="1280160"/>
            <a:ext cx="1920240" cy="2926080"/>
          </a:xfrm>
          <a:prstGeom prst="rect">
            <a:avLst/>
          </a:prstGeom>
          <a:solidFill>
            <a:schemeClr val="bg2"/>
          </a:solidFill>
          <a:ln w="12700">
            <a:solidFill>
              <a:schemeClr val="bg2"/>
            </a:solidFill>
            <a:prstDash val="solid"/>
          </a:ln>
        </p:spPr>
      </p:sp>
      <p:sp>
        <p:nvSpPr>
          <p:cNvPr id="6" name="Shape 3"/>
          <p:cNvSpPr/>
          <p:nvPr/>
        </p:nvSpPr>
        <p:spPr>
          <a:xfrm>
            <a:off x="685800" y="1508760"/>
            <a:ext cx="512064" cy="512064"/>
          </a:xfrm>
          <a:prstGeom prst="ellipse">
            <a:avLst/>
          </a:prstGeom>
          <a:solidFill>
            <a:schemeClr val="bg1"/>
          </a:solidFill>
          <a:ln w="12700">
            <a:solidFill>
              <a:schemeClr val="bg1"/>
            </a:solidFill>
            <a:prstDash val="solid"/>
          </a:ln>
        </p:spPr>
      </p:sp>
      <p:pic>
        <p:nvPicPr>
          <p:cNvPr id="7" name="Image 0" descr="Paper registers">    </p:cNvPr>
          <p:cNvPicPr>
            <a:picLocks noChangeAspect="1"/>
          </p:cNvPicPr>
          <p:nvPr/>
        </p:nvPicPr>
        <p:blipFill>
          <a:blip r:embed="rId1"/>
          <a:stretch>
            <a:fillRect/>
          </a:stretch>
        </p:blipFill>
        <p:spPr>
          <a:xfrm>
            <a:off x="795528" y="1618488"/>
            <a:ext cx="292608" cy="292608"/>
          </a:xfrm>
          <a:prstGeom prst="rect">
            <a:avLst/>
          </a:prstGeom>
        </p:spPr>
      </p:pic>
      <p:sp>
        <p:nvSpPr>
          <p:cNvPr id="8" name="Text 4"/>
          <p:cNvSpPr txBox="1"/>
          <p:nvPr/>
        </p:nvSpPr>
        <p:spPr>
          <a:xfrm>
            <a:off x="685800" y="2148840"/>
            <a:ext cx="1463040" cy="192024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Paper registers</a:t>
            </a:r>
            <a:endParaRPr lang="en-US" sz="1500" dirty="0"/>
          </a:p>
          <a:p>
            <a:pPr indent="0" marL="0">
              <a:spcAft>
                <a:spcPts val="400"/>
              </a:spcAft>
              <a:buNone/>
            </a:pPr>
            <a:r>
              <a:rPr lang="en-US" sz="1400" dirty="0">
                <a:solidFill>
                  <a:schemeClr val="accent6"/>
                </a:solidFill>
              </a:rPr>
              <a:t>Leave and visitor passes signed on paper; no audit trail for wardens or parents.</a:t>
            </a:r>
            <a:endParaRPr lang="en-US" sz="1500" dirty="0"/>
          </a:p>
        </p:txBody>
      </p:sp>
      <p:sp>
        <p:nvSpPr>
          <p:cNvPr id="9" name="card-Lost complaints"/>
          <p:cNvSpPr/>
          <p:nvPr/>
        </p:nvSpPr>
        <p:spPr>
          <a:xfrm>
            <a:off x="2560320" y="1280160"/>
            <a:ext cx="1920240" cy="2926080"/>
          </a:xfrm>
          <a:prstGeom prst="rect">
            <a:avLst/>
          </a:prstGeom>
          <a:solidFill>
            <a:schemeClr val="bg2"/>
          </a:solidFill>
          <a:ln w="12700">
            <a:solidFill>
              <a:schemeClr val="bg2"/>
            </a:solidFill>
            <a:prstDash val="solid"/>
          </a:ln>
        </p:spPr>
      </p:sp>
      <p:sp>
        <p:nvSpPr>
          <p:cNvPr id="10" name="Shape 6"/>
          <p:cNvSpPr/>
          <p:nvPr/>
        </p:nvSpPr>
        <p:spPr>
          <a:xfrm>
            <a:off x="2788920" y="1508760"/>
            <a:ext cx="512064" cy="512064"/>
          </a:xfrm>
          <a:prstGeom prst="ellipse">
            <a:avLst/>
          </a:prstGeom>
          <a:solidFill>
            <a:schemeClr val="bg1"/>
          </a:solidFill>
          <a:ln w="12700">
            <a:solidFill>
              <a:schemeClr val="bg1"/>
            </a:solidFill>
            <a:prstDash val="solid"/>
          </a:ln>
        </p:spPr>
      </p:sp>
      <p:pic>
        <p:nvPicPr>
          <p:cNvPr id="11" name="Image 1" descr="Lost complaints">    </p:cNvPr>
          <p:cNvPicPr>
            <a:picLocks noChangeAspect="1"/>
          </p:cNvPicPr>
          <p:nvPr/>
        </p:nvPicPr>
        <p:blipFill>
          <a:blip r:embed="rId2"/>
          <a:stretch>
            <a:fillRect/>
          </a:stretch>
        </p:blipFill>
        <p:spPr>
          <a:xfrm>
            <a:off x="2898648" y="1618488"/>
            <a:ext cx="292608" cy="292608"/>
          </a:xfrm>
          <a:prstGeom prst="rect">
            <a:avLst/>
          </a:prstGeom>
        </p:spPr>
      </p:pic>
      <p:sp>
        <p:nvSpPr>
          <p:cNvPr id="12" name="Text 7"/>
          <p:cNvSpPr txBox="1"/>
          <p:nvPr/>
        </p:nvSpPr>
        <p:spPr>
          <a:xfrm>
            <a:off x="2788920" y="2148840"/>
            <a:ext cx="1463040" cy="192024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Lost complaints</a:t>
            </a:r>
            <a:endParaRPr lang="en-US" sz="1500" dirty="0"/>
          </a:p>
          <a:p>
            <a:pPr indent="0" marL="0">
              <a:spcAft>
                <a:spcPts val="400"/>
              </a:spcAft>
              <a:buNone/>
            </a:pPr>
            <a:r>
              <a:rPr lang="en-US" sz="1400" dirty="0">
                <a:solidFill>
                  <a:schemeClr val="accent6"/>
                </a:solidFill>
              </a:rPr>
              <a:t>Maintenance issues buried in chat threads with no priority or owner.</a:t>
            </a:r>
            <a:endParaRPr lang="en-US" sz="1500" dirty="0"/>
          </a:p>
        </p:txBody>
      </p:sp>
      <p:sp>
        <p:nvSpPr>
          <p:cNvPr id="13" name="card-Unused surveys"/>
          <p:cNvSpPr/>
          <p:nvPr/>
        </p:nvSpPr>
        <p:spPr>
          <a:xfrm>
            <a:off x="4663440" y="1280160"/>
            <a:ext cx="1920240" cy="2926080"/>
          </a:xfrm>
          <a:prstGeom prst="rect">
            <a:avLst/>
          </a:prstGeom>
          <a:solidFill>
            <a:schemeClr val="bg2"/>
          </a:solidFill>
          <a:ln w="12700">
            <a:solidFill>
              <a:schemeClr val="bg2"/>
            </a:solidFill>
            <a:prstDash val="solid"/>
          </a:ln>
        </p:spPr>
      </p:sp>
      <p:sp>
        <p:nvSpPr>
          <p:cNvPr id="14" name="Shape 9"/>
          <p:cNvSpPr/>
          <p:nvPr/>
        </p:nvSpPr>
        <p:spPr>
          <a:xfrm>
            <a:off x="4892040" y="1508760"/>
            <a:ext cx="512064" cy="512064"/>
          </a:xfrm>
          <a:prstGeom prst="ellipse">
            <a:avLst/>
          </a:prstGeom>
          <a:solidFill>
            <a:schemeClr val="bg1"/>
          </a:solidFill>
          <a:ln w="12700">
            <a:solidFill>
              <a:schemeClr val="bg1"/>
            </a:solidFill>
            <a:prstDash val="solid"/>
          </a:ln>
        </p:spPr>
      </p:sp>
      <p:pic>
        <p:nvPicPr>
          <p:cNvPr id="15" name="Image 2" descr="Unused surveys">    </p:cNvPr>
          <p:cNvPicPr>
            <a:picLocks noChangeAspect="1"/>
          </p:cNvPicPr>
          <p:nvPr/>
        </p:nvPicPr>
        <p:blipFill>
          <a:blip r:embed="rId3"/>
          <a:stretch>
            <a:fillRect/>
          </a:stretch>
        </p:blipFill>
        <p:spPr>
          <a:xfrm>
            <a:off x="5001768" y="1618488"/>
            <a:ext cx="292608" cy="292608"/>
          </a:xfrm>
          <a:prstGeom prst="rect">
            <a:avLst/>
          </a:prstGeom>
        </p:spPr>
      </p:pic>
      <p:sp>
        <p:nvSpPr>
          <p:cNvPr id="16" name="Text 10"/>
          <p:cNvSpPr txBox="1"/>
          <p:nvPr/>
        </p:nvSpPr>
        <p:spPr>
          <a:xfrm>
            <a:off x="4892040" y="2148840"/>
            <a:ext cx="1463040" cy="192024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Unused surveys</a:t>
            </a:r>
            <a:endParaRPr lang="en-US" sz="1500" dirty="0"/>
          </a:p>
          <a:p>
            <a:pPr indent="0" marL="0">
              <a:spcAft>
                <a:spcPts val="400"/>
              </a:spcAft>
              <a:buNone/>
            </a:pPr>
            <a:r>
              <a:rPr lang="en-US" sz="1400" dirty="0">
                <a:solidFill>
                  <a:schemeClr val="accent6"/>
                </a:solidFill>
              </a:rPr>
              <a:t>Roommate preferences collected in spreadsheets, then allocated by hand.</a:t>
            </a:r>
            <a:endParaRPr lang="en-US" sz="1500" dirty="0"/>
          </a:p>
        </p:txBody>
      </p:sp>
      <p:sp>
        <p:nvSpPr>
          <p:cNvPr id="17" name="card-Manual billing"/>
          <p:cNvSpPr/>
          <p:nvPr/>
        </p:nvSpPr>
        <p:spPr>
          <a:xfrm>
            <a:off x="6766560" y="1280160"/>
            <a:ext cx="1920240" cy="2926080"/>
          </a:xfrm>
          <a:prstGeom prst="rect">
            <a:avLst/>
          </a:prstGeom>
          <a:solidFill>
            <a:schemeClr val="bg2"/>
          </a:solidFill>
          <a:ln w="12700">
            <a:solidFill>
              <a:schemeClr val="bg2"/>
            </a:solidFill>
            <a:prstDash val="solid"/>
          </a:ln>
        </p:spPr>
      </p:sp>
      <p:sp>
        <p:nvSpPr>
          <p:cNvPr id="18" name="Shape 12"/>
          <p:cNvSpPr/>
          <p:nvPr/>
        </p:nvSpPr>
        <p:spPr>
          <a:xfrm>
            <a:off x="6995160" y="1508760"/>
            <a:ext cx="512064" cy="512064"/>
          </a:xfrm>
          <a:prstGeom prst="ellipse">
            <a:avLst/>
          </a:prstGeom>
          <a:solidFill>
            <a:schemeClr val="bg1"/>
          </a:solidFill>
          <a:ln w="12700">
            <a:solidFill>
              <a:schemeClr val="bg1"/>
            </a:solidFill>
            <a:prstDash val="solid"/>
          </a:ln>
        </p:spPr>
      </p:sp>
      <p:pic>
        <p:nvPicPr>
          <p:cNvPr id="19" name="Image 3" descr="Manual billing">    </p:cNvPr>
          <p:cNvPicPr>
            <a:picLocks noChangeAspect="1"/>
          </p:cNvPicPr>
          <p:nvPr/>
        </p:nvPicPr>
        <p:blipFill>
          <a:blip r:embed="rId4"/>
          <a:stretch>
            <a:fillRect/>
          </a:stretch>
        </p:blipFill>
        <p:spPr>
          <a:xfrm>
            <a:off x="7104888" y="1618488"/>
            <a:ext cx="292608" cy="292608"/>
          </a:xfrm>
          <a:prstGeom prst="rect">
            <a:avLst/>
          </a:prstGeom>
        </p:spPr>
      </p:pic>
      <p:sp>
        <p:nvSpPr>
          <p:cNvPr id="20" name="Text 13"/>
          <p:cNvSpPr txBox="1"/>
          <p:nvPr/>
        </p:nvSpPr>
        <p:spPr>
          <a:xfrm>
            <a:off x="6995160" y="2148840"/>
            <a:ext cx="1463040" cy="192024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Manual billing</a:t>
            </a:r>
            <a:endParaRPr lang="en-US" sz="1500" dirty="0"/>
          </a:p>
          <a:p>
            <a:pPr indent="0" marL="0">
              <a:spcAft>
                <a:spcPts val="400"/>
              </a:spcAft>
              <a:buNone/>
            </a:pPr>
            <a:r>
              <a:rPr lang="en-US" sz="1400" dirty="0">
                <a:solidFill>
                  <a:schemeClr val="accent6"/>
                </a:solidFill>
              </a:rPr>
              <a:t>Electricity and mess dues calculated by hand and paid by screenshot.</a:t>
            </a:r>
            <a:endParaRPr lang="en-US" sz="1500" dirty="0"/>
          </a:p>
        </p:txBody>
      </p:sp>
      <p:sp>
        <p:nvSpPr>
          <p:cNvPr id="21" name="Text 14"/>
          <p:cNvSpPr txBox="1"/>
          <p:nvPr/>
        </p:nvSpPr>
        <p:spPr>
          <a:xfrm>
            <a:off x="457200" y="4370832"/>
            <a:ext cx="8229600" cy="320040"/>
          </a:xfrm>
          <a:prstGeom prst="rect">
            <a:avLst/>
          </a:prstGeom>
          <a:noFill/>
          <a:ln/>
        </p:spPr>
        <p:txBody>
          <a:bodyPr wrap="square" lIns="0" tIns="0" rIns="0" bIns="0" rtlCol="0" anchor="ctr"/>
          <a:lstStyle/>
          <a:p>
            <a:pPr indent="0" marL="0">
              <a:buNone/>
            </a:pPr>
            <a:r>
              <a:rPr lang="en-US" sz="1500" i="1" dirty="0">
                <a:solidFill>
                  <a:schemeClr val="accent1"/>
                </a:solidFill>
              </a:rPr>
              <a:t>Result: slow approvals, unsafe incidents missed, and no single source of truth.</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dirty="0">
                <a:solidFill>
                  <a:schemeClr val="accent2"/>
                </a:solidFill>
                <a:latin typeface="Courier New" pitchFamily="34" charset="0"/>
                <a:ea typeface="Courier New" pitchFamily="34" charset="-122"/>
                <a:cs typeface="Courier New" pitchFamily="34" charset="-120"/>
              </a:rPr>
              <a:t>THE SOLUTION</a:t>
            </a: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indent="0" marL="0">
              <a:buNone/>
            </a:pPr>
            <a:r>
              <a:rPr lang="en-US" sz="2800" b="1" dirty="0">
                <a:solidFill>
                  <a:schemeClr val="tx2"/>
                </a:solidFill>
              </a:rPr>
              <a:t>One platform, four roles, one source of truth</a:t>
            </a:r>
            <a:endParaRPr lang="en-US" sz="2800" dirty="0"/>
          </a:p>
        </p:txBody>
      </p:sp>
      <p:sp>
        <p:nvSpPr>
          <p:cNvPr id="5" name="frame-02-role-picker"/>
          <p:cNvSpPr/>
          <p:nvPr/>
        </p:nvSpPr>
        <p:spPr>
          <a:xfrm>
            <a:off x="1045883" y="1152144"/>
            <a:ext cx="3577513" cy="2769449"/>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txBody>
          <a:bodyPr/>
          <a:p/>
        </p:txBody>
      </p:sp>
      <p:pic>
        <p:nvPicPr>
          <p:cNvPr id="6" name="shot-02-role-picker" descr="Persona picker on the landing page">    </p:cNvPr>
          <p:cNvPicPr>
            <a:picLocks noChangeAspect="1"/>
          </p:cNvPicPr>
          <p:nvPr/>
        </p:nvPicPr>
        <p:blipFill>
          <a:blip r:embed="rId4"/>
          <a:stretch>
            <a:fillRect/>
          </a:stretch>
        </p:blipFill>
        <p:spPr>
          <a:xfrm>
            <a:off x="1082459" y="1188720"/>
            <a:ext cx="3504361" cy="2696297"/>
          </a:xfrm>
          <a:prstGeom prst="rect">
            <a:avLst/>
          </a:prstGeom>
        </p:spPr>
      </p:pic>
      <p:sp>
        <p:nvSpPr>
          <p:cNvPr id="7" name="cap-02-role-picker"/>
          <p:cNvSpPr txBox="1"/>
          <p:nvPr/>
        </p:nvSpPr>
        <p:spPr>
          <a:xfrm>
            <a:off x="457199" y="3976457"/>
            <a:ext cx="4754880" cy="256032"/>
          </a:xfrm>
          <a:prstGeom prst="rect">
            <a:avLst/>
          </a:prstGeom>
          <a:noFill/>
          <a:ln/>
        </p:spPr>
        <p:txBody>
          <a:bodyPr wrap="square" lIns="0" tIns="0" rIns="0" bIns="0" rtlCol="0" anchor="ctr"/>
          <a:lstStyle/>
          <a:p>
            <a:pPr indent="0" marL="0">
              <a:buNone/>
            </a:pPr>
            <a:r>
              <a:rPr lang="en-US" sz="1100" i="1" dirty="0">
                <a:solidFill>
                  <a:schemeClr val="accent6"/>
                </a:solidFill>
              </a:rPr>
              <a:t>Persona picker on the landing page</a:t>
            </a:r>
            <a:endParaRPr lang="en-US" sz="1100" dirty="0"/>
          </a:p>
        </p:txBody>
      </p:sp>
      <p:sp>
        <p:nvSpPr>
          <p:cNvPr id="8" name="Text 4"/>
          <p:cNvSpPr txBox="1"/>
          <p:nvPr/>
        </p:nvSpPr>
        <p:spPr>
          <a:xfrm>
            <a:off x="5577840" y="1188720"/>
            <a:ext cx="3108960" cy="731520"/>
          </a:xfrm>
          <a:prstGeom prst="rect">
            <a:avLst/>
          </a:prstGeom>
          <a:noFill/>
          <a:ln/>
        </p:spPr>
        <p:txBody>
          <a:bodyPr wrap="square" lIns="0" tIns="0" rIns="0" bIns="0" rtlCol="0" anchor="t"/>
          <a:lstStyle/>
          <a:p>
            <a:pPr indent="0" marL="0">
              <a:buNone/>
            </a:pPr>
            <a:r>
              <a:rPr lang="en-US" sz="1500" b="1" dirty="0">
                <a:solidFill>
                  <a:schemeClr val="tx1"/>
                </a:solidFill>
              </a:rPr>
              <a:t>Campus Admin</a:t>
            </a:r>
            <a:endParaRPr lang="en-US" sz="1500" dirty="0"/>
          </a:p>
          <a:p>
            <a:pPr indent="0" marL="0">
              <a:buNone/>
            </a:pPr>
            <a:r>
              <a:rPr lang="en-US" sz="1400" dirty="0">
                <a:solidFill>
                  <a:schemeClr val="accent6"/>
                </a:solidFill>
              </a:rPr>
              <a:t>Finance, facilities, power billing, AWS hub</a:t>
            </a:r>
            <a:endParaRPr lang="en-US" sz="1500" dirty="0"/>
          </a:p>
        </p:txBody>
      </p:sp>
      <p:sp>
        <p:nvSpPr>
          <p:cNvPr id="9" name="Text 5"/>
          <p:cNvSpPr txBox="1"/>
          <p:nvPr/>
        </p:nvSpPr>
        <p:spPr>
          <a:xfrm>
            <a:off x="5577840" y="2011680"/>
            <a:ext cx="3108960" cy="731520"/>
          </a:xfrm>
          <a:prstGeom prst="rect">
            <a:avLst/>
          </a:prstGeom>
          <a:noFill/>
          <a:ln/>
        </p:spPr>
        <p:txBody>
          <a:bodyPr wrap="square" lIns="0" tIns="0" rIns="0" bIns="0" rtlCol="0" anchor="t"/>
          <a:lstStyle/>
          <a:p>
            <a:pPr indent="0" marL="0">
              <a:buNone/>
            </a:pPr>
            <a:r>
              <a:rPr lang="en-US" sz="1500" b="1" dirty="0">
                <a:solidFill>
                  <a:schemeClr val="tx1"/>
                </a:solidFill>
              </a:rPr>
              <a:t>Hostel Warden</a:t>
            </a:r>
            <a:endParaRPr lang="en-US" sz="1500" dirty="0"/>
          </a:p>
          <a:p>
            <a:pPr indent="0" marL="0">
              <a:buNone/>
            </a:pPr>
            <a:r>
              <a:rPr lang="en-US" sz="1400" dirty="0">
                <a:solidFill>
                  <a:schemeClr val="accent6"/>
                </a:solidFill>
              </a:rPr>
              <a:t>Residents, rooms, surveys, gate, welfare</a:t>
            </a:r>
            <a:endParaRPr lang="en-US" sz="1500" dirty="0"/>
          </a:p>
        </p:txBody>
      </p:sp>
      <p:sp>
        <p:nvSpPr>
          <p:cNvPr id="10" name="Text 6"/>
          <p:cNvSpPr txBox="1"/>
          <p:nvPr/>
        </p:nvSpPr>
        <p:spPr>
          <a:xfrm>
            <a:off x="5577840" y="2834640"/>
            <a:ext cx="3108960" cy="731520"/>
          </a:xfrm>
          <a:prstGeom prst="rect">
            <a:avLst/>
          </a:prstGeom>
          <a:noFill/>
          <a:ln/>
        </p:spPr>
        <p:txBody>
          <a:bodyPr wrap="square" lIns="0" tIns="0" rIns="0" bIns="0" rtlCol="0" anchor="t"/>
          <a:lstStyle/>
          <a:p>
            <a:pPr indent="0" marL="0">
              <a:buNone/>
            </a:pPr>
            <a:r>
              <a:rPr lang="en-US" sz="1500" b="1" dirty="0">
                <a:solidFill>
                  <a:schemeClr val="tx1"/>
                </a:solidFill>
              </a:rPr>
              <a:t>Mess Manager</a:t>
            </a:r>
            <a:endParaRPr lang="en-US" sz="1500" dirty="0"/>
          </a:p>
          <a:p>
            <a:pPr indent="0" marL="0">
              <a:buNone/>
            </a:pPr>
            <a:r>
              <a:rPr lang="en-US" sz="1400" dirty="0">
                <a:solidFill>
                  <a:schemeClr val="accent6"/>
                </a:solidFill>
              </a:rPr>
              <a:t>Weekly menu publishing, food feedback</a:t>
            </a:r>
            <a:endParaRPr lang="en-US" sz="1500" dirty="0"/>
          </a:p>
        </p:txBody>
      </p:sp>
      <p:sp>
        <p:nvSpPr>
          <p:cNvPr id="11" name="Text 7"/>
          <p:cNvSpPr txBox="1"/>
          <p:nvPr/>
        </p:nvSpPr>
        <p:spPr>
          <a:xfrm>
            <a:off x="5577840" y="3657600"/>
            <a:ext cx="3108960" cy="731520"/>
          </a:xfrm>
          <a:prstGeom prst="rect">
            <a:avLst/>
          </a:prstGeom>
          <a:noFill/>
          <a:ln/>
        </p:spPr>
        <p:txBody>
          <a:bodyPr wrap="square" lIns="0" tIns="0" rIns="0" bIns="0" rtlCol="0" anchor="t"/>
          <a:lstStyle/>
          <a:p>
            <a:pPr indent="0" marL="0">
              <a:buNone/>
            </a:pPr>
            <a:r>
              <a:rPr lang="en-US" sz="1500" b="1" dirty="0">
                <a:solidFill>
                  <a:schemeClr val="tx1"/>
                </a:solidFill>
              </a:rPr>
              <a:t>Resident Student</a:t>
            </a:r>
            <a:endParaRPr lang="en-US" sz="1500" dirty="0"/>
          </a:p>
          <a:p>
            <a:pPr indent="0" marL="0">
              <a:buNone/>
            </a:pPr>
            <a:r>
              <a:rPr lang="en-US" sz="1400" dirty="0">
                <a:solidFill>
                  <a:schemeClr val="accent6"/>
                </a:solidFill>
              </a:rPr>
              <a:t>Dues, leave, visitors, complaints, AI help</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dirty="0">
                <a:solidFill>
                  <a:schemeClr val="accent2"/>
                </a:solidFill>
                <a:latin typeface="Courier New" pitchFamily="34" charset="0"/>
                <a:ea typeface="Courier New" pitchFamily="34" charset="-122"/>
                <a:cs typeface="Courier New" pitchFamily="34" charset="-120"/>
              </a:rPr>
              <a:t>AT A GLANCE</a:t>
            </a: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indent="0" marL="0">
              <a:buNone/>
            </a:pPr>
            <a:r>
              <a:rPr lang="en-US" sz="2800" b="1" dirty="0">
                <a:solidFill>
                  <a:schemeClr val="tx2"/>
                </a:solidFill>
              </a:rPr>
              <a:t>What ships today</a:t>
            </a:r>
            <a:endParaRPr lang="en-US" sz="2800" dirty="0"/>
          </a:p>
        </p:txBody>
      </p:sp>
      <p:sp>
        <p:nvSpPr>
          <p:cNvPr id="5" name="stat-operational modules across hostel and campus"/>
          <p:cNvSpPr txBox="1"/>
          <p:nvPr/>
        </p:nvSpPr>
        <p:spPr>
          <a:xfrm>
            <a:off x="457200" y="1325880"/>
            <a:ext cx="2560320" cy="68580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14</a:t>
            </a:r>
            <a:endParaRPr lang="en-US" sz="4000" dirty="0"/>
          </a:p>
        </p:txBody>
      </p:sp>
      <p:sp>
        <p:nvSpPr>
          <p:cNvPr id="6" name="Text 3"/>
          <p:cNvSpPr txBox="1"/>
          <p:nvPr/>
        </p:nvSpPr>
        <p:spPr>
          <a:xfrm>
            <a:off x="457200" y="2039112"/>
            <a:ext cx="2560320" cy="457200"/>
          </a:xfrm>
          <a:prstGeom prst="rect">
            <a:avLst/>
          </a:prstGeom>
          <a:noFill/>
          <a:ln/>
        </p:spPr>
        <p:txBody>
          <a:bodyPr wrap="square" lIns="0" tIns="0" rIns="0" bIns="0" rtlCol="0" anchor="t"/>
          <a:lstStyle/>
          <a:p>
            <a:pPr indent="0" marL="0">
              <a:buNone/>
            </a:pPr>
            <a:r>
              <a:rPr lang="en-US" sz="1400" dirty="0">
                <a:solidFill>
                  <a:schemeClr val="accent6"/>
                </a:solidFill>
              </a:rPr>
              <a:t>operational modules across hostel and campus</a:t>
            </a:r>
            <a:endParaRPr lang="en-US" sz="1400" dirty="0"/>
          </a:p>
        </p:txBody>
      </p:sp>
      <p:sp>
        <p:nvSpPr>
          <p:cNvPr id="7" name="stat-role-scoped personas with server-side access control"/>
          <p:cNvSpPr txBox="1"/>
          <p:nvPr/>
        </p:nvSpPr>
        <p:spPr>
          <a:xfrm>
            <a:off x="3291840" y="1325880"/>
            <a:ext cx="2560320" cy="68580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4</a:t>
            </a:r>
            <a:endParaRPr lang="en-US" sz="4000" dirty="0"/>
          </a:p>
        </p:txBody>
      </p:sp>
      <p:sp>
        <p:nvSpPr>
          <p:cNvPr id="8" name="Text 5"/>
          <p:cNvSpPr txBox="1"/>
          <p:nvPr/>
        </p:nvSpPr>
        <p:spPr>
          <a:xfrm>
            <a:off x="3291840" y="2039112"/>
            <a:ext cx="2560320" cy="457200"/>
          </a:xfrm>
          <a:prstGeom prst="rect">
            <a:avLst/>
          </a:prstGeom>
          <a:noFill/>
          <a:ln/>
        </p:spPr>
        <p:txBody>
          <a:bodyPr wrap="square" lIns="0" tIns="0" rIns="0" bIns="0" rtlCol="0" anchor="t"/>
          <a:lstStyle/>
          <a:p>
            <a:pPr indent="0" marL="0">
              <a:buNone/>
            </a:pPr>
            <a:r>
              <a:rPr lang="en-US" sz="1400" dirty="0">
                <a:solidFill>
                  <a:schemeClr val="accent6"/>
                </a:solidFill>
              </a:rPr>
              <a:t>role-scoped personas with server-side access control</a:t>
            </a:r>
            <a:endParaRPr lang="en-US" sz="1400" dirty="0"/>
          </a:p>
        </p:txBody>
      </p:sp>
      <p:sp>
        <p:nvSpPr>
          <p:cNvPr id="9" name="stat-student survey profiles seeded for allocation"/>
          <p:cNvSpPr txBox="1"/>
          <p:nvPr/>
        </p:nvSpPr>
        <p:spPr>
          <a:xfrm>
            <a:off x="6126480" y="1325880"/>
            <a:ext cx="2560320" cy="68580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100</a:t>
            </a:r>
            <a:endParaRPr lang="en-US" sz="4000" dirty="0"/>
          </a:p>
        </p:txBody>
      </p:sp>
      <p:sp>
        <p:nvSpPr>
          <p:cNvPr id="10" name="Text 7"/>
          <p:cNvSpPr txBox="1"/>
          <p:nvPr/>
        </p:nvSpPr>
        <p:spPr>
          <a:xfrm>
            <a:off x="6126480" y="2039112"/>
            <a:ext cx="2560320" cy="457200"/>
          </a:xfrm>
          <a:prstGeom prst="rect">
            <a:avLst/>
          </a:prstGeom>
          <a:noFill/>
          <a:ln/>
        </p:spPr>
        <p:txBody>
          <a:bodyPr wrap="square" lIns="0" tIns="0" rIns="0" bIns="0" rtlCol="0" anchor="t"/>
          <a:lstStyle/>
          <a:p>
            <a:pPr indent="0" marL="0">
              <a:buNone/>
            </a:pPr>
            <a:r>
              <a:rPr lang="en-US" sz="1400" dirty="0">
                <a:solidFill>
                  <a:schemeClr val="accent6"/>
                </a:solidFill>
              </a:rPr>
              <a:t>residents with encrypted personal records</a:t>
            </a:r>
            <a:endParaRPr lang="en-US" sz="1400" dirty="0"/>
          </a:p>
        </p:txBody>
      </p:sp>
      <p:sp>
        <p:nvSpPr>
          <p:cNvPr id="11" name="stat-automated API and domain tests"/>
          <p:cNvSpPr txBox="1"/>
          <p:nvPr/>
        </p:nvSpPr>
        <p:spPr>
          <a:xfrm>
            <a:off x="457200" y="3017520"/>
            <a:ext cx="2560320" cy="68580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41</a:t>
            </a:r>
            <a:endParaRPr lang="en-US" sz="4000" dirty="0"/>
          </a:p>
        </p:txBody>
      </p:sp>
      <p:sp>
        <p:nvSpPr>
          <p:cNvPr id="12" name="Text 9"/>
          <p:cNvSpPr txBox="1"/>
          <p:nvPr/>
        </p:nvSpPr>
        <p:spPr>
          <a:xfrm>
            <a:off x="457200" y="3730752"/>
            <a:ext cx="2560320" cy="457200"/>
          </a:xfrm>
          <a:prstGeom prst="rect">
            <a:avLst/>
          </a:prstGeom>
          <a:noFill/>
          <a:ln/>
        </p:spPr>
        <p:txBody>
          <a:bodyPr wrap="square" lIns="0" tIns="0" rIns="0" bIns="0" rtlCol="0" anchor="t"/>
          <a:lstStyle/>
          <a:p>
            <a:pPr indent="0" marL="0">
              <a:buNone/>
            </a:pPr>
            <a:r>
              <a:rPr lang="en-US" sz="1400" dirty="0">
                <a:solidFill>
                  <a:schemeClr val="accent6"/>
                </a:solidFill>
              </a:rPr>
              <a:t>automated API and domain tests</a:t>
            </a:r>
            <a:endParaRPr lang="en-US" sz="1400" dirty="0"/>
          </a:p>
        </p:txBody>
      </p:sp>
      <p:sp>
        <p:nvSpPr>
          <p:cNvPr id="13" name="stat-end-to-end user scenarios verified in Chrome"/>
          <p:cNvSpPr txBox="1"/>
          <p:nvPr/>
        </p:nvSpPr>
        <p:spPr>
          <a:xfrm>
            <a:off x="3291840" y="3017520"/>
            <a:ext cx="2560320" cy="68580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57</a:t>
            </a:r>
            <a:endParaRPr lang="en-US" sz="4000" dirty="0"/>
          </a:p>
        </p:txBody>
      </p:sp>
      <p:sp>
        <p:nvSpPr>
          <p:cNvPr id="14" name="Text 11"/>
          <p:cNvSpPr txBox="1"/>
          <p:nvPr/>
        </p:nvSpPr>
        <p:spPr>
          <a:xfrm>
            <a:off x="3291840" y="3730752"/>
            <a:ext cx="2560320" cy="457200"/>
          </a:xfrm>
          <a:prstGeom prst="rect">
            <a:avLst/>
          </a:prstGeom>
          <a:noFill/>
          <a:ln/>
        </p:spPr>
        <p:txBody>
          <a:bodyPr wrap="square" lIns="0" tIns="0" rIns="0" bIns="0" rtlCol="0" anchor="t"/>
          <a:lstStyle/>
          <a:p>
            <a:pPr indent="0" marL="0">
              <a:buNone/>
            </a:pPr>
            <a:r>
              <a:rPr lang="en-US" sz="1400" dirty="0">
                <a:solidFill>
                  <a:schemeClr val="accent6"/>
                </a:solidFill>
              </a:rPr>
              <a:t>browser checks across 4 roles, all passing</a:t>
            </a:r>
            <a:endParaRPr lang="en-US" sz="1400" dirty="0"/>
          </a:p>
        </p:txBody>
      </p:sp>
      <p:sp>
        <p:nvSpPr>
          <p:cNvPr id="15" name="stat-first-load JavaScript (gzip), down from 386 kB"/>
          <p:cNvSpPr txBox="1"/>
          <p:nvPr/>
        </p:nvSpPr>
        <p:spPr>
          <a:xfrm>
            <a:off x="6126480" y="3017520"/>
            <a:ext cx="2560320" cy="685800"/>
          </a:xfrm>
          <a:prstGeom prst="rect">
            <a:avLst/>
          </a:prstGeom>
          <a:noFill/>
          <a:ln/>
        </p:spPr>
        <p:txBody>
          <a:bodyPr wrap="square" lIns="0" tIns="0" rIns="0" bIns="0" rtlCol="0" anchor="ctr"/>
          <a:lstStyle/>
          <a:p>
            <a:pPr indent="0" marL="0">
              <a:buNone/>
            </a:pPr>
            <a:r>
              <a:rPr lang="en-US" sz="4000" b="1" dirty="0">
                <a:solidFill>
                  <a:schemeClr val="accent2"/>
                </a:solidFill>
                <a:latin typeface="Arial" pitchFamily="34" charset="0"/>
                <a:ea typeface="Arial" pitchFamily="34" charset="-122"/>
                <a:cs typeface="Arial" pitchFamily="34" charset="-120"/>
              </a:rPr>
              <a:t>76 kB</a:t>
            </a:r>
            <a:endParaRPr lang="en-US" sz="4000" dirty="0"/>
          </a:p>
        </p:txBody>
      </p:sp>
      <p:sp>
        <p:nvSpPr>
          <p:cNvPr id="16" name="Text 13"/>
          <p:cNvSpPr txBox="1"/>
          <p:nvPr/>
        </p:nvSpPr>
        <p:spPr>
          <a:xfrm>
            <a:off x="6126480" y="3730752"/>
            <a:ext cx="2560320" cy="457200"/>
          </a:xfrm>
          <a:prstGeom prst="rect">
            <a:avLst/>
          </a:prstGeom>
          <a:noFill/>
          <a:ln/>
        </p:spPr>
        <p:txBody>
          <a:bodyPr wrap="square" lIns="0" tIns="0" rIns="0" bIns="0" rtlCol="0" anchor="t"/>
          <a:lstStyle/>
          <a:p>
            <a:pPr indent="0" marL="0">
              <a:buNone/>
            </a:pPr>
            <a:r>
              <a:rPr lang="en-US" sz="1400" dirty="0">
                <a:solidFill>
                  <a:schemeClr val="accent6"/>
                </a:solidFill>
              </a:rPr>
              <a:t>first-load JavaScript (gzip), down from 386 kB</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dirty="0">
                <a:solidFill>
                  <a:schemeClr val="accent2"/>
                </a:solidFill>
                <a:latin typeface="Courier New" pitchFamily="34" charset="0"/>
                <a:ea typeface="Courier New" pitchFamily="34" charset="-122"/>
                <a:cs typeface="Courier New" pitchFamily="34" charset="-120"/>
              </a:rPr>
              <a:t>ARCHITECTURE</a:t>
            </a: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indent="0" marL="0">
              <a:buNone/>
            </a:pPr>
            <a:r>
              <a:rPr lang="en-US" sz="2800" b="1" dirty="0">
                <a:solidFill>
                  <a:schemeClr val="tx2"/>
                </a:solidFill>
              </a:rPr>
              <a:t>Hybrid by design: runs locally or on AWS</a:t>
            </a:r>
            <a:endParaRPr lang="en-US" sz="2800" dirty="0"/>
          </a:p>
        </p:txBody>
      </p:sp>
      <p:sp>
        <p:nvSpPr>
          <p:cNvPr id="5" name="arch-React 19 SPA"/>
          <p:cNvSpPr/>
          <p:nvPr/>
        </p:nvSpPr>
        <p:spPr>
          <a:xfrm>
            <a:off x="457200" y="2057400"/>
            <a:ext cx="1737360" cy="1097280"/>
          </a:xfrm>
          <a:prstGeom prst="rect">
            <a:avLst/>
          </a:prstGeom>
          <a:solidFill>
            <a:schemeClr val="bg2"/>
          </a:solidFill>
          <a:ln w="12700">
            <a:solidFill>
              <a:schemeClr val="accent1"/>
            </a:solidFill>
            <a:prstDash val="solid"/>
          </a:ln>
        </p:spPr>
        <p:txBody>
          <a:bodyPr/>
          <a:p/>
        </p:txBody>
      </p:sp>
      <p:sp>
        <p:nvSpPr>
          <p:cNvPr id="6" name="Text 3"/>
          <p:cNvSpPr txBox="1"/>
          <p:nvPr/>
        </p:nvSpPr>
        <p:spPr>
          <a:xfrm>
            <a:off x="548640" y="2057400"/>
            <a:ext cx="1554480" cy="1097280"/>
          </a:xfrm>
          <a:prstGeom prst="rect">
            <a:avLst/>
          </a:prstGeom>
          <a:noFill/>
          <a:ln/>
        </p:spPr>
        <p:txBody>
          <a:bodyPr wrap="square" lIns="0" tIns="0" rIns="0" bIns="0" rtlCol="0" anchor="ctr"/>
          <a:lstStyle/>
          <a:p>
            <a:pPr algn="ctr" indent="0" marL="0">
              <a:buNone/>
            </a:pPr>
            <a:r>
              <a:rPr lang="en-US" sz="1400" b="1" dirty="0">
                <a:solidFill>
                  <a:schemeClr val="tx1"/>
                </a:solidFill>
              </a:rPr>
              <a:t>React 19 SPA</a:t>
            </a:r>
            <a:endParaRPr lang="en-US" sz="1400" dirty="0"/>
          </a:p>
          <a:p>
            <a:pPr algn="ctr" indent="0" marL="0">
              <a:buNone/>
            </a:pPr>
            <a:r>
              <a:rPr lang="en-US" sz="1100" dirty="0">
                <a:solidFill>
                  <a:schemeClr val="tx1"/>
                </a:solidFill>
              </a:rPr>
              <a:t>Vite · code-split</a:t>
            </a:r>
            <a:endParaRPr lang="en-US" sz="1400" dirty="0"/>
          </a:p>
        </p:txBody>
      </p:sp>
      <p:sp>
        <p:nvSpPr>
          <p:cNvPr id="7" name="arch-FastAPI service"/>
          <p:cNvSpPr/>
          <p:nvPr/>
        </p:nvSpPr>
        <p:spPr>
          <a:xfrm>
            <a:off x="2743200" y="1417320"/>
            <a:ext cx="2194560" cy="2377440"/>
          </a:xfrm>
          <a:prstGeom prst="rect">
            <a:avLst/>
          </a:prstGeom>
          <a:solidFill>
            <a:schemeClr val="accent1"/>
          </a:solidFill>
          <a:ln w="12700">
            <a:solidFill>
              <a:schemeClr val="accent1"/>
            </a:solidFill>
            <a:prstDash val="solid"/>
          </a:ln>
        </p:spPr>
        <p:txBody>
          <a:bodyPr/>
          <a:p/>
        </p:txBody>
      </p:sp>
      <p:sp>
        <p:nvSpPr>
          <p:cNvPr id="8" name="Text 5"/>
          <p:cNvSpPr txBox="1"/>
          <p:nvPr/>
        </p:nvSpPr>
        <p:spPr>
          <a:xfrm>
            <a:off x="2834640" y="1417320"/>
            <a:ext cx="2011680" cy="2377440"/>
          </a:xfrm>
          <a:prstGeom prst="rect">
            <a:avLst/>
          </a:prstGeom>
          <a:noFill/>
          <a:ln/>
        </p:spPr>
        <p:txBody>
          <a:bodyPr wrap="square" lIns="0" tIns="0" rIns="0" bIns="0" rtlCol="0" anchor="ctr"/>
          <a:lstStyle/>
          <a:p>
            <a:pPr algn="ctr" indent="0" marL="0">
              <a:buNone/>
            </a:pPr>
            <a:r>
              <a:rPr lang="en-US" sz="1400" b="1" dirty="0">
                <a:solidFill>
                  <a:schemeClr val="bg1"/>
                </a:solidFill>
              </a:rPr>
              <a:t>FastAPI service</a:t>
            </a:r>
            <a:endParaRPr lang="en-US" sz="1400" dirty="0"/>
          </a:p>
          <a:p>
            <a:pPr algn="ctr" indent="0" marL="0">
              <a:buNone/>
            </a:pPr>
            <a:r>
              <a:rPr lang="en-US" sz="1100" dirty="0">
                <a:solidFill>
                  <a:schemeClr val="bg1"/>
                </a:solidFill>
              </a:rPr>
              <a:t>auth · hostel · campus</a:t>
            </a:r>
            <a:endParaRPr lang="en-US" sz="1400" dirty="0"/>
          </a:p>
          <a:p>
            <a:pPr algn="ctr" indent="0" marL="0">
              <a:buNone/>
            </a:pPr>
            <a:r>
              <a:rPr lang="en-US" sz="1100" dirty="0">
                <a:solidFill>
                  <a:schemeClr val="bg1"/>
                </a:solidFill>
              </a:rPr>
              <a:t>billing · aws · chat</a:t>
            </a:r>
            <a:endParaRPr lang="en-US" sz="1400" dirty="0"/>
          </a:p>
          <a:p>
            <a:pPr algn="ctr" indent="0" marL="0">
              <a:buNone/>
            </a:pPr>
            <a:endParaRPr lang="en-US" sz="1400" dirty="0"/>
          </a:p>
          <a:p>
            <a:pPr algn="ctr" indent="0" marL="0">
              <a:buNone/>
            </a:pPr>
            <a:r>
              <a:rPr lang="en-US" sz="1100" dirty="0">
                <a:solidFill>
                  <a:schemeClr val="bg1"/>
                </a:solidFill>
              </a:rPr>
              <a:t>signed session cookie</a:t>
            </a:r>
            <a:endParaRPr lang="en-US" sz="1400" dirty="0"/>
          </a:p>
          <a:p>
            <a:pPr algn="ctr" indent="0" marL="0">
              <a:buNone/>
            </a:pPr>
            <a:r>
              <a:rPr lang="en-US" sz="1100" dirty="0">
                <a:solidFill>
                  <a:schemeClr val="bg1"/>
                </a:solidFill>
              </a:rPr>
              <a:t>role guards · validation</a:t>
            </a:r>
            <a:endParaRPr lang="en-US" sz="1400" dirty="0"/>
          </a:p>
        </p:txBody>
      </p:sp>
      <p:sp>
        <p:nvSpPr>
          <p:cNvPr id="9" name="arch-Data"/>
          <p:cNvSpPr/>
          <p:nvPr/>
        </p:nvSpPr>
        <p:spPr>
          <a:xfrm>
            <a:off x="5577840" y="1143000"/>
            <a:ext cx="3108960" cy="548640"/>
          </a:xfrm>
          <a:prstGeom prst="rect">
            <a:avLst/>
          </a:prstGeom>
          <a:solidFill>
            <a:schemeClr val="bg1"/>
          </a:solidFill>
          <a:ln w="12700">
            <a:solidFill>
              <a:schemeClr val="accent1"/>
            </a:solidFill>
            <a:prstDash val="solid"/>
          </a:ln>
        </p:spPr>
        <p:txBody>
          <a:bodyPr/>
          <a:p/>
        </p:txBody>
      </p:sp>
      <p:sp>
        <p:nvSpPr>
          <p:cNvPr id="10" name="Text 7"/>
          <p:cNvSpPr txBox="1"/>
          <p:nvPr/>
        </p:nvSpPr>
        <p:spPr>
          <a:xfrm>
            <a:off x="5669280" y="1143000"/>
            <a:ext cx="2926080" cy="548640"/>
          </a:xfrm>
          <a:prstGeom prst="rect">
            <a:avLst/>
          </a:prstGeom>
          <a:noFill/>
          <a:ln/>
        </p:spPr>
        <p:txBody>
          <a:bodyPr wrap="square" lIns="0" tIns="0" rIns="0" bIns="0" rtlCol="0" anchor="ctr"/>
          <a:lstStyle/>
          <a:p>
            <a:pPr algn="ctr" indent="0" marL="0">
              <a:buNone/>
            </a:pPr>
            <a:r>
              <a:rPr lang="en-US" sz="1400" b="1" dirty="0">
                <a:solidFill>
                  <a:schemeClr val="tx1"/>
                </a:solidFill>
              </a:rPr>
              <a:t>Data</a:t>
            </a:r>
            <a:endParaRPr lang="en-US" sz="1400" dirty="0"/>
          </a:p>
          <a:p>
            <a:pPr algn="ctr" indent="0" marL="0">
              <a:buNone/>
            </a:pPr>
            <a:r>
              <a:rPr lang="en-US" sz="1100" dirty="0">
                <a:solidFill>
                  <a:schemeClr val="tx1"/>
                </a:solidFill>
              </a:rPr>
              <a:t>SQLite  |  DynamoDB  ·  PII encrypted</a:t>
            </a:r>
            <a:endParaRPr lang="en-US" sz="1400" dirty="0"/>
          </a:p>
        </p:txBody>
      </p:sp>
      <p:sp>
        <p:nvSpPr>
          <p:cNvPr id="11" name="arch-Files"/>
          <p:cNvSpPr/>
          <p:nvPr/>
        </p:nvSpPr>
        <p:spPr>
          <a:xfrm>
            <a:off x="5577840" y="1783080"/>
            <a:ext cx="3108960" cy="548640"/>
          </a:xfrm>
          <a:prstGeom prst="rect">
            <a:avLst/>
          </a:prstGeom>
          <a:solidFill>
            <a:schemeClr val="bg1"/>
          </a:solidFill>
          <a:ln w="12700">
            <a:solidFill>
              <a:schemeClr val="accent1"/>
            </a:solidFill>
            <a:prstDash val="solid"/>
          </a:ln>
        </p:spPr>
      </p:sp>
      <p:sp>
        <p:nvSpPr>
          <p:cNvPr id="12" name="Text 9"/>
          <p:cNvSpPr txBox="1"/>
          <p:nvPr/>
        </p:nvSpPr>
        <p:spPr>
          <a:xfrm>
            <a:off x="5669280" y="1783080"/>
            <a:ext cx="2926080" cy="548640"/>
          </a:xfrm>
          <a:prstGeom prst="rect">
            <a:avLst/>
          </a:prstGeom>
          <a:noFill/>
          <a:ln/>
        </p:spPr>
        <p:txBody>
          <a:bodyPr wrap="square" lIns="0" tIns="0" rIns="0" bIns="0" rtlCol="0" anchor="ctr"/>
          <a:lstStyle/>
          <a:p>
            <a:pPr algn="ctr" indent="0" marL="0">
              <a:buNone/>
            </a:pPr>
            <a:r>
              <a:rPr lang="en-US" sz="1400" b="1" dirty="0">
                <a:solidFill>
                  <a:schemeClr val="tx1"/>
                </a:solidFill>
              </a:rPr>
              <a:t>Files</a:t>
            </a:r>
            <a:endParaRPr lang="en-US" sz="1400" dirty="0"/>
          </a:p>
          <a:p>
            <a:pPr algn="ctr" indent="0" marL="0">
              <a:buNone/>
            </a:pPr>
            <a:r>
              <a:rPr lang="en-US" sz="1100" dirty="0">
                <a:solidFill>
                  <a:schemeClr val="tx1"/>
                </a:solidFill>
              </a:rPr>
              <a:t>Local disk  |  S3 (private)</a:t>
            </a:r>
            <a:endParaRPr lang="en-US" sz="1400" dirty="0"/>
          </a:p>
        </p:txBody>
      </p:sp>
      <p:sp>
        <p:nvSpPr>
          <p:cNvPr id="13" name="arch-Email"/>
          <p:cNvSpPr/>
          <p:nvPr/>
        </p:nvSpPr>
        <p:spPr>
          <a:xfrm>
            <a:off x="5577840" y="2423160"/>
            <a:ext cx="3108960" cy="548640"/>
          </a:xfrm>
          <a:prstGeom prst="rect">
            <a:avLst/>
          </a:prstGeom>
          <a:solidFill>
            <a:schemeClr val="bg1"/>
          </a:solidFill>
          <a:ln w="12700">
            <a:solidFill>
              <a:schemeClr val="accent1"/>
            </a:solidFill>
            <a:prstDash val="solid"/>
          </a:ln>
        </p:spPr>
      </p:sp>
      <p:sp>
        <p:nvSpPr>
          <p:cNvPr id="14" name="Text 11"/>
          <p:cNvSpPr txBox="1"/>
          <p:nvPr/>
        </p:nvSpPr>
        <p:spPr>
          <a:xfrm>
            <a:off x="5669280" y="2423160"/>
            <a:ext cx="2926080" cy="548640"/>
          </a:xfrm>
          <a:prstGeom prst="rect">
            <a:avLst/>
          </a:prstGeom>
          <a:noFill/>
          <a:ln/>
        </p:spPr>
        <p:txBody>
          <a:bodyPr wrap="square" lIns="0" tIns="0" rIns="0" bIns="0" rtlCol="0" anchor="ctr"/>
          <a:lstStyle/>
          <a:p>
            <a:pPr algn="ctr" indent="0" marL="0">
              <a:buNone/>
            </a:pPr>
            <a:r>
              <a:rPr lang="en-US" sz="1400" b="1" dirty="0">
                <a:solidFill>
                  <a:schemeClr val="tx1"/>
                </a:solidFill>
              </a:rPr>
              <a:t>Email</a:t>
            </a:r>
            <a:endParaRPr lang="en-US" sz="1400" dirty="0"/>
          </a:p>
          <a:p>
            <a:pPr algn="ctr" indent="0" marL="0">
              <a:buNone/>
            </a:pPr>
            <a:r>
              <a:rPr lang="en-US" sz="1100" dirty="0">
                <a:solidFill>
                  <a:schemeClr val="tx1"/>
                </a:solidFill>
              </a:rPr>
              <a:t>Log  |  SES</a:t>
            </a:r>
            <a:endParaRPr lang="en-US" sz="1400" dirty="0"/>
          </a:p>
        </p:txBody>
      </p:sp>
      <p:sp>
        <p:nvSpPr>
          <p:cNvPr id="15" name="arch-Speech"/>
          <p:cNvSpPr/>
          <p:nvPr/>
        </p:nvSpPr>
        <p:spPr>
          <a:xfrm>
            <a:off x="5577840" y="3063240"/>
            <a:ext cx="3108960" cy="548640"/>
          </a:xfrm>
          <a:prstGeom prst="rect">
            <a:avLst/>
          </a:prstGeom>
          <a:solidFill>
            <a:schemeClr val="bg1"/>
          </a:solidFill>
          <a:ln w="12700">
            <a:solidFill>
              <a:schemeClr val="accent1"/>
            </a:solidFill>
            <a:prstDash val="solid"/>
          </a:ln>
        </p:spPr>
      </p:sp>
      <p:sp>
        <p:nvSpPr>
          <p:cNvPr id="16" name="Text 13"/>
          <p:cNvSpPr txBox="1"/>
          <p:nvPr/>
        </p:nvSpPr>
        <p:spPr>
          <a:xfrm>
            <a:off x="5669280" y="3063240"/>
            <a:ext cx="2926080" cy="548640"/>
          </a:xfrm>
          <a:prstGeom prst="rect">
            <a:avLst/>
          </a:prstGeom>
          <a:noFill/>
          <a:ln/>
        </p:spPr>
        <p:txBody>
          <a:bodyPr wrap="square" lIns="0" tIns="0" rIns="0" bIns="0" rtlCol="0" anchor="ctr"/>
          <a:lstStyle/>
          <a:p>
            <a:pPr algn="ctr" indent="0" marL="0">
              <a:buNone/>
            </a:pPr>
            <a:r>
              <a:rPr lang="en-US" sz="1400" b="1" dirty="0">
                <a:solidFill>
                  <a:schemeClr val="tx1"/>
                </a:solidFill>
              </a:rPr>
              <a:t>Speech</a:t>
            </a:r>
            <a:endParaRPr lang="en-US" sz="1400" dirty="0"/>
          </a:p>
          <a:p>
            <a:pPr algn="ctr" indent="0" marL="0">
              <a:buNone/>
            </a:pPr>
            <a:r>
              <a:rPr lang="en-US" sz="1100" dirty="0">
                <a:solidFill>
                  <a:schemeClr val="tx1"/>
                </a:solidFill>
              </a:rPr>
              <a:t>Browser  |  Polly</a:t>
            </a:r>
            <a:endParaRPr lang="en-US" sz="1400" dirty="0"/>
          </a:p>
        </p:txBody>
      </p:sp>
      <p:sp>
        <p:nvSpPr>
          <p:cNvPr id="17" name="arch-AI"/>
          <p:cNvSpPr/>
          <p:nvPr/>
        </p:nvSpPr>
        <p:spPr>
          <a:xfrm>
            <a:off x="5577840" y="3703320"/>
            <a:ext cx="3108960" cy="548640"/>
          </a:xfrm>
          <a:prstGeom prst="rect">
            <a:avLst/>
          </a:prstGeom>
          <a:solidFill>
            <a:schemeClr val="bg1"/>
          </a:solidFill>
          <a:ln w="12700">
            <a:solidFill>
              <a:schemeClr val="accent1"/>
            </a:solidFill>
            <a:prstDash val="solid"/>
          </a:ln>
        </p:spPr>
      </p:sp>
      <p:sp>
        <p:nvSpPr>
          <p:cNvPr id="18" name="Text 15"/>
          <p:cNvSpPr txBox="1"/>
          <p:nvPr/>
        </p:nvSpPr>
        <p:spPr>
          <a:xfrm>
            <a:off x="5669280" y="3703320"/>
            <a:ext cx="2926080" cy="548640"/>
          </a:xfrm>
          <a:prstGeom prst="rect">
            <a:avLst/>
          </a:prstGeom>
          <a:noFill/>
          <a:ln/>
        </p:spPr>
        <p:txBody>
          <a:bodyPr wrap="square" lIns="0" tIns="0" rIns="0" bIns="0" rtlCol="0" anchor="ctr"/>
          <a:lstStyle/>
          <a:p>
            <a:pPr algn="ctr" indent="0" marL="0">
              <a:buNone/>
            </a:pPr>
            <a:r>
              <a:rPr lang="en-US" sz="1400" b="1" dirty="0">
                <a:solidFill>
                  <a:schemeClr val="tx1"/>
                </a:solidFill>
              </a:rPr>
              <a:t>AI</a:t>
            </a:r>
            <a:endParaRPr lang="en-US" sz="1400" dirty="0"/>
          </a:p>
          <a:p>
            <a:pPr algn="ctr" indent="0" marL="0">
              <a:buNone/>
            </a:pPr>
            <a:r>
              <a:rPr lang="en-US" sz="1100" dirty="0">
                <a:solidFill>
                  <a:schemeClr val="tx1"/>
                </a:solidFill>
              </a:rPr>
              <a:t>MiniLM retrieval + Groq LLM</a:t>
            </a:r>
            <a:endParaRPr lang="en-US" sz="1400" dirty="0"/>
          </a:p>
        </p:txBody>
      </p:sp>
      <p:sp>
        <p:nvSpPr>
          <p:cNvPr id="19" name="Shape 16"/>
          <p:cNvSpPr/>
          <p:nvPr/>
        </p:nvSpPr>
        <p:spPr>
          <a:xfrm>
            <a:off x="2194560" y="2606040"/>
            <a:ext cx="548640" cy="0"/>
          </a:xfrm>
          <a:prstGeom prst="line">
            <a:avLst/>
          </a:prstGeom>
          <a:noFill/>
          <a:ln w="19050">
            <a:solidFill>
              <a:schemeClr val="accent1"/>
            </a:solidFill>
            <a:prstDash val="solid"/>
            <a:headEnd type="triangle"/>
            <a:tailEnd type="triangle"/>
          </a:ln>
        </p:spPr>
      </p:sp>
      <p:sp>
        <p:nvSpPr>
          <p:cNvPr id="20" name="Shape 17"/>
          <p:cNvSpPr/>
          <p:nvPr/>
        </p:nvSpPr>
        <p:spPr>
          <a:xfrm flipV="1">
            <a:off x="4937760" y="1417320"/>
            <a:ext cx="640080" cy="1188720"/>
          </a:xfrm>
          <a:prstGeom prst="line">
            <a:avLst/>
          </a:prstGeom>
          <a:noFill/>
          <a:ln w="12700">
            <a:solidFill>
              <a:schemeClr val="accent6"/>
            </a:solidFill>
            <a:prstDash val="solid"/>
            <a:tailEnd type="triangle"/>
          </a:ln>
        </p:spPr>
      </p:sp>
      <p:sp>
        <p:nvSpPr>
          <p:cNvPr id="21" name="Shape 18"/>
          <p:cNvSpPr/>
          <p:nvPr/>
        </p:nvSpPr>
        <p:spPr>
          <a:xfrm flipV="1">
            <a:off x="4937760" y="2057400"/>
            <a:ext cx="640080" cy="548640"/>
          </a:xfrm>
          <a:prstGeom prst="line">
            <a:avLst/>
          </a:prstGeom>
          <a:noFill/>
          <a:ln w="12700">
            <a:solidFill>
              <a:schemeClr val="accent6"/>
            </a:solidFill>
            <a:prstDash val="solid"/>
            <a:tailEnd type="triangle"/>
          </a:ln>
        </p:spPr>
      </p:sp>
      <p:sp>
        <p:nvSpPr>
          <p:cNvPr id="22" name="Shape 19"/>
          <p:cNvSpPr/>
          <p:nvPr/>
        </p:nvSpPr>
        <p:spPr>
          <a:xfrm>
            <a:off x="4937760" y="2606040"/>
            <a:ext cx="640080" cy="91440"/>
          </a:xfrm>
          <a:prstGeom prst="line">
            <a:avLst/>
          </a:prstGeom>
          <a:noFill/>
          <a:ln w="12700">
            <a:solidFill>
              <a:schemeClr val="accent6"/>
            </a:solidFill>
            <a:prstDash val="solid"/>
            <a:tailEnd type="triangle"/>
          </a:ln>
        </p:spPr>
      </p:sp>
      <p:sp>
        <p:nvSpPr>
          <p:cNvPr id="23" name="Shape 20"/>
          <p:cNvSpPr/>
          <p:nvPr/>
        </p:nvSpPr>
        <p:spPr>
          <a:xfrm>
            <a:off x="4937760" y="2606040"/>
            <a:ext cx="640080" cy="731520"/>
          </a:xfrm>
          <a:prstGeom prst="line">
            <a:avLst/>
          </a:prstGeom>
          <a:noFill/>
          <a:ln w="12700">
            <a:solidFill>
              <a:schemeClr val="accent6"/>
            </a:solidFill>
            <a:prstDash val="solid"/>
            <a:tailEnd type="triangle"/>
          </a:ln>
        </p:spPr>
      </p:sp>
      <p:sp>
        <p:nvSpPr>
          <p:cNvPr id="24" name="Shape 21"/>
          <p:cNvSpPr/>
          <p:nvPr/>
        </p:nvSpPr>
        <p:spPr>
          <a:xfrm>
            <a:off x="4937760" y="2606040"/>
            <a:ext cx="640080" cy="1371600"/>
          </a:xfrm>
          <a:prstGeom prst="line">
            <a:avLst/>
          </a:prstGeom>
          <a:noFill/>
          <a:ln w="12700">
            <a:solidFill>
              <a:schemeClr val="accent6"/>
            </a:solidFill>
            <a:prstDash val="solid"/>
            <a:tailEnd type="triangle"/>
          </a:ln>
        </p:spPr>
      </p:sp>
      <p:sp>
        <p:nvSpPr>
          <p:cNvPr id="25" name="Text 22"/>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400" i="1" dirty="0">
                <a:solidFill>
                  <a:schemeClr val="accent1"/>
                </a:solidFill>
              </a:rPr>
              <a:t>Same code, two modes: no AWS keys means durable local mode; add keys and it switches to AWS.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dirty="0">
                <a:solidFill>
                  <a:schemeClr val="accent2"/>
                </a:solidFill>
                <a:latin typeface="Courier New" pitchFamily="34" charset="0"/>
                <a:ea typeface="Courier New" pitchFamily="34" charset="-122"/>
                <a:cs typeface="Courier New" pitchFamily="34" charset="-120"/>
              </a:rPr>
              <a:t>SECURE ACCESS</a:t>
            </a: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indent="0" marL="0">
              <a:buNone/>
            </a:pPr>
            <a:r>
              <a:rPr lang="en-US" sz="2800" b="1" dirty="0">
                <a:solidFill>
                  <a:schemeClr val="tx2"/>
                </a:solidFill>
              </a:rPr>
              <a:t>Every sign-in is checked by the server</a:t>
            </a:r>
            <a:endParaRPr lang="en-US" sz="2800" dirty="0"/>
          </a:p>
        </p:txBody>
      </p:sp>
      <p:sp>
        <p:nvSpPr>
          <p:cNvPr id="5" name="frame-03-staff-pin-rejected"/>
          <p:cNvSpPr/>
          <p:nvPr/>
        </p:nvSpPr>
        <p:spPr>
          <a:xfrm>
            <a:off x="467815" y="1152144"/>
            <a:ext cx="1839606" cy="3182112"/>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6" name="shot-03-staff-pin-rejected" descr="Wrong PIN rejected">    </p:cNvPr>
          <p:cNvPicPr>
            <a:picLocks noChangeAspect="1"/>
          </p:cNvPicPr>
          <p:nvPr/>
        </p:nvPicPr>
        <p:blipFill>
          <a:blip r:embed="rId5"/>
          <a:stretch>
            <a:fillRect/>
          </a:stretch>
        </p:blipFill>
        <p:spPr>
          <a:xfrm>
            <a:off x="504391" y="1188720"/>
            <a:ext cx="1766454" cy="3108960"/>
          </a:xfrm>
          <a:prstGeom prst="rect">
            <a:avLst/>
          </a:prstGeom>
        </p:spPr>
      </p:pic>
      <p:sp>
        <p:nvSpPr>
          <p:cNvPr id="7" name="cap-03-staff-pin-rejected"/>
          <p:cNvSpPr txBox="1"/>
          <p:nvPr/>
        </p:nvSpPr>
        <p:spPr>
          <a:xfrm>
            <a:off x="457200" y="4389120"/>
            <a:ext cx="1860837" cy="256032"/>
          </a:xfrm>
          <a:prstGeom prst="rect">
            <a:avLst/>
          </a:prstGeom>
          <a:noFill/>
          <a:ln/>
        </p:spPr>
        <p:txBody>
          <a:bodyPr wrap="square" lIns="0" tIns="0" rIns="0" bIns="0" rtlCol="0" anchor="ctr"/>
          <a:lstStyle/>
          <a:p>
            <a:pPr indent="0" marL="0">
              <a:buNone/>
            </a:pPr>
            <a:r>
              <a:rPr lang="en-US" sz="1100" i="1" dirty="0">
                <a:solidFill>
                  <a:schemeClr val="accent6"/>
                </a:solidFill>
              </a:rPr>
              <a:t>Wrong PIN rejected</a:t>
            </a:r>
            <a:endParaRPr lang="en-US" sz="1100" dirty="0"/>
          </a:p>
        </p:txBody>
      </p:sp>
      <p:sp>
        <p:nvSpPr>
          <p:cNvPr id="8" name="frame-04-student-login"/>
          <p:cNvSpPr/>
          <p:nvPr/>
        </p:nvSpPr>
        <p:spPr>
          <a:xfrm>
            <a:off x="2676105" y="1152144"/>
            <a:ext cx="1962990" cy="2227568"/>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9" name="shot-04-student-login" descr="Student sign-in">    </p:cNvPr>
          <p:cNvPicPr>
            <a:picLocks noChangeAspect="1"/>
          </p:cNvPicPr>
          <p:nvPr/>
        </p:nvPicPr>
        <p:blipFill>
          <a:blip r:embed="rId1"/>
          <a:stretch>
            <a:fillRect/>
          </a:stretch>
        </p:blipFill>
        <p:spPr>
          <a:xfrm>
            <a:off x="2712681" y="1188720"/>
            <a:ext cx="1889838" cy="2154416"/>
          </a:xfrm>
          <a:prstGeom prst="rect">
            <a:avLst/>
          </a:prstGeom>
        </p:spPr>
      </p:pic>
      <p:sp>
        <p:nvSpPr>
          <p:cNvPr id="10" name="cap-04-student-login"/>
          <p:cNvSpPr txBox="1"/>
          <p:nvPr/>
        </p:nvSpPr>
        <p:spPr>
          <a:xfrm>
            <a:off x="2606040" y="3434576"/>
            <a:ext cx="2103120" cy="256032"/>
          </a:xfrm>
          <a:prstGeom prst="rect">
            <a:avLst/>
          </a:prstGeom>
          <a:noFill/>
          <a:ln/>
        </p:spPr>
        <p:txBody>
          <a:bodyPr wrap="square" lIns="0" tIns="0" rIns="0" bIns="0" rtlCol="0" anchor="ctr"/>
          <a:lstStyle/>
          <a:p>
            <a:pPr indent="0" marL="0">
              <a:buNone/>
            </a:pPr>
            <a:r>
              <a:rPr lang="en-US" sz="1100" i="1" dirty="0">
                <a:solidFill>
                  <a:schemeClr val="accent6"/>
                </a:solidFill>
              </a:rPr>
              <a:t>Student sign-in</a:t>
            </a:r>
            <a:endParaRPr lang="en-US" sz="1100" dirty="0"/>
          </a:p>
        </p:txBody>
      </p:sp>
      <p:sp>
        <p:nvSpPr>
          <p:cNvPr id="11" name="Text 6"/>
          <p:cNvSpPr txBox="1"/>
          <p:nvPr/>
        </p:nvSpPr>
        <p:spPr>
          <a:xfrm>
            <a:off x="5120640" y="1188720"/>
            <a:ext cx="3566160" cy="777240"/>
          </a:xfrm>
          <a:prstGeom prst="rect">
            <a:avLst/>
          </a:prstGeom>
          <a:noFill/>
          <a:ln/>
        </p:spPr>
        <p:txBody>
          <a:bodyPr wrap="square" lIns="0" tIns="0" rIns="0" bIns="0" rtlCol="0" anchor="t"/>
          <a:lstStyle/>
          <a:p>
            <a:pPr indent="0" marL="0">
              <a:buNone/>
            </a:pPr>
            <a:r>
              <a:rPr lang="en-US" sz="1500" b="1" dirty="0">
                <a:solidFill>
                  <a:schemeClr val="tx1"/>
                </a:solidFill>
              </a:rPr>
              <a:t>Server-verified</a:t>
            </a:r>
            <a:endParaRPr lang="en-US" sz="1500" dirty="0"/>
          </a:p>
          <a:p>
            <a:pPr indent="0" marL="0">
              <a:buNone/>
            </a:pPr>
            <a:r>
              <a:rPr lang="en-US" sz="1400" dirty="0">
                <a:solidFill>
                  <a:schemeClr val="accent6"/>
                </a:solidFill>
              </a:rPr>
              <a:t>PBKDF2-hashed PINs and codes; signed, expiring sessions</a:t>
            </a:r>
            <a:endParaRPr lang="en-US" sz="1500" dirty="0"/>
          </a:p>
        </p:txBody>
      </p:sp>
      <p:sp>
        <p:nvSpPr>
          <p:cNvPr id="12" name="Text 7"/>
          <p:cNvSpPr txBox="1"/>
          <p:nvPr/>
        </p:nvSpPr>
        <p:spPr>
          <a:xfrm>
            <a:off x="5120640" y="2039112"/>
            <a:ext cx="3566160" cy="777240"/>
          </a:xfrm>
          <a:prstGeom prst="rect">
            <a:avLst/>
          </a:prstGeom>
          <a:noFill/>
          <a:ln/>
        </p:spPr>
        <p:txBody>
          <a:bodyPr wrap="square" lIns="0" tIns="0" rIns="0" bIns="0" rtlCol="0" anchor="t"/>
          <a:lstStyle/>
          <a:p>
            <a:pPr indent="0" marL="0">
              <a:buNone/>
            </a:pPr>
            <a:r>
              <a:rPr lang="en-US" sz="1500" b="1" dirty="0">
                <a:solidFill>
                  <a:schemeClr val="tx1"/>
                </a:solidFill>
              </a:rPr>
              <a:t>Role-scoped APIs</a:t>
            </a:r>
            <a:endParaRPr lang="en-US" sz="1500" dirty="0"/>
          </a:p>
          <a:p>
            <a:pPr indent="0" marL="0">
              <a:buNone/>
            </a:pPr>
            <a:r>
              <a:rPr lang="en-US" sz="1400" dirty="0">
                <a:solidFill>
                  <a:schemeClr val="accent6"/>
                </a:solidFill>
              </a:rPr>
              <a:t>A student calling an admin endpoint gets 403</a:t>
            </a:r>
            <a:endParaRPr lang="en-US" sz="1500" dirty="0"/>
          </a:p>
        </p:txBody>
      </p:sp>
      <p:sp>
        <p:nvSpPr>
          <p:cNvPr id="13" name="Text 8"/>
          <p:cNvSpPr txBox="1"/>
          <p:nvPr/>
        </p:nvSpPr>
        <p:spPr>
          <a:xfrm>
            <a:off x="5120640" y="2889504"/>
            <a:ext cx="3566160" cy="777240"/>
          </a:xfrm>
          <a:prstGeom prst="rect">
            <a:avLst/>
          </a:prstGeom>
          <a:noFill/>
          <a:ln/>
        </p:spPr>
        <p:txBody>
          <a:bodyPr wrap="square" lIns="0" tIns="0" rIns="0" bIns="0" rtlCol="0" anchor="t"/>
          <a:lstStyle/>
          <a:p>
            <a:pPr indent="0" marL="0">
              <a:buNone/>
            </a:pPr>
            <a:r>
              <a:rPr lang="en-US" sz="1500" b="1" dirty="0">
                <a:solidFill>
                  <a:schemeClr val="tx1"/>
                </a:solidFill>
              </a:rPr>
              <a:t>Brute-force throttle</a:t>
            </a:r>
            <a:endParaRPr lang="en-US" sz="1500" dirty="0"/>
          </a:p>
          <a:p>
            <a:pPr indent="0" marL="0">
              <a:buNone/>
            </a:pPr>
            <a:r>
              <a:rPr lang="en-US" sz="1400" dirty="0">
                <a:solidFill>
                  <a:schemeClr val="accent6"/>
                </a:solidFill>
              </a:rPr>
              <a:t>10 failures in 5 minutes blocks the client</a:t>
            </a:r>
            <a:endParaRPr lang="en-US" sz="1500" dirty="0"/>
          </a:p>
        </p:txBody>
      </p:sp>
      <p:sp>
        <p:nvSpPr>
          <p:cNvPr id="14" name="Text 9"/>
          <p:cNvSpPr txBox="1"/>
          <p:nvPr/>
        </p:nvSpPr>
        <p:spPr>
          <a:xfrm>
            <a:off x="5120640" y="3739896"/>
            <a:ext cx="3566160" cy="777240"/>
          </a:xfrm>
          <a:prstGeom prst="rect">
            <a:avLst/>
          </a:prstGeom>
          <a:noFill/>
          <a:ln/>
        </p:spPr>
        <p:txBody>
          <a:bodyPr wrap="square" lIns="0" tIns="0" rIns="0" bIns="0" rtlCol="0" anchor="t"/>
          <a:lstStyle/>
          <a:p>
            <a:pPr indent="0" marL="0">
              <a:buNone/>
            </a:pPr>
            <a:r>
              <a:rPr lang="en-US" sz="1500" b="1" dirty="0">
                <a:solidFill>
                  <a:schemeClr val="tx1"/>
                </a:solidFill>
              </a:rPr>
              <a:t>Safe by default</a:t>
            </a:r>
            <a:endParaRPr lang="en-US" sz="1500" dirty="0"/>
          </a:p>
          <a:p>
            <a:pPr indent="0" marL="0">
              <a:buNone/>
            </a:pPr>
            <a:r>
              <a:rPr lang="en-US" sz="1400" dirty="0">
                <a:solidFill>
                  <a:schemeClr val="accent6"/>
                </a:solidFill>
              </a:rPr>
              <a:t>Demo hints only in dev; prod requires real secrets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8046720" cy="320040"/>
          </a:xfrm>
          <a:prstGeom prst="rect">
            <a:avLst/>
          </a:prstGeom>
          <a:noFill/>
          <a:ln/>
        </p:spPr>
        <p:txBody>
          <a:bodyPr wrap="square" lIns="0" tIns="0" rIns="0" bIns="0" rtlCol="0"/>
          <a:lstStyle/>
          <a:p>
            <a:pPr indent="0" marL="0">
              <a:buNone/>
            </a:pPr>
            <a:r>
              <a:rPr lang="en-US" sz="1200" b="1" dirty="0">
                <a:solidFill>
                  <a:schemeClr val="accent3"/>
                </a:solidFill>
                <a:latin typeface="Courier New" pitchFamily="34" charset="0"/>
                <a:ea typeface="Courier New" pitchFamily="34" charset="-122"/>
                <a:cs typeface="Courier New" pitchFamily="34" charset="-120"/>
              </a:rPr>
              <a:t>USE-CASE SCENARIOS</a:t>
            </a:r>
            <a:endParaRPr lang="en-US" sz="1200" dirty="0"/>
          </a:p>
        </p:txBody>
      </p:sp>
      <p:sp>
        <p:nvSpPr>
          <p:cNvPr id="3" name="Text 0"/>
          <p:cNvSpPr/>
          <p:nvPr>
            <p:ph idx="101" type="title" hasCustomPrompt="1"/>
          </p:nvPr>
        </p:nvSpPr>
        <p:spPr>
          <a:xfrm>
            <a:off x="548640" y="1783080"/>
            <a:ext cx="8046720" cy="914400"/>
          </a:xfrm>
          <a:prstGeom prst="rect">
            <a:avLst/>
          </a:prstGeom>
          <a:noFill/>
          <a:ln/>
        </p:spPr>
        <p:txBody>
          <a:bodyPr wrap="square" lIns="0" tIns="0" rIns="0" bIns="0" rtlCol="0" anchor="t"/>
          <a:lstStyle/>
          <a:p>
            <a:pPr indent="0" marL="0">
              <a:buNone/>
            </a:pPr>
            <a:r>
              <a:rPr lang="en-US" sz="4000" b="1" dirty="0">
                <a:solidFill>
                  <a:schemeClr val="bg1"/>
                </a:solidFill>
              </a:rPr>
              <a:t>Twelve flows, captured live</a:t>
            </a:r>
            <a:endParaRPr lang="en-US" sz="4000" dirty="0"/>
          </a:p>
        </p:txBody>
      </p:sp>
      <p:sp>
        <p:nvSpPr>
          <p:cNvPr id="4" name="Text 0"/>
          <p:cNvSpPr/>
          <p:nvPr>
            <p:ph idx="102" type="body" hasCustomPrompt="1"/>
          </p:nvPr>
        </p:nvSpPr>
        <p:spPr>
          <a:xfrm>
            <a:off x="548640" y="2788920"/>
            <a:ext cx="6949440" cy="1097280"/>
          </a:xfrm>
          <a:prstGeom prst="rect">
            <a:avLst/>
          </a:prstGeom>
          <a:noFill/>
          <a:ln/>
        </p:spPr>
        <p:txBody>
          <a:bodyPr wrap="square" lIns="0" tIns="0" rIns="0" bIns="0" rtlCol="0" anchor="t"/>
          <a:lstStyle/>
          <a:p>
            <a:pPr indent="0" marL="0">
              <a:buNone/>
            </a:pPr>
            <a:r>
              <a:rPr lang="en-US" sz="1600" dirty="0">
                <a:solidFill>
                  <a:schemeClr val="bg2"/>
                </a:solidFill>
              </a:rPr>
              <a:t>Each scenario crosses roles: a student acts, staff respond, and both see the same persisted record.</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F8F6F2"/>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dirty="0">
                <a:solidFill>
                  <a:schemeClr val="accent2"/>
                </a:solidFill>
                <a:latin typeface="Courier New" pitchFamily="34" charset="0"/>
                <a:ea typeface="Courier New" pitchFamily="34" charset="-122"/>
                <a:cs typeface="Courier New" pitchFamily="34" charset="-120"/>
              </a:rPr>
              <a:t>SCENARIO 1  ·  STUDENT</a:t>
            </a: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indent="0" marL="0">
              <a:buNone/>
            </a:pPr>
            <a:r>
              <a:rPr lang="en-US" sz="2800" b="1" dirty="0">
                <a:solidFill>
                  <a:schemeClr val="tx2"/>
                </a:solidFill>
              </a:rPr>
              <a:t>Leave request with medical proof</a:t>
            </a:r>
            <a:endParaRPr lang="en-US" sz="2800" dirty="0"/>
          </a:p>
        </p:txBody>
      </p:sp>
      <p:sp>
        <p:nvSpPr>
          <p:cNvPr id="5" name="step-dot-0"/>
          <p:cNvSpPr/>
          <p:nvPr/>
        </p:nvSpPr>
        <p:spPr>
          <a:xfrm>
            <a:off x="457200" y="1280160"/>
            <a:ext cx="384048" cy="384048"/>
          </a:xfrm>
          <a:prstGeom prst="ellipse">
            <a:avLst/>
          </a:prstGeom>
          <a:solidFill>
            <a:schemeClr val="accent1"/>
          </a:solidFill>
          <a:ln w="12700">
            <a:solidFill>
              <a:schemeClr val="accent1"/>
            </a:solidFill>
            <a:prstDash val="solid"/>
          </a:ln>
        </p:spPr>
      </p:sp>
      <p:sp>
        <p:nvSpPr>
          <p:cNvPr id="6" name="Text 3"/>
          <p:cNvSpPr txBox="1"/>
          <p:nvPr/>
        </p:nvSpPr>
        <p:spPr>
          <a:xfrm>
            <a:off x="45720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1</a:t>
            </a:r>
            <a:endParaRPr lang="en-US" sz="1400" dirty="0"/>
          </a:p>
        </p:txBody>
      </p:sp>
      <p:sp>
        <p:nvSpPr>
          <p:cNvPr id="7" name="step-0"/>
          <p:cNvSpPr txBox="1"/>
          <p:nvPr/>
        </p:nvSpPr>
        <p:spPr>
          <a:xfrm>
            <a:off x="987552" y="1243584"/>
            <a:ext cx="3310128" cy="1024128"/>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Fill dates and reason</a:t>
            </a:r>
            <a:endParaRPr lang="en-US" sz="1500" dirty="0"/>
          </a:p>
          <a:p>
            <a:pPr indent="0" marL="0">
              <a:spcAft>
                <a:spcPts val="200"/>
              </a:spcAft>
              <a:buNone/>
            </a:pPr>
            <a:r>
              <a:rPr lang="en-US" sz="1400" dirty="0">
                <a:solidFill>
                  <a:schemeClr val="accent6"/>
                </a:solidFill>
              </a:rPr>
              <a:t>Past dates and end-before-start are blocked</a:t>
            </a:r>
            <a:endParaRPr lang="en-US" sz="1500" dirty="0"/>
          </a:p>
        </p:txBody>
      </p:sp>
      <p:sp>
        <p:nvSpPr>
          <p:cNvPr id="8" name="step-dot-1"/>
          <p:cNvSpPr/>
          <p:nvPr/>
        </p:nvSpPr>
        <p:spPr>
          <a:xfrm>
            <a:off x="457200" y="2395728"/>
            <a:ext cx="384048" cy="384048"/>
          </a:xfrm>
          <a:prstGeom prst="ellipse">
            <a:avLst/>
          </a:prstGeom>
          <a:solidFill>
            <a:schemeClr val="accent1"/>
          </a:solidFill>
          <a:ln w="12700">
            <a:solidFill>
              <a:schemeClr val="accent1"/>
            </a:solidFill>
            <a:prstDash val="solid"/>
          </a:ln>
        </p:spPr>
      </p:sp>
      <p:sp>
        <p:nvSpPr>
          <p:cNvPr id="9" name="Text 6"/>
          <p:cNvSpPr txBox="1"/>
          <p:nvPr/>
        </p:nvSpPr>
        <p:spPr>
          <a:xfrm>
            <a:off x="457200" y="23957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2</a:t>
            </a:r>
            <a:endParaRPr lang="en-US" sz="1400" dirty="0"/>
          </a:p>
        </p:txBody>
      </p:sp>
      <p:sp>
        <p:nvSpPr>
          <p:cNvPr id="10" name="step-1"/>
          <p:cNvSpPr txBox="1"/>
          <p:nvPr/>
        </p:nvSpPr>
        <p:spPr>
          <a:xfrm>
            <a:off x="987552" y="2359152"/>
            <a:ext cx="3310128" cy="1024128"/>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Attach the certificate</a:t>
            </a:r>
            <a:endParaRPr lang="en-US" sz="1500" dirty="0"/>
          </a:p>
          <a:p>
            <a:pPr indent="0" marL="0">
              <a:spcAft>
                <a:spcPts val="200"/>
              </a:spcAft>
              <a:buNone/>
            </a:pPr>
            <a:r>
              <a:rPr lang="en-US" sz="1400" dirty="0">
                <a:solidFill>
                  <a:schemeClr val="accent6"/>
                </a:solidFill>
              </a:rPr>
              <a:t>PDF/PNG/JPG, checked by content, kept private</a:t>
            </a:r>
            <a:endParaRPr lang="en-US" sz="1500" dirty="0"/>
          </a:p>
        </p:txBody>
      </p:sp>
      <p:sp>
        <p:nvSpPr>
          <p:cNvPr id="11" name="step-dot-2"/>
          <p:cNvSpPr/>
          <p:nvPr/>
        </p:nvSpPr>
        <p:spPr>
          <a:xfrm>
            <a:off x="457200" y="3511296"/>
            <a:ext cx="384048" cy="384048"/>
          </a:xfrm>
          <a:prstGeom prst="ellipse">
            <a:avLst/>
          </a:prstGeom>
          <a:solidFill>
            <a:schemeClr val="accent1"/>
          </a:solidFill>
          <a:ln w="12700">
            <a:solidFill>
              <a:schemeClr val="accent1"/>
            </a:solidFill>
            <a:prstDash val="solid"/>
          </a:ln>
        </p:spPr>
      </p:sp>
      <p:sp>
        <p:nvSpPr>
          <p:cNvPr id="12" name="Text 9"/>
          <p:cNvSpPr txBox="1"/>
          <p:nvPr/>
        </p:nvSpPr>
        <p:spPr>
          <a:xfrm>
            <a:off x="457200" y="35112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3</a:t>
            </a:r>
            <a:endParaRPr lang="en-US" sz="1400" dirty="0"/>
          </a:p>
        </p:txBody>
      </p:sp>
      <p:sp>
        <p:nvSpPr>
          <p:cNvPr id="13" name="step-2"/>
          <p:cNvSpPr txBox="1"/>
          <p:nvPr/>
        </p:nvSpPr>
        <p:spPr>
          <a:xfrm>
            <a:off x="987552" y="3474720"/>
            <a:ext cx="3310128" cy="1024128"/>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Submit</a:t>
            </a:r>
            <a:endParaRPr lang="en-US" sz="1500" dirty="0"/>
          </a:p>
          <a:p>
            <a:pPr indent="0" marL="0">
              <a:spcAft>
                <a:spcPts val="200"/>
              </a:spcAft>
              <a:buNone/>
            </a:pPr>
            <a:r>
              <a:rPr lang="en-US" sz="1400" dirty="0">
                <a:solidFill>
                  <a:schemeClr val="accent6"/>
                </a:solidFill>
              </a:rPr>
              <a:t>Guardian is emailed automatically (SES)</a:t>
            </a:r>
            <a:endParaRPr lang="en-US" sz="1500" dirty="0"/>
          </a:p>
        </p:txBody>
      </p:sp>
      <p:sp>
        <p:nvSpPr>
          <p:cNvPr id="14" name="frame-f-leave-form"/>
          <p:cNvSpPr/>
          <p:nvPr/>
        </p:nvSpPr>
        <p:spPr>
          <a:xfrm>
            <a:off x="5290433" y="1078992"/>
            <a:ext cx="2586494" cy="3463524"/>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15" name="shot-f-leave-form" descr="f-leave-form">    </p:cNvPr>
          <p:cNvPicPr>
            <a:picLocks noChangeAspect="1"/>
          </p:cNvPicPr>
          <p:nvPr/>
        </p:nvPicPr>
        <p:blipFill>
          <a:blip r:embed="rId4"/>
          <a:stretch>
            <a:fillRect/>
          </a:stretch>
        </p:blipFill>
        <p:spPr>
          <a:xfrm>
            <a:off x="5327009" y="1115568"/>
            <a:ext cx="2513342" cy="3390372"/>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dirty="0">
                <a:solidFill>
                  <a:schemeClr val="accent2"/>
                </a:solidFill>
                <a:latin typeface="Courier New" pitchFamily="34" charset="0"/>
                <a:ea typeface="Courier New" pitchFamily="34" charset="-122"/>
                <a:cs typeface="Courier New" pitchFamily="34" charset="-120"/>
              </a:rPr>
              <a:t>SCENARIO 1  ·  WARDEN</a:t>
            </a: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indent="0" marL="0">
              <a:buNone/>
            </a:pPr>
            <a:r>
              <a:rPr lang="en-US" sz="2800" b="1" dirty="0">
                <a:solidFill>
                  <a:schemeClr val="tx2"/>
                </a:solidFill>
              </a:rPr>
              <a:t>Warden reviews the proof and approves</a:t>
            </a:r>
            <a:endParaRPr lang="en-US" sz="2800" dirty="0"/>
          </a:p>
        </p:txBody>
      </p:sp>
      <p:sp>
        <p:nvSpPr>
          <p:cNvPr id="5" name="frame-f-warden-leaves"/>
          <p:cNvSpPr/>
          <p:nvPr/>
        </p:nvSpPr>
        <p:spPr>
          <a:xfrm>
            <a:off x="1018861" y="1152144"/>
            <a:ext cx="2854318" cy="2854318"/>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6" name="shot-f-warden-leaves" descr="f-warden-leaves">    </p:cNvPr>
          <p:cNvPicPr>
            <a:picLocks noChangeAspect="1"/>
          </p:cNvPicPr>
          <p:nvPr/>
        </p:nvPicPr>
        <p:blipFill>
          <a:blip r:embed="rId5"/>
          <a:stretch>
            <a:fillRect/>
          </a:stretch>
        </p:blipFill>
        <p:spPr>
          <a:xfrm>
            <a:off x="1055437" y="1188720"/>
            <a:ext cx="2781166" cy="2781166"/>
          </a:xfrm>
          <a:prstGeom prst="rect">
            <a:avLst/>
          </a:prstGeom>
        </p:spPr>
      </p:pic>
      <p:sp>
        <p:nvSpPr>
          <p:cNvPr id="7" name="cap-f-warden-leaves"/>
          <p:cNvSpPr txBox="1"/>
          <p:nvPr/>
        </p:nvSpPr>
        <p:spPr>
          <a:xfrm>
            <a:off x="457200" y="4061326"/>
            <a:ext cx="3977640" cy="256032"/>
          </a:xfrm>
          <a:prstGeom prst="rect">
            <a:avLst/>
          </a:prstGeom>
          <a:noFill/>
          <a:ln/>
        </p:spPr>
        <p:txBody>
          <a:bodyPr wrap="square" lIns="0" tIns="0" rIns="0" bIns="0" rtlCol="0" anchor="ctr"/>
          <a:lstStyle/>
          <a:p>
            <a:pPr algn="ctr" indent="0" marL="0">
              <a:buNone/>
            </a:pPr>
            <a:r>
              <a:rPr lang="en-US" sz="1100" i="1" dirty="0">
                <a:solidFill>
                  <a:schemeClr val="accent6"/>
                </a:solidFill>
              </a:rPr>
              <a:t>Pending queue with the private attachment link</a:t>
            </a:r>
            <a:endParaRPr lang="en-US" sz="1100" dirty="0"/>
          </a:p>
        </p:txBody>
      </p:sp>
      <p:sp>
        <p:nvSpPr>
          <p:cNvPr id="8" name="frame-f-leave-approved"/>
          <p:cNvSpPr/>
          <p:nvPr/>
        </p:nvSpPr>
        <p:spPr>
          <a:xfrm>
            <a:off x="5624801" y="1152144"/>
            <a:ext cx="2146359" cy="3054015"/>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9" name="shot-f-leave-approved" descr="f-leave-approved">    </p:cNvPr>
          <p:cNvPicPr>
            <a:picLocks noChangeAspect="1"/>
          </p:cNvPicPr>
          <p:nvPr/>
        </p:nvPicPr>
        <p:blipFill>
          <a:blip r:embed="rId1"/>
          <a:stretch>
            <a:fillRect/>
          </a:stretch>
        </p:blipFill>
        <p:spPr>
          <a:xfrm>
            <a:off x="5661377" y="1188720"/>
            <a:ext cx="2073207" cy="2980863"/>
          </a:xfrm>
          <a:prstGeom prst="rect">
            <a:avLst/>
          </a:prstGeom>
        </p:spPr>
      </p:pic>
      <p:sp>
        <p:nvSpPr>
          <p:cNvPr id="10" name="cap-f-leave-approved"/>
          <p:cNvSpPr txBox="1"/>
          <p:nvPr/>
        </p:nvSpPr>
        <p:spPr>
          <a:xfrm>
            <a:off x="4709160" y="4261023"/>
            <a:ext cx="3977640" cy="256032"/>
          </a:xfrm>
          <a:prstGeom prst="rect">
            <a:avLst/>
          </a:prstGeom>
          <a:noFill/>
          <a:ln/>
        </p:spPr>
        <p:txBody>
          <a:bodyPr wrap="square" lIns="0" tIns="0" rIns="0" bIns="0" rtlCol="0" anchor="ctr"/>
          <a:lstStyle/>
          <a:p>
            <a:pPr algn="ctr" indent="0" marL="0">
              <a:buNone/>
            </a:pPr>
            <a:r>
              <a:rPr lang="en-US" sz="1100" i="1" dirty="0">
                <a:solidFill>
                  <a:schemeClr val="accent6"/>
                </a:solidFill>
              </a:rPr>
              <a:t>The student sees "Approved" instantly</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dirty="0">
                <a:solidFill>
                  <a:schemeClr val="accent2"/>
                </a:solidFill>
                <a:latin typeface="Courier New" pitchFamily="34" charset="0"/>
                <a:ea typeface="Courier New" pitchFamily="34" charset="-122"/>
                <a:cs typeface="Courier New" pitchFamily="34" charset="-120"/>
              </a:rPr>
              <a:t>SCENARIO 2</a:t>
            </a: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indent="0" marL="0">
              <a:buNone/>
            </a:pPr>
            <a:r>
              <a:rPr lang="en-US" sz="2800" b="1" dirty="0">
                <a:solidFill>
                  <a:schemeClr val="tx2"/>
                </a:solidFill>
              </a:rPr>
              <a:t>Visitor pass in two clicks</a:t>
            </a:r>
            <a:endParaRPr lang="en-US" sz="2800" dirty="0"/>
          </a:p>
        </p:txBody>
      </p:sp>
      <p:sp>
        <p:nvSpPr>
          <p:cNvPr id="5" name="frame-f-warden-visitors"/>
          <p:cNvSpPr/>
          <p:nvPr/>
        </p:nvSpPr>
        <p:spPr>
          <a:xfrm>
            <a:off x="943020" y="1152144"/>
            <a:ext cx="3005999" cy="2580656"/>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6" name="shot-f-warden-visitors" descr="f-warden-visitors">    </p:cNvPr>
          <p:cNvPicPr>
            <a:picLocks noChangeAspect="1"/>
          </p:cNvPicPr>
          <p:nvPr/>
        </p:nvPicPr>
        <p:blipFill>
          <a:blip r:embed="rId5"/>
          <a:stretch>
            <a:fillRect/>
          </a:stretch>
        </p:blipFill>
        <p:spPr>
          <a:xfrm>
            <a:off x="979596" y="1188720"/>
            <a:ext cx="2932847" cy="2507504"/>
          </a:xfrm>
          <a:prstGeom prst="rect">
            <a:avLst/>
          </a:prstGeom>
        </p:spPr>
      </p:pic>
      <p:sp>
        <p:nvSpPr>
          <p:cNvPr id="7" name="cap-f-warden-visitors"/>
          <p:cNvSpPr txBox="1"/>
          <p:nvPr/>
        </p:nvSpPr>
        <p:spPr>
          <a:xfrm>
            <a:off x="457199" y="3787664"/>
            <a:ext cx="3977640" cy="256032"/>
          </a:xfrm>
          <a:prstGeom prst="rect">
            <a:avLst/>
          </a:prstGeom>
          <a:noFill/>
          <a:ln/>
        </p:spPr>
        <p:txBody>
          <a:bodyPr wrap="square" lIns="0" tIns="0" rIns="0" bIns="0" rtlCol="0" anchor="ctr"/>
          <a:lstStyle/>
          <a:p>
            <a:pPr algn="ctr" indent="0" marL="0">
              <a:buNone/>
            </a:pPr>
            <a:r>
              <a:rPr lang="en-US" sz="1100" i="1" dirty="0">
                <a:solidFill>
                  <a:schemeClr val="accent6"/>
                </a:solidFill>
              </a:rPr>
              <a:t>Warden approves the pending request</a:t>
            </a:r>
            <a:endParaRPr lang="en-US" sz="1100" dirty="0"/>
          </a:p>
        </p:txBody>
      </p:sp>
      <p:sp>
        <p:nvSpPr>
          <p:cNvPr id="8" name="frame-f-visitor-pass"/>
          <p:cNvSpPr/>
          <p:nvPr/>
        </p:nvSpPr>
        <p:spPr>
          <a:xfrm>
            <a:off x="4672584" y="1152144"/>
            <a:ext cx="4050792" cy="1335287"/>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9" name="shot-f-visitor-pass" descr="f-visitor-pass">    </p:cNvPr>
          <p:cNvPicPr>
            <a:picLocks noChangeAspect="1"/>
          </p:cNvPicPr>
          <p:nvPr/>
        </p:nvPicPr>
        <p:blipFill>
          <a:blip r:embed="rId1"/>
          <a:stretch>
            <a:fillRect/>
          </a:stretch>
        </p:blipFill>
        <p:spPr>
          <a:xfrm>
            <a:off x="4709160" y="1188720"/>
            <a:ext cx="3977640" cy="1262135"/>
          </a:xfrm>
          <a:prstGeom prst="rect">
            <a:avLst/>
          </a:prstGeom>
        </p:spPr>
      </p:pic>
      <p:sp>
        <p:nvSpPr>
          <p:cNvPr id="10" name="cap-f-visitor-pass"/>
          <p:cNvSpPr txBox="1"/>
          <p:nvPr/>
        </p:nvSpPr>
        <p:spPr>
          <a:xfrm>
            <a:off x="4709160" y="2542295"/>
            <a:ext cx="3977640" cy="256032"/>
          </a:xfrm>
          <a:prstGeom prst="rect">
            <a:avLst/>
          </a:prstGeom>
          <a:noFill/>
          <a:ln/>
        </p:spPr>
        <p:txBody>
          <a:bodyPr wrap="square" lIns="0" tIns="0" rIns="0" bIns="0" rtlCol="0" anchor="ctr"/>
          <a:lstStyle/>
          <a:p>
            <a:pPr algn="ctr" indent="0" marL="0">
              <a:buNone/>
            </a:pPr>
            <a:r>
              <a:rPr lang="en-US" sz="1100" i="1" dirty="0">
                <a:solidFill>
                  <a:schemeClr val="accent6"/>
                </a:solidFill>
              </a:rPr>
              <a:t>Student receives a gate pass code on approval</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dirty="0">
                <a:solidFill>
                  <a:schemeClr val="accent2"/>
                </a:solidFill>
                <a:latin typeface="Courier New" pitchFamily="34" charset="0"/>
                <a:ea typeface="Courier New" pitchFamily="34" charset="-122"/>
                <a:cs typeface="Courier New" pitchFamily="34" charset="-120"/>
              </a:rPr>
              <a:t>SCENARIO 3  ·  ADMIN</a:t>
            </a: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indent="0" marL="0">
              <a:buNone/>
            </a:pPr>
            <a:r>
              <a:rPr lang="en-US" sz="2800" b="1" dirty="0">
                <a:solidFill>
                  <a:schemeClr val="tx2"/>
                </a:solidFill>
              </a:rPr>
              <a:t>New billing cycle from the power monitor</a:t>
            </a:r>
            <a:endParaRPr lang="en-US" sz="2800" dirty="0"/>
          </a:p>
        </p:txBody>
      </p:sp>
      <p:sp>
        <p:nvSpPr>
          <p:cNvPr id="5" name="step-dot-0"/>
          <p:cNvSpPr/>
          <p:nvPr/>
        </p:nvSpPr>
        <p:spPr>
          <a:xfrm>
            <a:off x="457200" y="1280160"/>
            <a:ext cx="384048" cy="384048"/>
          </a:xfrm>
          <a:prstGeom prst="ellipse">
            <a:avLst/>
          </a:prstGeom>
          <a:solidFill>
            <a:schemeClr val="accent1"/>
          </a:solidFill>
          <a:ln w="12700">
            <a:solidFill>
              <a:schemeClr val="accent1"/>
            </a:solidFill>
            <a:prstDash val="solid"/>
          </a:ln>
        </p:spPr>
      </p:sp>
      <p:sp>
        <p:nvSpPr>
          <p:cNvPr id="6" name="Text 3"/>
          <p:cNvSpPr txBox="1"/>
          <p:nvPr/>
        </p:nvSpPr>
        <p:spPr>
          <a:xfrm>
            <a:off x="45720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1</a:t>
            </a:r>
            <a:endParaRPr lang="en-US" sz="1400" dirty="0"/>
          </a:p>
        </p:txBody>
      </p:sp>
      <p:sp>
        <p:nvSpPr>
          <p:cNvPr id="7" name="step-0"/>
          <p:cNvSpPr txBox="1"/>
          <p:nvPr/>
        </p:nvSpPr>
        <p:spPr>
          <a:xfrm>
            <a:off x="987552" y="1243584"/>
            <a:ext cx="2852928" cy="1024128"/>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Inspect the load</a:t>
            </a:r>
            <a:endParaRPr lang="en-US" sz="1500" dirty="0"/>
          </a:p>
          <a:p>
            <a:pPr indent="0" marL="0">
              <a:spcAft>
                <a:spcPts val="200"/>
              </a:spcAft>
              <a:buNone/>
            </a:pPr>
            <a:r>
              <a:rPr lang="en-US" sz="1400" dirty="0">
                <a:solidFill>
                  <a:schemeClr val="accent6"/>
                </a:solidFill>
              </a:rPr>
              <a:t>Per-zone consumption vs. baseline</a:t>
            </a:r>
            <a:endParaRPr lang="en-US" sz="1500" dirty="0"/>
          </a:p>
        </p:txBody>
      </p:sp>
      <p:sp>
        <p:nvSpPr>
          <p:cNvPr id="8" name="step-dot-1"/>
          <p:cNvSpPr/>
          <p:nvPr/>
        </p:nvSpPr>
        <p:spPr>
          <a:xfrm>
            <a:off x="457200" y="2395728"/>
            <a:ext cx="384048" cy="384048"/>
          </a:xfrm>
          <a:prstGeom prst="ellipse">
            <a:avLst/>
          </a:prstGeom>
          <a:solidFill>
            <a:schemeClr val="accent1"/>
          </a:solidFill>
          <a:ln w="12700">
            <a:solidFill>
              <a:schemeClr val="accent1"/>
            </a:solidFill>
            <a:prstDash val="solid"/>
          </a:ln>
        </p:spPr>
      </p:sp>
      <p:sp>
        <p:nvSpPr>
          <p:cNvPr id="9" name="Text 6"/>
          <p:cNvSpPr txBox="1"/>
          <p:nvPr/>
        </p:nvSpPr>
        <p:spPr>
          <a:xfrm>
            <a:off x="457200" y="23957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2</a:t>
            </a:r>
            <a:endParaRPr lang="en-US" sz="1400" dirty="0"/>
          </a:p>
        </p:txBody>
      </p:sp>
      <p:sp>
        <p:nvSpPr>
          <p:cNvPr id="10" name="step-1"/>
          <p:cNvSpPr txBox="1"/>
          <p:nvPr/>
        </p:nvSpPr>
        <p:spPr>
          <a:xfrm>
            <a:off x="987552" y="2359152"/>
            <a:ext cx="2852928" cy="1024128"/>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Set the rate</a:t>
            </a:r>
            <a:endParaRPr lang="en-US" sz="1500" dirty="0"/>
          </a:p>
          <a:p>
            <a:pPr indent="0" marL="0">
              <a:spcAft>
                <a:spcPts val="200"/>
              </a:spcAft>
              <a:buNone/>
            </a:pPr>
            <a:r>
              <a:rPr lang="en-US" sz="1400" dirty="0">
                <a:solidFill>
                  <a:schemeClr val="accent6"/>
                </a:solidFill>
              </a:rPr>
              <a:t>Validated between ₹0.01 and ₹100 per kWh</a:t>
            </a:r>
            <a:endParaRPr lang="en-US" sz="1500" dirty="0"/>
          </a:p>
        </p:txBody>
      </p:sp>
      <p:sp>
        <p:nvSpPr>
          <p:cNvPr id="11" name="step-dot-2"/>
          <p:cNvSpPr/>
          <p:nvPr/>
        </p:nvSpPr>
        <p:spPr>
          <a:xfrm>
            <a:off x="457200" y="3511296"/>
            <a:ext cx="384048" cy="384048"/>
          </a:xfrm>
          <a:prstGeom prst="ellipse">
            <a:avLst/>
          </a:prstGeom>
          <a:solidFill>
            <a:schemeClr val="accent1"/>
          </a:solidFill>
          <a:ln w="12700">
            <a:solidFill>
              <a:schemeClr val="accent1"/>
            </a:solidFill>
            <a:prstDash val="solid"/>
          </a:ln>
        </p:spPr>
      </p:sp>
      <p:sp>
        <p:nvSpPr>
          <p:cNvPr id="12" name="Text 9"/>
          <p:cNvSpPr txBox="1"/>
          <p:nvPr/>
        </p:nvSpPr>
        <p:spPr>
          <a:xfrm>
            <a:off x="457200" y="35112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3</a:t>
            </a:r>
            <a:endParaRPr lang="en-US" sz="1400" dirty="0"/>
          </a:p>
        </p:txBody>
      </p:sp>
      <p:sp>
        <p:nvSpPr>
          <p:cNvPr id="13" name="step-2"/>
          <p:cNvSpPr txBox="1"/>
          <p:nvPr/>
        </p:nvSpPr>
        <p:spPr>
          <a:xfrm>
            <a:off x="987552" y="3474720"/>
            <a:ext cx="2852928" cy="1024128"/>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Dispatch</a:t>
            </a:r>
            <a:endParaRPr lang="en-US" sz="1500" dirty="0"/>
          </a:p>
          <a:p>
            <a:pPr indent="0" marL="0">
              <a:spcAft>
                <a:spcPts val="200"/>
              </a:spcAft>
              <a:buNone/>
            </a:pPr>
            <a:r>
              <a:rPr lang="en-US" sz="1400" dirty="0">
                <a:solidFill>
                  <a:schemeClr val="accent6"/>
                </a:solidFill>
              </a:rPr>
              <a:t>A new cycle ID is pushed to every student portal</a:t>
            </a:r>
            <a:endParaRPr lang="en-US" sz="1500" dirty="0"/>
          </a:p>
        </p:txBody>
      </p:sp>
      <p:sp>
        <p:nvSpPr>
          <p:cNvPr id="14" name="frame-16-admin-power-billing"/>
          <p:cNvSpPr/>
          <p:nvPr/>
        </p:nvSpPr>
        <p:spPr>
          <a:xfrm>
            <a:off x="3986784" y="1078992"/>
            <a:ext cx="4731838" cy="3657599"/>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15" name="shot-16-admin-power-billing" descr="16-admin-power-billing">    </p:cNvPr>
          <p:cNvPicPr>
            <a:picLocks noChangeAspect="1"/>
          </p:cNvPicPr>
          <p:nvPr/>
        </p:nvPicPr>
        <p:blipFill>
          <a:blip r:embed="rId4"/>
          <a:stretch>
            <a:fillRect/>
          </a:stretch>
        </p:blipFill>
        <p:spPr>
          <a:xfrm>
            <a:off x="4023360" y="1115568"/>
            <a:ext cx="4658686" cy="3584447"/>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dirty="0">
                <a:solidFill>
                  <a:schemeClr val="accent2"/>
                </a:solidFill>
                <a:latin typeface="Courier New" pitchFamily="34" charset="0"/>
                <a:ea typeface="Courier New" pitchFamily="34" charset="-122"/>
                <a:cs typeface="Courier New" pitchFamily="34" charset="-120"/>
              </a:rPr>
              <a:t>SCENARIO 3  ·  STUDENT</a:t>
            </a: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indent="0" marL="0">
              <a:buNone/>
            </a:pPr>
            <a:r>
              <a:rPr lang="en-US" sz="2800" b="1" dirty="0">
                <a:solidFill>
                  <a:schemeClr val="tx2"/>
                </a:solidFill>
              </a:rPr>
              <a:t>Dues calculated on the server, paid by UPI</a:t>
            </a:r>
            <a:endParaRPr lang="en-US" sz="2800" dirty="0"/>
          </a:p>
        </p:txBody>
      </p:sp>
      <p:sp>
        <p:nvSpPr>
          <p:cNvPr id="5" name="frame-17-payment-modal"/>
          <p:cNvSpPr/>
          <p:nvPr/>
        </p:nvSpPr>
        <p:spPr>
          <a:xfrm>
            <a:off x="458564" y="1152144"/>
            <a:ext cx="3974912" cy="3133595"/>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6" name="shot-17-payment-modal" descr="17-payment-modal">    </p:cNvPr>
          <p:cNvPicPr>
            <a:picLocks noChangeAspect="1"/>
          </p:cNvPicPr>
          <p:nvPr/>
        </p:nvPicPr>
        <p:blipFill>
          <a:blip r:embed="rId5"/>
          <a:stretch>
            <a:fillRect/>
          </a:stretch>
        </p:blipFill>
        <p:spPr>
          <a:xfrm>
            <a:off x="495140" y="1188720"/>
            <a:ext cx="3901760" cy="3060443"/>
          </a:xfrm>
          <a:prstGeom prst="rect">
            <a:avLst/>
          </a:prstGeom>
        </p:spPr>
      </p:pic>
      <p:sp>
        <p:nvSpPr>
          <p:cNvPr id="7" name="cap-17-payment-modal"/>
          <p:cNvSpPr txBox="1"/>
          <p:nvPr/>
        </p:nvSpPr>
        <p:spPr>
          <a:xfrm>
            <a:off x="457200" y="4340603"/>
            <a:ext cx="3977640" cy="256032"/>
          </a:xfrm>
          <a:prstGeom prst="rect">
            <a:avLst/>
          </a:prstGeom>
          <a:noFill/>
          <a:ln/>
        </p:spPr>
        <p:txBody>
          <a:bodyPr wrap="square" lIns="0" tIns="0" rIns="0" bIns="0" rtlCol="0" anchor="ctr"/>
          <a:lstStyle/>
          <a:p>
            <a:pPr algn="ctr" indent="0" marL="0">
              <a:buNone/>
            </a:pPr>
            <a:r>
              <a:rPr lang="en-US" sz="1100" i="1" dirty="0">
                <a:solidFill>
                  <a:schemeClr val="accent6"/>
                </a:solidFill>
              </a:rPr>
              <a:t>UPI authorisation for the server-computed total</a:t>
            </a:r>
            <a:endParaRPr lang="en-US" sz="1100" dirty="0"/>
          </a:p>
        </p:txBody>
      </p:sp>
      <p:sp>
        <p:nvSpPr>
          <p:cNvPr id="8" name="frame-f-dues-paid"/>
          <p:cNvSpPr/>
          <p:nvPr/>
        </p:nvSpPr>
        <p:spPr>
          <a:xfrm>
            <a:off x="5685279" y="1152144"/>
            <a:ext cx="2025401" cy="3078795"/>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9" name="shot-f-dues-paid" descr="f-dues-paid">    </p:cNvPr>
          <p:cNvPicPr>
            <a:picLocks noChangeAspect="1"/>
          </p:cNvPicPr>
          <p:nvPr/>
        </p:nvPicPr>
        <p:blipFill>
          <a:blip r:embed="rId1"/>
          <a:stretch>
            <a:fillRect/>
          </a:stretch>
        </p:blipFill>
        <p:spPr>
          <a:xfrm>
            <a:off x="5721855" y="1188720"/>
            <a:ext cx="1952249" cy="3005643"/>
          </a:xfrm>
          <a:prstGeom prst="rect">
            <a:avLst/>
          </a:prstGeom>
        </p:spPr>
      </p:pic>
      <p:sp>
        <p:nvSpPr>
          <p:cNvPr id="10" name="cap-f-dues-paid"/>
          <p:cNvSpPr txBox="1"/>
          <p:nvPr/>
        </p:nvSpPr>
        <p:spPr>
          <a:xfrm>
            <a:off x="4709159" y="4285803"/>
            <a:ext cx="3977640" cy="256032"/>
          </a:xfrm>
          <a:prstGeom prst="rect">
            <a:avLst/>
          </a:prstGeom>
          <a:noFill/>
          <a:ln/>
        </p:spPr>
        <p:txBody>
          <a:bodyPr wrap="square" lIns="0" tIns="0" rIns="0" bIns="0" rtlCol="0" anchor="ctr"/>
          <a:lstStyle/>
          <a:p>
            <a:pPr algn="ctr" indent="0" marL="0">
              <a:buNone/>
            </a:pPr>
            <a:r>
              <a:rPr lang="en-US" sz="1100" i="1" dirty="0">
                <a:solidFill>
                  <a:schemeClr val="accent6"/>
                </a:solidFill>
              </a:rPr>
              <a:t>Receipt stored against the billing cycle</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dirty="0">
                <a:solidFill>
                  <a:schemeClr val="accent2"/>
                </a:solidFill>
                <a:latin typeface="Courier New" pitchFamily="34" charset="0"/>
                <a:ea typeface="Courier New" pitchFamily="34" charset="-122"/>
                <a:cs typeface="Courier New" pitchFamily="34" charset="-120"/>
              </a:rPr>
              <a:t>SCENARIO 4  ·  WARDEN</a:t>
            </a: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indent="0" marL="0">
              <a:buNone/>
            </a:pPr>
            <a:r>
              <a:rPr lang="en-US" sz="2800" b="1" dirty="0">
                <a:solidFill>
                  <a:schemeClr val="tx2"/>
                </a:solidFill>
              </a:rPr>
              <a:t>100 seeded students feed the allocation engine</a:t>
            </a:r>
            <a:endParaRPr lang="en-US" sz="2800" dirty="0"/>
          </a:p>
        </p:txBody>
      </p:sp>
      <p:sp>
        <p:nvSpPr>
          <p:cNvPr id="5" name="frame-22-survey-responses"/>
          <p:cNvSpPr/>
          <p:nvPr/>
        </p:nvSpPr>
        <p:spPr>
          <a:xfrm>
            <a:off x="420624" y="1106424"/>
            <a:ext cx="5696712" cy="3589530"/>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txBody>
          <a:bodyPr/>
          <a:p/>
        </p:txBody>
      </p:sp>
      <p:pic>
        <p:nvPicPr>
          <p:cNvPr id="6" name="shot-22-survey-responses" descr="22-survey-responses">    </p:cNvPr>
          <p:cNvPicPr>
            <a:picLocks noChangeAspect="1"/>
          </p:cNvPicPr>
          <p:nvPr/>
        </p:nvPicPr>
        <p:blipFill>
          <a:blip r:embed="rId4"/>
          <a:stretch>
            <a:fillRect/>
          </a:stretch>
        </p:blipFill>
        <p:spPr>
          <a:xfrm>
            <a:off x="457200" y="1143000"/>
            <a:ext cx="5623560" cy="3516378"/>
          </a:xfrm>
          <a:prstGeom prst="rect">
            <a:avLst/>
          </a:prstGeom>
        </p:spPr>
      </p:pic>
      <p:sp>
        <p:nvSpPr>
          <p:cNvPr id="7" name="stat-live survey responses (100 seeded + 1 new)"/>
          <p:cNvSpPr txBox="1"/>
          <p:nvPr/>
        </p:nvSpPr>
        <p:spPr>
          <a:xfrm>
            <a:off x="6446520" y="1280160"/>
            <a:ext cx="2240280" cy="685800"/>
          </a:xfrm>
          <a:prstGeom prst="rect">
            <a:avLst/>
          </a:prstGeom>
          <a:noFill/>
          <a:ln/>
        </p:spPr>
        <p:txBody>
          <a:bodyPr wrap="square" lIns="0" tIns="0" rIns="0" bIns="0" rtlCol="0" anchor="ctr"/>
          <a:lstStyle/>
          <a:p>
            <a:pPr indent="0" marL="0">
              <a:buNone/>
            </a:pPr>
            <a:r>
              <a:rPr lang="en-US" sz="4000" b="1" dirty="0">
                <a:solidFill>
                  <a:schemeClr val="accent2"/>
                </a:solidFill>
                <a:latin typeface="Arial" pitchFamily="34" charset="0"/>
                <a:ea typeface="Arial" pitchFamily="34" charset="-122"/>
                <a:cs typeface="Arial" pitchFamily="34" charset="-120"/>
              </a:rPr>
              <a:t>100</a:t>
            </a:r>
            <a:endParaRPr lang="en-US" sz="4000" dirty="0"/>
          </a:p>
        </p:txBody>
      </p:sp>
      <p:sp>
        <p:nvSpPr>
          <p:cNvPr id="8" name="Text 4"/>
          <p:cNvSpPr txBox="1"/>
          <p:nvPr/>
        </p:nvSpPr>
        <p:spPr>
          <a:xfrm>
            <a:off x="6446520" y="1993392"/>
            <a:ext cx="2240280" cy="457200"/>
          </a:xfrm>
          <a:prstGeom prst="rect">
            <a:avLst/>
          </a:prstGeom>
          <a:noFill/>
          <a:ln/>
        </p:spPr>
        <p:txBody>
          <a:bodyPr wrap="square" lIns="0" tIns="0" rIns="0" bIns="0" rtlCol="0" anchor="t"/>
          <a:lstStyle/>
          <a:p>
            <a:pPr indent="0" marL="0">
              <a:buNone/>
            </a:pPr>
            <a:r>
              <a:rPr lang="en-US" sz="1400" dirty="0">
                <a:solidFill>
                  <a:schemeClr val="accent6"/>
                </a:solidFill>
              </a:rPr>
              <a:t>survey responses from the seeded residents</a:t>
            </a:r>
            <a:endParaRPr lang="en-US" sz="1400" dirty="0"/>
          </a:p>
        </p:txBody>
      </p:sp>
      <p:sp>
        <p:nvSpPr>
          <p:cNvPr id="9" name="stat-Excel export with the ML feature matrix"/>
          <p:cNvSpPr txBox="1"/>
          <p:nvPr/>
        </p:nvSpPr>
        <p:spPr>
          <a:xfrm>
            <a:off x="6446520" y="2697480"/>
            <a:ext cx="2240280" cy="68580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1-click</a:t>
            </a:r>
            <a:endParaRPr lang="en-US" sz="4000" dirty="0"/>
          </a:p>
        </p:txBody>
      </p:sp>
      <p:sp>
        <p:nvSpPr>
          <p:cNvPr id="10" name="Text 6"/>
          <p:cNvSpPr txBox="1"/>
          <p:nvPr/>
        </p:nvSpPr>
        <p:spPr>
          <a:xfrm>
            <a:off x="6446520" y="3410712"/>
            <a:ext cx="2240280" cy="457200"/>
          </a:xfrm>
          <a:prstGeom prst="rect">
            <a:avLst/>
          </a:prstGeom>
          <a:noFill/>
          <a:ln/>
        </p:spPr>
        <p:txBody>
          <a:bodyPr wrap="square" lIns="0" tIns="0" rIns="0" bIns="0" rtlCol="0" anchor="t"/>
          <a:lstStyle/>
          <a:p>
            <a:pPr indent="0" marL="0">
              <a:buNone/>
            </a:pPr>
            <a:r>
              <a:rPr lang="en-US" sz="1400" dirty="0">
                <a:solidFill>
                  <a:schemeClr val="accent6"/>
                </a:solidFill>
              </a:rPr>
              <a:t>Excel export with the ML feature matrix</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dirty="0">
                <a:solidFill>
                  <a:schemeClr val="accent2"/>
                </a:solidFill>
                <a:latin typeface="Courier New" pitchFamily="34" charset="0"/>
                <a:ea typeface="Courier New" pitchFamily="34" charset="-122"/>
                <a:cs typeface="Courier New" pitchFamily="34" charset="-120"/>
              </a:rPr>
              <a:t>SCENARIO 4  ·  MATCHING</a:t>
            </a: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indent="0" marL="0">
              <a:buNone/>
            </a:pPr>
            <a:r>
              <a:rPr lang="en-US" sz="2800" b="1" dirty="0">
                <a:solidFill>
                  <a:schemeClr val="tx2"/>
                </a:solidFill>
              </a:rPr>
              <a:t>Compatibility ranks real roommates</a:t>
            </a:r>
            <a:endParaRPr lang="en-US" sz="2800" dirty="0"/>
          </a:p>
        </p:txBody>
      </p:sp>
      <p:sp>
        <p:nvSpPr>
          <p:cNvPr id="5" name="frame-f-compat"/>
          <p:cNvSpPr/>
          <p:nvPr/>
        </p:nvSpPr>
        <p:spPr>
          <a:xfrm>
            <a:off x="635556" y="1078992"/>
            <a:ext cx="2020727" cy="3657600"/>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txBody>
          <a:bodyPr/>
          <a:p/>
        </p:txBody>
      </p:sp>
      <p:pic>
        <p:nvPicPr>
          <p:cNvPr id="6" name="shot-f-compat" descr="f-compat">    </p:cNvPr>
          <p:cNvPicPr>
            <a:picLocks noChangeAspect="1"/>
          </p:cNvPicPr>
          <p:nvPr/>
        </p:nvPicPr>
        <p:blipFill>
          <a:blip r:embed="rId5"/>
          <a:stretch>
            <a:fillRect/>
          </a:stretch>
        </p:blipFill>
        <p:spPr>
          <a:xfrm>
            <a:off x="672132" y="1115568"/>
            <a:ext cx="1947575" cy="3584448"/>
          </a:xfrm>
          <a:prstGeom prst="rect">
            <a:avLst/>
          </a:prstGeom>
        </p:spPr>
      </p:pic>
      <p:sp>
        <p:nvSpPr>
          <p:cNvPr id="8" name="Text 3"/>
          <p:cNvSpPr txBox="1"/>
          <p:nvPr/>
        </p:nvSpPr>
        <p:spPr>
          <a:xfrm>
            <a:off x="3200400" y="4023360"/>
            <a:ext cx="5486400" cy="548640"/>
          </a:xfrm>
          <a:prstGeom prst="rect">
            <a:avLst/>
          </a:prstGeom>
          <a:noFill/>
          <a:ln/>
        </p:spPr>
        <p:txBody>
          <a:bodyPr wrap="square" lIns="0" tIns="0" rIns="0" bIns="0" rtlCol="0" anchor="t"/>
          <a:lstStyle/>
          <a:p>
            <a:pPr indent="0" marL="0">
              <a:buNone/>
            </a:pPr>
            <a:r>
              <a:rPr lang="en-US" sz="1400" i="1" dirty="0">
                <a:solidFill>
                  <a:schemeClr val="accent1"/>
                </a:solidFill>
              </a:rPr>
              <a:t>Search a Night Owl / silent / strictly clean / quiet profile in Block A: the best residents score 95%, 90% and 90%. Single-gender blocks only rank residents of that block.</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14</a:t>
            </a:fld>
            <a:endParaRPr lang="en-US"/>
          </a:p>
        </p:txBody>
      </p:sp>
      <p:sp>
        <p:nvSpPr>
          <p:cNvPr id="8" name="Text 3"/>
          <p:cNvSpPr txBox="1"/>
          <p:nvPr/>
        </p:nvSpPr>
        <p:spPr>
          <a:xfrm>
            <a:off x="3200400" y="1143000"/>
            <a:ext cx="5486400" cy="274320"/>
          </a:xfrm>
          <a:prstGeom prst="rect">
            <a:avLst/>
          </a:prstGeom>
          <a:noFill/>
          <a:ln/>
        </p:spPr>
        <p:txBody>
          <a:bodyPr wrap="square" lIns="0" tIns="0" rIns="0" bIns="0" rtlCol="0" anchor="t"/>
          <a:lstStyle/>
          <a:p>
            <a:pPr indent="0" marL="0">
              <a:buNone/>
            </a:pPr>
            <a:r>
              <a:rPr lang="en-US" sz="1400" i="0" dirty="0" b="1">
                <a:solidFill>
                  <a:schemeClr val="accent1"/>
                </a:solidFill>
              </a:rPr>
              <a:t>Similarity weights used for every match</a:t>
            </a:r>
            <a:endParaRPr lang="en-US" sz="1400" dirty="0"/>
          </a:p>
        </p:txBody>
      </p:sp>
      <p:sp>
        <p:nvSpPr>
          <p:cNvPr id="6" name="Text 3"/>
          <p:cNvSpPr txBox="1"/>
          <p:nvPr/>
        </p:nvSpPr>
        <p:spPr>
          <a:xfrm>
            <a:off x="3200400" y="1600200"/>
            <a:ext cx="1600200" cy="365760"/>
          </a:xfrm>
          <a:prstGeom prst="rect">
            <a:avLst/>
          </a:prstGeom>
          <a:noFill/>
          <a:ln/>
        </p:spPr>
        <p:txBody>
          <a:bodyPr wrap="square" lIns="0" tIns="0" rIns="0" bIns="0" rtlCol="0" anchor="ctr"/>
          <a:lstStyle/>
          <a:p>
            <a:pPr indent="0" marL="0">
              <a:buNone/>
            </a:pPr>
            <a:r>
              <a:rPr lang="en-US" sz="1400" dirty="0">
                <a:solidFill>
                  <a:schemeClr val="accent6"/>
                </a:solidFill>
              </a:rPr>
              <a:t>Sleep cycle</a:t>
            </a:r>
            <a:endParaRPr lang="en-US" sz="1400" dirty="0"/>
          </a:p>
        </p:txBody>
      </p:sp>
      <p:sp>
        <p:nvSpPr>
          <p:cNvPr id="26" name="bar-Sleep cycle"/>
          <p:cNvSpPr/>
          <p:nvPr/>
        </p:nvSpPr>
        <p:spPr>
          <a:xfrm>
            <a:off x="4892040" y="1655064"/>
            <a:ext cx="3291840" cy="25603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 3"/>
          <p:cNvSpPr txBox="1"/>
          <p:nvPr/>
        </p:nvSpPr>
        <p:spPr>
          <a:xfrm>
            <a:off x="8275320" y="1600200"/>
            <a:ext cx="640080" cy="365760"/>
          </a:xfrm>
          <a:prstGeom prst="rect">
            <a:avLst/>
          </a:prstGeom>
          <a:noFill/>
          <a:ln/>
        </p:spPr>
        <p:txBody>
          <a:bodyPr wrap="square" lIns="0" tIns="0" rIns="0" bIns="0" rtlCol="0" anchor="t"/>
          <a:lstStyle/>
          <a:p>
            <a:pPr indent="0" marL="0">
              <a:buNone/>
            </a:pPr>
            <a:r>
              <a:rPr lang="en-US" sz="1400" dirty="0" b="1">
                <a:solidFill>
                  <a:schemeClr val="accent6"/>
                </a:solidFill>
              </a:rPr>
              <a:t>30%</a:t>
            </a:r>
            <a:endParaRPr lang="en-US" sz="1400" dirty="0"/>
          </a:p>
        </p:txBody>
      </p:sp>
      <p:sp>
        <p:nvSpPr>
          <p:cNvPr id="6" name="Text 3"/>
          <p:cNvSpPr txBox="1"/>
          <p:nvPr/>
        </p:nvSpPr>
        <p:spPr>
          <a:xfrm>
            <a:off x="3200400" y="2148840"/>
            <a:ext cx="1600200" cy="365760"/>
          </a:xfrm>
          <a:prstGeom prst="rect">
            <a:avLst/>
          </a:prstGeom>
          <a:noFill/>
          <a:ln/>
        </p:spPr>
        <p:txBody>
          <a:bodyPr wrap="square" lIns="0" tIns="0" rIns="0" bIns="0" rtlCol="0" anchor="ctr"/>
          <a:lstStyle/>
          <a:p>
            <a:pPr indent="0" marL="0">
              <a:buNone/>
            </a:pPr>
            <a:r>
              <a:rPr lang="en-US" sz="1400" dirty="0">
                <a:solidFill>
                  <a:schemeClr val="accent6"/>
                </a:solidFill>
              </a:rPr>
              <a:t>Study environment</a:t>
            </a:r>
            <a:endParaRPr lang="en-US" sz="1400" dirty="0"/>
          </a:p>
        </p:txBody>
      </p:sp>
      <p:sp>
        <p:nvSpPr>
          <p:cNvPr id="27" name="bar-Study environment"/>
          <p:cNvSpPr/>
          <p:nvPr/>
        </p:nvSpPr>
        <p:spPr>
          <a:xfrm>
            <a:off x="4892040" y="2203704"/>
            <a:ext cx="2743200" cy="25603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 3"/>
          <p:cNvSpPr txBox="1"/>
          <p:nvPr/>
        </p:nvSpPr>
        <p:spPr>
          <a:xfrm>
            <a:off x="7726680" y="2148840"/>
            <a:ext cx="640080" cy="365760"/>
          </a:xfrm>
          <a:prstGeom prst="rect">
            <a:avLst/>
          </a:prstGeom>
          <a:noFill/>
          <a:ln/>
        </p:spPr>
        <p:txBody>
          <a:bodyPr wrap="square" lIns="0" tIns="0" rIns="0" bIns="0" rtlCol="0" anchor="t"/>
          <a:lstStyle/>
          <a:p>
            <a:pPr indent="0" marL="0">
              <a:buNone/>
            </a:pPr>
            <a:r>
              <a:rPr lang="en-US" sz="1400" dirty="0" b="1">
                <a:solidFill>
                  <a:schemeClr val="accent6"/>
                </a:solidFill>
              </a:rPr>
              <a:t>25%</a:t>
            </a:r>
            <a:endParaRPr lang="en-US" sz="1400" dirty="0"/>
          </a:p>
        </p:txBody>
      </p:sp>
      <p:sp>
        <p:nvSpPr>
          <p:cNvPr id="6" name="Text 3"/>
          <p:cNvSpPr txBox="1"/>
          <p:nvPr/>
        </p:nvSpPr>
        <p:spPr>
          <a:xfrm>
            <a:off x="3200400" y="2697480"/>
            <a:ext cx="1600200" cy="365760"/>
          </a:xfrm>
          <a:prstGeom prst="rect">
            <a:avLst/>
          </a:prstGeom>
          <a:noFill/>
          <a:ln/>
        </p:spPr>
        <p:txBody>
          <a:bodyPr wrap="square" lIns="0" tIns="0" rIns="0" bIns="0" rtlCol="0" anchor="ctr"/>
          <a:lstStyle/>
          <a:p>
            <a:pPr indent="0" marL="0">
              <a:buNone/>
            </a:pPr>
            <a:r>
              <a:rPr lang="en-US" sz="1400" dirty="0">
                <a:solidFill>
                  <a:schemeClr val="accent6"/>
                </a:solidFill>
              </a:rPr>
              <a:t>Cleanliness</a:t>
            </a:r>
            <a:endParaRPr lang="en-US" sz="1400" dirty="0"/>
          </a:p>
        </p:txBody>
      </p:sp>
      <p:sp>
        <p:nvSpPr>
          <p:cNvPr id="28" name="bar-Cleanliness"/>
          <p:cNvSpPr/>
          <p:nvPr/>
        </p:nvSpPr>
        <p:spPr>
          <a:xfrm>
            <a:off x="4892040" y="2752344"/>
            <a:ext cx="2743200" cy="25603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 3"/>
          <p:cNvSpPr txBox="1"/>
          <p:nvPr/>
        </p:nvSpPr>
        <p:spPr>
          <a:xfrm>
            <a:off x="7726680" y="2697480"/>
            <a:ext cx="640080" cy="365760"/>
          </a:xfrm>
          <a:prstGeom prst="rect">
            <a:avLst/>
          </a:prstGeom>
          <a:noFill/>
          <a:ln/>
        </p:spPr>
        <p:txBody>
          <a:bodyPr wrap="square" lIns="0" tIns="0" rIns="0" bIns="0" rtlCol="0" anchor="t"/>
          <a:lstStyle/>
          <a:p>
            <a:pPr indent="0" marL="0">
              <a:buNone/>
            </a:pPr>
            <a:r>
              <a:rPr lang="en-US" sz="1400" dirty="0" b="1">
                <a:solidFill>
                  <a:schemeClr val="accent6"/>
                </a:solidFill>
              </a:rPr>
              <a:t>25%</a:t>
            </a:r>
            <a:endParaRPr lang="en-US" sz="1400" dirty="0"/>
          </a:p>
        </p:txBody>
      </p:sp>
      <p:sp>
        <p:nvSpPr>
          <p:cNvPr id="6" name="Text 3"/>
          <p:cNvSpPr txBox="1"/>
          <p:nvPr/>
        </p:nvSpPr>
        <p:spPr>
          <a:xfrm>
            <a:off x="3200400" y="3246120"/>
            <a:ext cx="1600200" cy="365760"/>
          </a:xfrm>
          <a:prstGeom prst="rect">
            <a:avLst/>
          </a:prstGeom>
          <a:noFill/>
          <a:ln/>
        </p:spPr>
        <p:txBody>
          <a:bodyPr wrap="square" lIns="0" tIns="0" rIns="0" bIns="0" rtlCol="0" anchor="ctr"/>
          <a:lstStyle/>
          <a:p>
            <a:pPr indent="0" marL="0">
              <a:buNone/>
            </a:pPr>
            <a:r>
              <a:rPr lang="en-US" sz="1400" dirty="0">
                <a:solidFill>
                  <a:schemeClr val="accent6"/>
                </a:solidFill>
              </a:rPr>
              <a:t>Social preference</a:t>
            </a:r>
            <a:endParaRPr lang="en-US" sz="1400" dirty="0"/>
          </a:p>
        </p:txBody>
      </p:sp>
      <p:sp>
        <p:nvSpPr>
          <p:cNvPr id="29" name="bar-Social preference"/>
          <p:cNvSpPr/>
          <p:nvPr/>
        </p:nvSpPr>
        <p:spPr>
          <a:xfrm>
            <a:off x="4892040" y="3300984"/>
            <a:ext cx="2194560" cy="25603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 3"/>
          <p:cNvSpPr txBox="1"/>
          <p:nvPr/>
        </p:nvSpPr>
        <p:spPr>
          <a:xfrm>
            <a:off x="7178040" y="3246120"/>
            <a:ext cx="640080" cy="365760"/>
          </a:xfrm>
          <a:prstGeom prst="rect">
            <a:avLst/>
          </a:prstGeom>
          <a:noFill/>
          <a:ln/>
        </p:spPr>
        <p:txBody>
          <a:bodyPr wrap="square" lIns="0" tIns="0" rIns="0" bIns="0" rtlCol="0" anchor="t"/>
          <a:lstStyle/>
          <a:p>
            <a:pPr indent="0" marL="0">
              <a:buNone/>
            </a:pPr>
            <a:r>
              <a:rPr lang="en-US" sz="1400" dirty="0" b="1">
                <a:solidFill>
                  <a:schemeClr val="accent6"/>
                </a:solidFill>
              </a:rPr>
              <a:t>20%</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dirty="0">
                <a:solidFill>
                  <a:schemeClr val="accent2"/>
                </a:solidFill>
                <a:latin typeface="Courier New" pitchFamily="34" charset="0"/>
                <a:ea typeface="Courier New" pitchFamily="34" charset="-122"/>
                <a:cs typeface="Courier New" pitchFamily="34" charset="-120"/>
              </a:rPr>
              <a:t>SCENARIO 4  ·  ALLOCATION</a:t>
            </a: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indent="0" marL="0">
              <a:buNone/>
            </a:pPr>
            <a:r>
              <a:rPr lang="en-US" sz="2800" b="1" dirty="0">
                <a:solidFill>
                  <a:schemeClr val="tx2"/>
                </a:solidFill>
              </a:rPr>
              <a:t>Capacity-checked room allocation</a:t>
            </a:r>
            <a:endParaRPr lang="en-US" sz="2800" dirty="0"/>
          </a:p>
        </p:txBody>
      </p:sp>
      <p:sp>
        <p:nvSpPr>
          <p:cNvPr id="5" name="frame-25-allocate-modal"/>
          <p:cNvSpPr/>
          <p:nvPr/>
        </p:nvSpPr>
        <p:spPr>
          <a:xfrm>
            <a:off x="420624" y="1152144"/>
            <a:ext cx="4050792" cy="2385155"/>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6" name="shot-25-allocate-modal" descr="25-allocate-modal">    </p:cNvPr>
          <p:cNvPicPr>
            <a:picLocks noChangeAspect="1"/>
          </p:cNvPicPr>
          <p:nvPr/>
        </p:nvPicPr>
        <p:blipFill>
          <a:blip r:embed="rId5"/>
          <a:stretch>
            <a:fillRect/>
          </a:stretch>
        </p:blipFill>
        <p:spPr>
          <a:xfrm>
            <a:off x="457200" y="1188720"/>
            <a:ext cx="3977640" cy="2312003"/>
          </a:xfrm>
          <a:prstGeom prst="rect">
            <a:avLst/>
          </a:prstGeom>
        </p:spPr>
      </p:pic>
      <p:sp>
        <p:nvSpPr>
          <p:cNvPr id="7" name="cap-25-allocate-modal"/>
          <p:cNvSpPr txBox="1"/>
          <p:nvPr/>
        </p:nvSpPr>
        <p:spPr>
          <a:xfrm>
            <a:off x="457200" y="3592163"/>
            <a:ext cx="3977640" cy="256032"/>
          </a:xfrm>
          <a:prstGeom prst="rect">
            <a:avLst/>
          </a:prstGeom>
          <a:noFill/>
          <a:ln/>
        </p:spPr>
        <p:txBody>
          <a:bodyPr wrap="square" lIns="0" tIns="0" rIns="0" bIns="0" rtlCol="0" anchor="ctr"/>
          <a:lstStyle/>
          <a:p>
            <a:pPr algn="ctr" indent="0" marL="0">
              <a:buNone/>
            </a:pPr>
            <a:r>
              <a:rPr lang="en-US" sz="1100" i="1" dirty="0">
                <a:solidFill>
                  <a:schemeClr val="accent6"/>
                </a:solidFill>
              </a:rPr>
              <a:t>Allocating a resident to a room with a free bed</a:t>
            </a:r>
            <a:endParaRPr lang="en-US" sz="1100" dirty="0"/>
          </a:p>
        </p:txBody>
      </p:sp>
      <p:sp>
        <p:nvSpPr>
          <p:cNvPr id="8" name="frame-26-room-allocated"/>
          <p:cNvSpPr/>
          <p:nvPr/>
        </p:nvSpPr>
        <p:spPr>
          <a:xfrm>
            <a:off x="4672584" y="1152144"/>
            <a:ext cx="4050791" cy="3133595"/>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9" name="shot-26-room-allocated" descr="26-room-allocated">    </p:cNvPr>
          <p:cNvPicPr>
            <a:picLocks noChangeAspect="1"/>
          </p:cNvPicPr>
          <p:nvPr/>
        </p:nvPicPr>
        <p:blipFill>
          <a:blip r:embed="rId1"/>
          <a:stretch>
            <a:fillRect/>
          </a:stretch>
        </p:blipFill>
        <p:spPr>
          <a:xfrm>
            <a:off x="4709160" y="1188720"/>
            <a:ext cx="3977639" cy="3060443"/>
          </a:xfrm>
          <a:prstGeom prst="rect">
            <a:avLst/>
          </a:prstGeom>
        </p:spPr>
      </p:pic>
      <p:sp>
        <p:nvSpPr>
          <p:cNvPr id="10" name="cap-26-room-allocated"/>
          <p:cNvSpPr txBox="1"/>
          <p:nvPr/>
        </p:nvSpPr>
        <p:spPr>
          <a:xfrm>
            <a:off x="4709159" y="4340603"/>
            <a:ext cx="3977640" cy="256032"/>
          </a:xfrm>
          <a:prstGeom prst="rect">
            <a:avLst/>
          </a:prstGeom>
          <a:noFill/>
          <a:ln/>
        </p:spPr>
        <p:txBody>
          <a:bodyPr wrap="square" lIns="0" tIns="0" rIns="0" bIns="0" rtlCol="0" anchor="ctr"/>
          <a:lstStyle/>
          <a:p>
            <a:pPr algn="ctr" indent="0" marL="0">
              <a:buNone/>
            </a:pPr>
            <a:r>
              <a:rPr lang="en-US" sz="1100" i="1" dirty="0">
                <a:solidFill>
                  <a:schemeClr val="accent6"/>
                </a:solidFill>
              </a:rPr>
              <a:t>Occupancy updates and persists</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dirty="0">
                <a:solidFill>
                  <a:schemeClr val="accent2"/>
                </a:solidFill>
                <a:latin typeface="Courier New" pitchFamily="34" charset="0"/>
                <a:ea typeface="Courier New" pitchFamily="34" charset="-122"/>
                <a:cs typeface="Courier New" pitchFamily="34" charset="-120"/>
              </a:rPr>
              <a:t>SCENARIO 5</a:t>
            </a: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indent="0" marL="0">
              <a:buNone/>
            </a:pPr>
            <a:r>
              <a:rPr lang="en-US" sz="2800" b="1" dirty="0">
                <a:solidFill>
                  <a:schemeClr val="tx2"/>
                </a:solidFill>
              </a:rPr>
              <a:t>Complaints triaged by severity</a:t>
            </a:r>
            <a:endParaRPr lang="en-US" sz="2800" dirty="0"/>
          </a:p>
        </p:txBody>
      </p:sp>
      <p:sp>
        <p:nvSpPr>
          <p:cNvPr id="5" name="frame-f-triage"/>
          <p:cNvSpPr/>
          <p:nvPr/>
        </p:nvSpPr>
        <p:spPr>
          <a:xfrm>
            <a:off x="1129175" y="1152144"/>
            <a:ext cx="2633689" cy="3200400"/>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txBody>
          <a:bodyPr/>
          <a:p/>
        </p:txBody>
      </p:sp>
      <p:pic>
        <p:nvPicPr>
          <p:cNvPr id="6" name="shot-f-triage" descr="f-triage">    </p:cNvPr>
          <p:cNvPicPr>
            <a:picLocks noChangeAspect="1"/>
          </p:cNvPicPr>
          <p:nvPr/>
        </p:nvPicPr>
        <p:blipFill>
          <a:blip r:embed="rId5"/>
          <a:stretch>
            <a:fillRect/>
          </a:stretch>
        </p:blipFill>
        <p:spPr>
          <a:xfrm>
            <a:off x="1165751" y="1188720"/>
            <a:ext cx="2560537" cy="3127248"/>
          </a:xfrm>
          <a:prstGeom prst="rect">
            <a:avLst/>
          </a:prstGeom>
        </p:spPr>
      </p:pic>
      <p:sp>
        <p:nvSpPr>
          <p:cNvPr id="7" name="cap-f-triage"/>
          <p:cNvSpPr txBox="1"/>
          <p:nvPr/>
        </p:nvSpPr>
        <p:spPr>
          <a:xfrm>
            <a:off x="457199" y="4407408"/>
            <a:ext cx="3977640" cy="256032"/>
          </a:xfrm>
          <a:prstGeom prst="rect">
            <a:avLst/>
          </a:prstGeom>
          <a:noFill/>
          <a:ln/>
        </p:spPr>
        <p:txBody>
          <a:bodyPr wrap="square" lIns="0" tIns="0" rIns="0" bIns="0" rtlCol="0" anchor="ctr"/>
          <a:lstStyle/>
          <a:p>
            <a:pPr algn="ctr" indent="0" marL="0">
              <a:buNone/>
            </a:pPr>
            <a:r>
              <a:rPr lang="en-US" sz="1100" i="1" dirty="0">
                <a:solidFill>
                  <a:schemeClr val="accent6"/>
                </a:solidFill>
              </a:rPr>
              <a:t>Washroom leak: Plumbing, high priority, 12 h SLA</a:t>
            </a:r>
            <a:endParaRPr lang="en-US" sz="1100" dirty="0"/>
          </a:p>
        </p:txBody>
      </p:sp>
      <p:sp>
        <p:nvSpPr>
          <p:cNvPr id="8" name="frame-f-complaint-ledger"/>
          <p:cNvSpPr/>
          <p:nvPr/>
        </p:nvSpPr>
        <p:spPr>
          <a:xfrm>
            <a:off x="5125082" y="1152144"/>
            <a:ext cx="3145797" cy="3200400"/>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txBody>
          <a:bodyPr/>
          <a:p/>
        </p:txBody>
      </p:sp>
      <p:pic>
        <p:nvPicPr>
          <p:cNvPr id="9" name="shot-f-complaint-ledger" descr="f-complaint-ledger">    </p:cNvPr>
          <p:cNvPicPr>
            <a:picLocks noChangeAspect="1"/>
          </p:cNvPicPr>
          <p:nvPr/>
        </p:nvPicPr>
        <p:blipFill>
          <a:blip r:embed="rId1"/>
          <a:stretch>
            <a:fillRect/>
          </a:stretch>
        </p:blipFill>
        <p:spPr>
          <a:xfrm>
            <a:off x="5161658" y="1188720"/>
            <a:ext cx="3072645" cy="3127248"/>
          </a:xfrm>
          <a:prstGeom prst="rect">
            <a:avLst/>
          </a:prstGeom>
        </p:spPr>
      </p:pic>
      <p:sp>
        <p:nvSpPr>
          <p:cNvPr id="10" name="cap-f-complaint-ledger"/>
          <p:cNvSpPr txBox="1"/>
          <p:nvPr/>
        </p:nvSpPr>
        <p:spPr>
          <a:xfrm>
            <a:off x="4709160" y="4407408"/>
            <a:ext cx="3977640" cy="256032"/>
          </a:xfrm>
          <a:prstGeom prst="rect">
            <a:avLst/>
          </a:prstGeom>
          <a:noFill/>
          <a:ln/>
        </p:spPr>
        <p:txBody>
          <a:bodyPr wrap="square" lIns="0" tIns="0" rIns="0" bIns="0" rtlCol="0" anchor="ctr"/>
          <a:lstStyle/>
          <a:p>
            <a:pPr algn="ctr" indent="0" marL="0">
              <a:buNone/>
            </a:pPr>
            <a:r>
              <a:rPr lang="en-US" sz="1100" i="1" dirty="0">
                <a:solidFill>
                  <a:schemeClr val="accent6"/>
                </a:solidFill>
              </a:rPr>
              <a:t>Seeded hazards escalated to critical, 2 h target</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dirty="0">
                <a:solidFill>
                  <a:schemeClr val="accent2"/>
                </a:solidFill>
                <a:latin typeface="Courier New" pitchFamily="34" charset="0"/>
                <a:ea typeface="Courier New" pitchFamily="34" charset="-122"/>
                <a:cs typeface="Courier New" pitchFamily="34" charset="-120"/>
              </a:rPr>
              <a:t>SCENARIO 6</a:t>
            </a: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indent="0" marL="0">
              <a:buNone/>
            </a:pPr>
            <a:r>
              <a:rPr lang="en-US" sz="2800" b="1" dirty="0">
                <a:solidFill>
                  <a:schemeClr val="tx2"/>
                </a:solidFill>
              </a:rPr>
              <a:t>Handbook assistant answers with citations</a:t>
            </a:r>
            <a:endParaRPr lang="en-US" sz="2800" dirty="0"/>
          </a:p>
        </p:txBody>
      </p:sp>
      <p:sp>
        <p:nvSpPr>
          <p:cNvPr id="5" name="step-dot-0"/>
          <p:cNvSpPr/>
          <p:nvPr/>
        </p:nvSpPr>
        <p:spPr>
          <a:xfrm>
            <a:off x="457200" y="1280160"/>
            <a:ext cx="384048" cy="384048"/>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45720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1</a:t>
            </a:r>
            <a:endParaRPr lang="en-US" sz="1400" dirty="0"/>
          </a:p>
        </p:txBody>
      </p:sp>
      <p:sp>
        <p:nvSpPr>
          <p:cNvPr id="7" name="step-0"/>
          <p:cNvSpPr txBox="1"/>
          <p:nvPr/>
        </p:nvSpPr>
        <p:spPr>
          <a:xfrm>
            <a:off x="987552" y="1243584"/>
            <a:ext cx="2852928" cy="1024128"/>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Retrieve</a:t>
            </a:r>
            <a:endParaRPr lang="en-US" sz="1500" dirty="0"/>
          </a:p>
          <a:p>
            <a:pPr indent="0" marL="0">
              <a:spcAft>
                <a:spcPts val="200"/>
              </a:spcAft>
              <a:buNone/>
            </a:pPr>
            <a:r>
              <a:rPr lang="en-US" sz="1400" dirty="0">
                <a:solidFill>
                  <a:schemeClr val="accent6"/>
                </a:solidFill>
              </a:rPr>
              <a:t>MiniLM embeddings over eight rulebooks</a:t>
            </a:r>
            <a:endParaRPr lang="en-US" sz="1500" dirty="0"/>
          </a:p>
        </p:txBody>
      </p:sp>
      <p:sp>
        <p:nvSpPr>
          <p:cNvPr id="8" name="step-dot-1"/>
          <p:cNvSpPr/>
          <p:nvPr/>
        </p:nvSpPr>
        <p:spPr>
          <a:xfrm>
            <a:off x="457200" y="2395728"/>
            <a:ext cx="384048" cy="384048"/>
          </a:xfrm>
          <a:prstGeom prst="ellipse">
            <a:avLst/>
          </a:prstGeom>
          <a:solidFill>
            <a:schemeClr val="accent1"/>
          </a:solidFill>
          <a:ln w="12700">
            <a:solidFill>
              <a:schemeClr val="accent1"/>
            </a:solidFill>
            <a:prstDash val="solid"/>
          </a:ln>
        </p:spPr>
      </p:sp>
      <p:sp>
        <p:nvSpPr>
          <p:cNvPr id="9" name="Text 6"/>
          <p:cNvSpPr txBox="1"/>
          <p:nvPr/>
        </p:nvSpPr>
        <p:spPr>
          <a:xfrm>
            <a:off x="457200" y="23957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2</a:t>
            </a:r>
            <a:endParaRPr lang="en-US" sz="1400" dirty="0"/>
          </a:p>
        </p:txBody>
      </p:sp>
      <p:sp>
        <p:nvSpPr>
          <p:cNvPr id="10" name="step-1"/>
          <p:cNvSpPr txBox="1"/>
          <p:nvPr/>
        </p:nvSpPr>
        <p:spPr>
          <a:xfrm>
            <a:off x="987552" y="2359152"/>
            <a:ext cx="2852928" cy="1024128"/>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Ground</a:t>
            </a:r>
            <a:endParaRPr lang="en-US" sz="1500" dirty="0"/>
          </a:p>
          <a:p>
            <a:pPr indent="0" marL="0">
              <a:spcAft>
                <a:spcPts val="200"/>
              </a:spcAft>
              <a:buNone/>
            </a:pPr>
            <a:r>
              <a:rPr lang="en-US" sz="1400" dirty="0">
                <a:solidFill>
                  <a:schemeClr val="accent6"/>
                </a:solidFill>
              </a:rPr>
              <a:t>LLM answers only from the retrieved text</a:t>
            </a:r>
            <a:endParaRPr lang="en-US" sz="1500" dirty="0"/>
          </a:p>
        </p:txBody>
      </p:sp>
      <p:sp>
        <p:nvSpPr>
          <p:cNvPr id="11" name="step-dot-2"/>
          <p:cNvSpPr/>
          <p:nvPr/>
        </p:nvSpPr>
        <p:spPr>
          <a:xfrm>
            <a:off x="457200" y="3511296"/>
            <a:ext cx="384048" cy="384048"/>
          </a:xfrm>
          <a:prstGeom prst="ellipse">
            <a:avLst/>
          </a:prstGeom>
          <a:solidFill>
            <a:schemeClr val="accent1"/>
          </a:solidFill>
          <a:ln w="12700">
            <a:solidFill>
              <a:schemeClr val="accent1"/>
            </a:solidFill>
            <a:prstDash val="solid"/>
          </a:ln>
        </p:spPr>
      </p:sp>
      <p:sp>
        <p:nvSpPr>
          <p:cNvPr id="12" name="Text 9"/>
          <p:cNvSpPr txBox="1"/>
          <p:nvPr/>
        </p:nvSpPr>
        <p:spPr>
          <a:xfrm>
            <a:off x="457200" y="35112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3</a:t>
            </a:r>
            <a:endParaRPr lang="en-US" sz="1400" dirty="0"/>
          </a:p>
        </p:txBody>
      </p:sp>
      <p:sp>
        <p:nvSpPr>
          <p:cNvPr id="13" name="step-2"/>
          <p:cNvSpPr txBox="1"/>
          <p:nvPr/>
        </p:nvSpPr>
        <p:spPr>
          <a:xfrm>
            <a:off x="987552" y="3474720"/>
            <a:ext cx="2852928" cy="1024128"/>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Cite and speak</a:t>
            </a:r>
            <a:endParaRPr lang="en-US" sz="1500" dirty="0"/>
          </a:p>
          <a:p>
            <a:pPr indent="0" marL="0">
              <a:spcAft>
                <a:spcPts val="200"/>
              </a:spcAft>
              <a:buNone/>
            </a:pPr>
            <a:r>
              <a:rPr lang="en-US" sz="1400" dirty="0">
                <a:solidFill>
                  <a:schemeClr val="accent6"/>
                </a:solidFill>
              </a:rPr>
              <a:t>Source files listed; Polly or browser voice</a:t>
            </a:r>
            <a:endParaRPr lang="en-US" sz="1500" dirty="0"/>
          </a:p>
        </p:txBody>
      </p:sp>
      <p:sp>
        <p:nvSpPr>
          <p:cNvPr id="14" name="frame-29-ai-assistant"/>
          <p:cNvSpPr/>
          <p:nvPr/>
        </p:nvSpPr>
        <p:spPr>
          <a:xfrm>
            <a:off x="3986784" y="1078992"/>
            <a:ext cx="4731838" cy="3657599"/>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15" name="shot-29-ai-assistant" descr="29-ai-assistant">    </p:cNvPr>
          <p:cNvPicPr>
            <a:picLocks noChangeAspect="1"/>
          </p:cNvPicPr>
          <p:nvPr/>
        </p:nvPicPr>
        <p:blipFill>
          <a:blip r:embed="rId4"/>
          <a:stretch>
            <a:fillRect/>
          </a:stretch>
        </p:blipFill>
        <p:spPr>
          <a:xfrm>
            <a:off x="4023360" y="1115568"/>
            <a:ext cx="4658686" cy="3584447"/>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dirty="0">
                <a:solidFill>
                  <a:schemeClr val="accent2"/>
                </a:solidFill>
                <a:latin typeface="Courier New" pitchFamily="34" charset="0"/>
                <a:ea typeface="Courier New" pitchFamily="34" charset="-122"/>
                <a:cs typeface="Courier New" pitchFamily="34" charset="-120"/>
              </a:rPr>
              <a:t>SCENARIO 7  ·  MESS MANAGER</a:t>
            </a: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indent="0" marL="0">
              <a:buNone/>
            </a:pPr>
            <a:r>
              <a:rPr lang="en-US" sz="2800" b="1" dirty="0">
                <a:solidFill>
                  <a:schemeClr val="tx2"/>
                </a:solidFill>
              </a:rPr>
              <a:t>Weekly menu published from Excel</a:t>
            </a:r>
            <a:endParaRPr lang="en-US" sz="2800" dirty="0"/>
          </a:p>
        </p:txBody>
      </p:sp>
      <p:sp>
        <p:nvSpPr>
          <p:cNvPr id="5" name="frame-30-mess-manager-upload"/>
          <p:cNvSpPr/>
          <p:nvPr/>
        </p:nvSpPr>
        <p:spPr>
          <a:xfrm>
            <a:off x="420624" y="1152144"/>
            <a:ext cx="4050791" cy="3133595"/>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6" name="shot-30-mess-manager-upload" descr="30-mess-manager-upload">    </p:cNvPr>
          <p:cNvPicPr>
            <a:picLocks noChangeAspect="1"/>
          </p:cNvPicPr>
          <p:nvPr/>
        </p:nvPicPr>
        <p:blipFill>
          <a:blip r:embed="rId5"/>
          <a:stretch>
            <a:fillRect/>
          </a:stretch>
        </p:blipFill>
        <p:spPr>
          <a:xfrm>
            <a:off x="457200" y="1188720"/>
            <a:ext cx="3977639" cy="3060443"/>
          </a:xfrm>
          <a:prstGeom prst="rect">
            <a:avLst/>
          </a:prstGeom>
        </p:spPr>
      </p:pic>
      <p:sp>
        <p:nvSpPr>
          <p:cNvPr id="7" name="cap-30-mess-manager-upload"/>
          <p:cNvSpPr txBox="1"/>
          <p:nvPr/>
        </p:nvSpPr>
        <p:spPr>
          <a:xfrm>
            <a:off x="457199" y="4340603"/>
            <a:ext cx="3977640" cy="256032"/>
          </a:xfrm>
          <a:prstGeom prst="rect">
            <a:avLst/>
          </a:prstGeom>
          <a:noFill/>
          <a:ln/>
        </p:spPr>
        <p:txBody>
          <a:bodyPr wrap="square" lIns="0" tIns="0" rIns="0" bIns="0" rtlCol="0" anchor="ctr"/>
          <a:lstStyle/>
          <a:p>
            <a:pPr algn="ctr" indent="0" marL="0">
              <a:buNone/>
            </a:pPr>
            <a:r>
              <a:rPr lang="en-US" sz="1100" i="1" dirty="0">
                <a:solidFill>
                  <a:schemeClr val="accent6"/>
                </a:solidFill>
              </a:rPr>
              <a:t>Upload and publish the weekly menu</a:t>
            </a:r>
            <a:endParaRPr lang="en-US" sz="1100" dirty="0"/>
          </a:p>
        </p:txBody>
      </p:sp>
      <p:sp>
        <p:nvSpPr>
          <p:cNvPr id="8" name="frame-31-student-weekly-menu"/>
          <p:cNvSpPr/>
          <p:nvPr/>
        </p:nvSpPr>
        <p:spPr>
          <a:xfrm>
            <a:off x="4672584" y="1152144"/>
            <a:ext cx="4050791" cy="3133595"/>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9" name="shot-31-student-weekly-menu" descr="31-student-weekly-menu">    </p:cNvPr>
          <p:cNvPicPr>
            <a:picLocks noChangeAspect="1"/>
          </p:cNvPicPr>
          <p:nvPr/>
        </p:nvPicPr>
        <p:blipFill>
          <a:blip r:embed="rId1"/>
          <a:stretch>
            <a:fillRect/>
          </a:stretch>
        </p:blipFill>
        <p:spPr>
          <a:xfrm>
            <a:off x="4709160" y="1188720"/>
            <a:ext cx="3977639" cy="3060443"/>
          </a:xfrm>
          <a:prstGeom prst="rect">
            <a:avLst/>
          </a:prstGeom>
        </p:spPr>
      </p:pic>
      <p:sp>
        <p:nvSpPr>
          <p:cNvPr id="10" name="cap-31-student-weekly-menu"/>
          <p:cNvSpPr txBox="1"/>
          <p:nvPr/>
        </p:nvSpPr>
        <p:spPr>
          <a:xfrm>
            <a:off x="4709159" y="4340603"/>
            <a:ext cx="3977640" cy="256032"/>
          </a:xfrm>
          <a:prstGeom prst="rect">
            <a:avLst/>
          </a:prstGeom>
          <a:noFill/>
          <a:ln/>
        </p:spPr>
        <p:txBody>
          <a:bodyPr wrap="square" lIns="0" tIns="0" rIns="0" bIns="0" rtlCol="0" anchor="ctr"/>
          <a:lstStyle/>
          <a:p>
            <a:pPr algn="ctr" indent="0" marL="0">
              <a:buNone/>
            </a:pPr>
            <a:r>
              <a:rPr lang="en-US" sz="1100" i="1" dirty="0">
                <a:solidFill>
                  <a:schemeClr val="accent6"/>
                </a:solidFill>
              </a:rPr>
              <a:t>Students see the published menu</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dirty="0">
                <a:solidFill>
                  <a:schemeClr val="accent2"/>
                </a:solidFill>
                <a:latin typeface="Courier New" pitchFamily="34" charset="0"/>
                <a:ea typeface="Courier New" pitchFamily="34" charset="-122"/>
                <a:cs typeface="Courier New" pitchFamily="34" charset="-120"/>
              </a:rPr>
              <a:t>SCENARIO 7  ·  FEEDBACK LOOP</a:t>
            </a: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indent="0" marL="0">
              <a:buNone/>
            </a:pPr>
            <a:r>
              <a:rPr lang="en-US" sz="2800" b="1" dirty="0">
                <a:solidFill>
                  <a:schemeClr val="tx2"/>
                </a:solidFill>
              </a:rPr>
              <a:t>Student ratings reach the kitchen</a:t>
            </a:r>
            <a:endParaRPr lang="en-US" sz="2800" dirty="0"/>
          </a:p>
        </p:txBody>
      </p:sp>
      <p:sp>
        <p:nvSpPr>
          <p:cNvPr id="5" name="frame-32-student-feedback-sent"/>
          <p:cNvSpPr/>
          <p:nvPr/>
        </p:nvSpPr>
        <p:spPr>
          <a:xfrm>
            <a:off x="420624" y="1152144"/>
            <a:ext cx="4050791" cy="3133595"/>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6" name="shot-32-student-feedback-sent" descr="32-student-feedback-sent">    </p:cNvPr>
          <p:cNvPicPr>
            <a:picLocks noChangeAspect="1"/>
          </p:cNvPicPr>
          <p:nvPr/>
        </p:nvPicPr>
        <p:blipFill>
          <a:blip r:embed="rId5"/>
          <a:stretch>
            <a:fillRect/>
          </a:stretch>
        </p:blipFill>
        <p:spPr>
          <a:xfrm>
            <a:off x="457200" y="1188720"/>
            <a:ext cx="3977639" cy="3060443"/>
          </a:xfrm>
          <a:prstGeom prst="rect">
            <a:avLst/>
          </a:prstGeom>
        </p:spPr>
      </p:pic>
      <p:sp>
        <p:nvSpPr>
          <p:cNvPr id="7" name="cap-32-student-feedback-sent"/>
          <p:cNvSpPr txBox="1"/>
          <p:nvPr/>
        </p:nvSpPr>
        <p:spPr>
          <a:xfrm>
            <a:off x="457199" y="4340603"/>
            <a:ext cx="3977640" cy="256032"/>
          </a:xfrm>
          <a:prstGeom prst="rect">
            <a:avLst/>
          </a:prstGeom>
          <a:noFill/>
          <a:ln/>
        </p:spPr>
        <p:txBody>
          <a:bodyPr wrap="square" lIns="0" tIns="0" rIns="0" bIns="0" rtlCol="0" anchor="ctr"/>
          <a:lstStyle/>
          <a:p>
            <a:pPr algn="ctr" indent="0" marL="0">
              <a:buNone/>
            </a:pPr>
            <a:r>
              <a:rPr lang="en-US" sz="1100" i="1" dirty="0">
                <a:solidFill>
                  <a:schemeClr val="accent6"/>
                </a:solidFill>
              </a:rPr>
              <a:t>Student rates dinner and suggests a change</a:t>
            </a:r>
            <a:endParaRPr lang="en-US" sz="1100" dirty="0"/>
          </a:p>
        </p:txBody>
      </p:sp>
      <p:sp>
        <p:nvSpPr>
          <p:cNvPr id="8" name="frame-33-manager-sees-feedback"/>
          <p:cNvSpPr/>
          <p:nvPr/>
        </p:nvSpPr>
        <p:spPr>
          <a:xfrm>
            <a:off x="4672584" y="1152144"/>
            <a:ext cx="4050791" cy="3133595"/>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9" name="shot-33-manager-sees-feedback" descr="33-manager-sees-feedback">    </p:cNvPr>
          <p:cNvPicPr>
            <a:picLocks noChangeAspect="1"/>
          </p:cNvPicPr>
          <p:nvPr/>
        </p:nvPicPr>
        <p:blipFill>
          <a:blip r:embed="rId1"/>
          <a:stretch>
            <a:fillRect/>
          </a:stretch>
        </p:blipFill>
        <p:spPr>
          <a:xfrm>
            <a:off x="4709160" y="1188720"/>
            <a:ext cx="3977639" cy="3060443"/>
          </a:xfrm>
          <a:prstGeom prst="rect">
            <a:avLst/>
          </a:prstGeom>
        </p:spPr>
      </p:pic>
      <p:sp>
        <p:nvSpPr>
          <p:cNvPr id="10" name="cap-33-manager-sees-feedback"/>
          <p:cNvSpPr txBox="1"/>
          <p:nvPr/>
        </p:nvSpPr>
        <p:spPr>
          <a:xfrm>
            <a:off x="4709159" y="4340603"/>
            <a:ext cx="3977640" cy="256032"/>
          </a:xfrm>
          <a:prstGeom prst="rect">
            <a:avLst/>
          </a:prstGeom>
          <a:noFill/>
          <a:ln/>
        </p:spPr>
        <p:txBody>
          <a:bodyPr wrap="square" lIns="0" tIns="0" rIns="0" bIns="0" rtlCol="0" anchor="ctr"/>
          <a:lstStyle/>
          <a:p>
            <a:pPr algn="ctr" indent="0" marL="0">
              <a:buNone/>
            </a:pPr>
            <a:r>
              <a:rPr lang="en-US" sz="1100" i="1" dirty="0">
                <a:solidFill>
                  <a:schemeClr val="accent6"/>
                </a:solidFill>
              </a:rPr>
              <a:t>The manager sees it in the feedback feed</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dirty="0">
                <a:solidFill>
                  <a:schemeClr val="accent2"/>
                </a:solidFill>
                <a:latin typeface="Courier New" pitchFamily="34" charset="0"/>
                <a:ea typeface="Courier New" pitchFamily="34" charset="-122"/>
                <a:cs typeface="Courier New" pitchFamily="34" charset="-120"/>
              </a:rPr>
              <a:t>SCENARIO 8</a:t>
            </a: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indent="0" marL="0">
              <a:buNone/>
            </a:pPr>
            <a:r>
              <a:rPr lang="en-US" sz="2800" b="1" dirty="0">
                <a:solidFill>
                  <a:schemeClr val="tx2"/>
                </a:solidFill>
              </a:rPr>
              <a:t>Anonymous grievances, accountable process</a:t>
            </a:r>
            <a:endParaRPr lang="en-US" sz="2800" dirty="0"/>
          </a:p>
        </p:txBody>
      </p:sp>
      <p:sp>
        <p:nvSpPr>
          <p:cNvPr id="5" name="frame-41-grievance-filed"/>
          <p:cNvSpPr/>
          <p:nvPr/>
        </p:nvSpPr>
        <p:spPr>
          <a:xfrm>
            <a:off x="420624" y="1152144"/>
            <a:ext cx="4050791" cy="3133595"/>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6" name="shot-41-grievance-filed" descr="41-grievance-filed">    </p:cNvPr>
          <p:cNvPicPr>
            <a:picLocks noChangeAspect="1"/>
          </p:cNvPicPr>
          <p:nvPr/>
        </p:nvPicPr>
        <p:blipFill>
          <a:blip r:embed="rId5"/>
          <a:stretch>
            <a:fillRect/>
          </a:stretch>
        </p:blipFill>
        <p:spPr>
          <a:xfrm>
            <a:off x="457200" y="1188720"/>
            <a:ext cx="3977639" cy="3060443"/>
          </a:xfrm>
          <a:prstGeom prst="rect">
            <a:avLst/>
          </a:prstGeom>
        </p:spPr>
      </p:pic>
      <p:sp>
        <p:nvSpPr>
          <p:cNvPr id="7" name="cap-41-grievance-filed"/>
          <p:cNvSpPr txBox="1"/>
          <p:nvPr/>
        </p:nvSpPr>
        <p:spPr>
          <a:xfrm>
            <a:off x="457199" y="4340603"/>
            <a:ext cx="3977640" cy="256032"/>
          </a:xfrm>
          <a:prstGeom prst="rect">
            <a:avLst/>
          </a:prstGeom>
          <a:noFill/>
          <a:ln/>
        </p:spPr>
        <p:txBody>
          <a:bodyPr wrap="square" lIns="0" tIns="0" rIns="0" bIns="0" rtlCol="0" anchor="ctr"/>
          <a:lstStyle/>
          <a:p>
            <a:pPr algn="ctr" indent="0" marL="0">
              <a:buNone/>
            </a:pPr>
            <a:r>
              <a:rPr lang="en-US" sz="1100" i="1" dirty="0">
                <a:solidFill>
                  <a:schemeClr val="accent6"/>
                </a:solidFill>
              </a:rPr>
              <a:t>Student files an anti-ragging ticket anonymously</a:t>
            </a:r>
            <a:endParaRPr lang="en-US" sz="1100" dirty="0"/>
          </a:p>
        </p:txBody>
      </p:sp>
      <p:sp>
        <p:nvSpPr>
          <p:cNvPr id="8" name="frame-f-grievance-admin"/>
          <p:cNvSpPr/>
          <p:nvPr/>
        </p:nvSpPr>
        <p:spPr>
          <a:xfrm>
            <a:off x="5068347" y="1152144"/>
            <a:ext cx="3259265" cy="2342747"/>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9" name="shot-f-grievance-admin" descr="f-grievance-admin">    </p:cNvPr>
          <p:cNvPicPr>
            <a:picLocks noChangeAspect="1"/>
          </p:cNvPicPr>
          <p:nvPr/>
        </p:nvPicPr>
        <p:blipFill>
          <a:blip r:embed="rId1"/>
          <a:stretch>
            <a:fillRect/>
          </a:stretch>
        </p:blipFill>
        <p:spPr>
          <a:xfrm>
            <a:off x="5104923" y="1188720"/>
            <a:ext cx="3186113" cy="2269595"/>
          </a:xfrm>
          <a:prstGeom prst="rect">
            <a:avLst/>
          </a:prstGeom>
        </p:spPr>
      </p:pic>
      <p:sp>
        <p:nvSpPr>
          <p:cNvPr id="10" name="cap-f-grievance-admin"/>
          <p:cNvSpPr txBox="1"/>
          <p:nvPr/>
        </p:nvSpPr>
        <p:spPr>
          <a:xfrm>
            <a:off x="4709159" y="3549755"/>
            <a:ext cx="3977640" cy="256032"/>
          </a:xfrm>
          <a:prstGeom prst="rect">
            <a:avLst/>
          </a:prstGeom>
          <a:noFill/>
          <a:ln/>
        </p:spPr>
        <p:txBody>
          <a:bodyPr wrap="square" lIns="0" tIns="0" rIns="0" bIns="0" rtlCol="0" anchor="ctr"/>
          <a:lstStyle/>
          <a:p>
            <a:pPr algn="ctr" indent="0" marL="0">
              <a:buNone/>
            </a:pPr>
            <a:r>
              <a:rPr lang="en-US" sz="1100" i="1" dirty="0">
                <a:solidFill>
                  <a:schemeClr val="accent6"/>
                </a:solidFill>
              </a:rPr>
              <a:t>Admins triage it without seeing the filer</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dirty="0">
                <a:solidFill>
                  <a:schemeClr val="accent2"/>
                </a:solidFill>
                <a:latin typeface="Courier New" pitchFamily="34" charset="0"/>
                <a:ea typeface="Courier New" pitchFamily="34" charset="-122"/>
                <a:cs typeface="Courier New" pitchFamily="34" charset="-120"/>
              </a:rPr>
              <a:t>SCENARIO 9</a:t>
            </a: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indent="0" marL="0">
              <a:buNone/>
            </a:pPr>
            <a:r>
              <a:rPr lang="en-US" sz="2800" b="1" dirty="0">
                <a:solidFill>
                  <a:schemeClr val="tx2"/>
                </a:solidFill>
              </a:rPr>
              <a:t>Facility bookings and work orders</a:t>
            </a:r>
            <a:endParaRPr lang="en-US" sz="2800" dirty="0"/>
          </a:p>
        </p:txBody>
      </p:sp>
      <p:sp>
        <p:nvSpPr>
          <p:cNvPr id="5" name="frame-f-bookings"/>
          <p:cNvSpPr/>
          <p:nvPr/>
        </p:nvSpPr>
        <p:spPr>
          <a:xfrm>
            <a:off x="567279" y="1152144"/>
            <a:ext cx="3757482" cy="1708664"/>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6" name="shot-f-bookings" descr="f-bookings">    </p:cNvPr>
          <p:cNvPicPr>
            <a:picLocks noChangeAspect="1"/>
          </p:cNvPicPr>
          <p:nvPr/>
        </p:nvPicPr>
        <p:blipFill>
          <a:blip r:embed="rId5"/>
          <a:stretch>
            <a:fillRect/>
          </a:stretch>
        </p:blipFill>
        <p:spPr>
          <a:xfrm>
            <a:off x="603855" y="1188720"/>
            <a:ext cx="3684330" cy="1635512"/>
          </a:xfrm>
          <a:prstGeom prst="rect">
            <a:avLst/>
          </a:prstGeom>
        </p:spPr>
      </p:pic>
      <p:sp>
        <p:nvSpPr>
          <p:cNvPr id="7" name="cap-f-bookings"/>
          <p:cNvSpPr txBox="1"/>
          <p:nvPr/>
        </p:nvSpPr>
        <p:spPr>
          <a:xfrm>
            <a:off x="457200" y="2915672"/>
            <a:ext cx="3977640" cy="256032"/>
          </a:xfrm>
          <a:prstGeom prst="rect">
            <a:avLst/>
          </a:prstGeom>
          <a:noFill/>
          <a:ln/>
        </p:spPr>
        <p:txBody>
          <a:bodyPr wrap="square" lIns="0" tIns="0" rIns="0" bIns="0" rtlCol="0" anchor="ctr"/>
          <a:lstStyle/>
          <a:p>
            <a:pPr algn="ctr" indent="0" marL="0">
              <a:buNone/>
            </a:pPr>
            <a:r>
              <a:rPr lang="en-US" sz="1100" i="1" dirty="0">
                <a:solidFill>
                  <a:schemeClr val="accent6"/>
                </a:solidFill>
              </a:rPr>
              <a:t>Admin approves or rejects venue bookings</a:t>
            </a:r>
            <a:endParaRPr lang="en-US" sz="1100" dirty="0"/>
          </a:p>
        </p:txBody>
      </p:sp>
      <p:sp>
        <p:nvSpPr>
          <p:cNvPr id="8" name="frame-44-maintenance-admin"/>
          <p:cNvSpPr/>
          <p:nvPr/>
        </p:nvSpPr>
        <p:spPr>
          <a:xfrm>
            <a:off x="4672584" y="1152144"/>
            <a:ext cx="4050791" cy="3133595"/>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9" name="shot-44-maintenance-admin" descr="44-maintenance-admin">    </p:cNvPr>
          <p:cNvPicPr>
            <a:picLocks noChangeAspect="1"/>
          </p:cNvPicPr>
          <p:nvPr/>
        </p:nvPicPr>
        <p:blipFill>
          <a:blip r:embed="rId1"/>
          <a:stretch>
            <a:fillRect/>
          </a:stretch>
        </p:blipFill>
        <p:spPr>
          <a:xfrm>
            <a:off x="4709160" y="1188720"/>
            <a:ext cx="3977639" cy="3060443"/>
          </a:xfrm>
          <a:prstGeom prst="rect">
            <a:avLst/>
          </a:prstGeom>
        </p:spPr>
      </p:pic>
      <p:sp>
        <p:nvSpPr>
          <p:cNvPr id="10" name="cap-44-maintenance-admin"/>
          <p:cNvSpPr txBox="1"/>
          <p:nvPr/>
        </p:nvSpPr>
        <p:spPr>
          <a:xfrm>
            <a:off x="4709159" y="4340603"/>
            <a:ext cx="3977640" cy="256032"/>
          </a:xfrm>
          <a:prstGeom prst="rect">
            <a:avLst/>
          </a:prstGeom>
          <a:noFill/>
          <a:ln/>
        </p:spPr>
        <p:txBody>
          <a:bodyPr wrap="square" lIns="0" tIns="0" rIns="0" bIns="0" rtlCol="0" anchor="ctr"/>
          <a:lstStyle/>
          <a:p>
            <a:pPr algn="ctr" indent="0" marL="0">
              <a:buNone/>
            </a:pPr>
            <a:r>
              <a:rPr lang="en-US" sz="1100" i="1" dirty="0">
                <a:solidFill>
                  <a:schemeClr val="accent6"/>
                </a:solidFill>
              </a:rPr>
              <a:t>Work orders move from pending to completed</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dirty="0">
                <a:solidFill>
                  <a:schemeClr val="accent2"/>
                </a:solidFill>
                <a:latin typeface="Courier New" pitchFamily="34" charset="0"/>
                <a:ea typeface="Courier New" pitchFamily="34" charset="-122"/>
                <a:cs typeface="Courier New" pitchFamily="34" charset="-120"/>
              </a:rPr>
              <a:t>SCENARIO 10</a:t>
            </a: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indent="0" marL="0">
              <a:buNone/>
            </a:pPr>
            <a:r>
              <a:rPr lang="en-US" sz="2800" b="1" dirty="0">
                <a:solidFill>
                  <a:schemeClr val="tx2"/>
                </a:solidFill>
              </a:rPr>
              <a:t>Gate security with a tamper-evident ledger</a:t>
            </a:r>
            <a:endParaRPr lang="en-US" sz="2800" dirty="0"/>
          </a:p>
        </p:txBody>
      </p:sp>
      <p:sp>
        <p:nvSpPr>
          <p:cNvPr id="5" name="frame-45-biometric-gate"/>
          <p:cNvSpPr/>
          <p:nvPr/>
        </p:nvSpPr>
        <p:spPr>
          <a:xfrm>
            <a:off x="420624" y="1152144"/>
            <a:ext cx="4050791" cy="3133595"/>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6" name="shot-45-biometric-gate" descr="45-biometric-gate">    </p:cNvPr>
          <p:cNvPicPr>
            <a:picLocks noChangeAspect="1"/>
          </p:cNvPicPr>
          <p:nvPr/>
        </p:nvPicPr>
        <p:blipFill>
          <a:blip r:embed="rId5"/>
          <a:stretch>
            <a:fillRect/>
          </a:stretch>
        </p:blipFill>
        <p:spPr>
          <a:xfrm>
            <a:off x="457200" y="1188720"/>
            <a:ext cx="3977639" cy="3060443"/>
          </a:xfrm>
          <a:prstGeom prst="rect">
            <a:avLst/>
          </a:prstGeom>
        </p:spPr>
      </p:pic>
      <p:sp>
        <p:nvSpPr>
          <p:cNvPr id="7" name="cap-45-biometric-gate"/>
          <p:cNvSpPr txBox="1"/>
          <p:nvPr/>
        </p:nvSpPr>
        <p:spPr>
          <a:xfrm>
            <a:off x="457199" y="4340603"/>
            <a:ext cx="3977640" cy="256032"/>
          </a:xfrm>
          <a:prstGeom prst="rect">
            <a:avLst/>
          </a:prstGeom>
          <a:noFill/>
          <a:ln/>
        </p:spPr>
        <p:txBody>
          <a:bodyPr wrap="square" lIns="0" tIns="0" rIns="0" bIns="0" rtlCol="0" anchor="ctr"/>
          <a:lstStyle/>
          <a:p>
            <a:pPr algn="ctr" indent="0" marL="0">
              <a:buNone/>
            </a:pPr>
            <a:r>
              <a:rPr lang="en-US" sz="1100" i="1" dirty="0">
                <a:solidFill>
                  <a:schemeClr val="accent6"/>
                </a:solidFill>
              </a:rPr>
              <a:t>Resident verified at gate SOC-G1</a:t>
            </a:r>
            <a:endParaRPr lang="en-US" sz="1100" dirty="0"/>
          </a:p>
        </p:txBody>
      </p:sp>
      <p:sp>
        <p:nvSpPr>
          <p:cNvPr id="8" name="frame-f-gate-ledger"/>
          <p:cNvSpPr/>
          <p:nvPr/>
        </p:nvSpPr>
        <p:spPr>
          <a:xfrm>
            <a:off x="5569406" y="1152144"/>
            <a:ext cx="2257147" cy="2682484"/>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9" name="shot-f-gate-ledger" descr="f-gate-ledger">    </p:cNvPr>
          <p:cNvPicPr>
            <a:picLocks noChangeAspect="1"/>
          </p:cNvPicPr>
          <p:nvPr/>
        </p:nvPicPr>
        <p:blipFill>
          <a:blip r:embed="rId1"/>
          <a:stretch>
            <a:fillRect/>
          </a:stretch>
        </p:blipFill>
        <p:spPr>
          <a:xfrm>
            <a:off x="5605982" y="1188720"/>
            <a:ext cx="2183995" cy="2609332"/>
          </a:xfrm>
          <a:prstGeom prst="rect">
            <a:avLst/>
          </a:prstGeom>
        </p:spPr>
      </p:pic>
      <p:sp>
        <p:nvSpPr>
          <p:cNvPr id="10" name="cap-f-gate-ledger"/>
          <p:cNvSpPr txBox="1"/>
          <p:nvPr/>
        </p:nvSpPr>
        <p:spPr>
          <a:xfrm>
            <a:off x="4709159" y="3889492"/>
            <a:ext cx="3977640" cy="256032"/>
          </a:xfrm>
          <a:prstGeom prst="rect">
            <a:avLst/>
          </a:prstGeom>
          <a:noFill/>
          <a:ln/>
        </p:spPr>
        <p:txBody>
          <a:bodyPr wrap="square" lIns="0" tIns="0" rIns="0" bIns="0" rtlCol="0" anchor="ctr"/>
          <a:lstStyle/>
          <a:p>
            <a:pPr algn="ctr" indent="0" marL="0">
              <a:buNone/>
            </a:pPr>
            <a:r>
              <a:rPr lang="en-US" sz="1100" i="1" dirty="0">
                <a:solidFill>
                  <a:schemeClr val="accent6"/>
                </a:solidFill>
              </a:rPr>
              <a:t>Hash chain verified on every read</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22</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dirty="0">
                <a:solidFill>
                  <a:schemeClr val="accent2"/>
                </a:solidFill>
                <a:latin typeface="Courier New" pitchFamily="34" charset="0"/>
                <a:ea typeface="Courier New" pitchFamily="34" charset="-122"/>
                <a:cs typeface="Courier New" pitchFamily="34" charset="-120"/>
              </a:rPr>
              <a:t>OPERATIONS</a:t>
            </a: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indent="0" marL="0">
              <a:buNone/>
            </a:pPr>
            <a:r>
              <a:rPr lang="en-US" sz="2800" b="1" dirty="0">
                <a:solidFill>
                  <a:schemeClr val="tx2"/>
                </a:solidFill>
              </a:rPr>
              <a:t>AWS hub: live or mock, always observable</a:t>
            </a:r>
            <a:endParaRPr lang="en-US" sz="2800" dirty="0"/>
          </a:p>
        </p:txBody>
      </p:sp>
      <p:sp>
        <p:nvSpPr>
          <p:cNvPr id="5" name="frame-48-aws-hub"/>
          <p:cNvSpPr/>
          <p:nvPr/>
        </p:nvSpPr>
        <p:spPr>
          <a:xfrm>
            <a:off x="420624" y="1152144"/>
            <a:ext cx="4050791" cy="3133595"/>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6" name="shot-48-aws-hub" descr="48-aws-hub">    </p:cNvPr>
          <p:cNvPicPr>
            <a:picLocks noChangeAspect="1"/>
          </p:cNvPicPr>
          <p:nvPr/>
        </p:nvPicPr>
        <p:blipFill>
          <a:blip r:embed="rId5"/>
          <a:stretch>
            <a:fillRect/>
          </a:stretch>
        </p:blipFill>
        <p:spPr>
          <a:xfrm>
            <a:off x="457200" y="1188720"/>
            <a:ext cx="3977639" cy="3060443"/>
          </a:xfrm>
          <a:prstGeom prst="rect">
            <a:avLst/>
          </a:prstGeom>
        </p:spPr>
      </p:pic>
      <p:sp>
        <p:nvSpPr>
          <p:cNvPr id="7" name="cap-48-aws-hub"/>
          <p:cNvSpPr txBox="1"/>
          <p:nvPr/>
        </p:nvSpPr>
        <p:spPr>
          <a:xfrm>
            <a:off x="457199" y="4340603"/>
            <a:ext cx="3977640" cy="256032"/>
          </a:xfrm>
          <a:prstGeom prst="rect">
            <a:avLst/>
          </a:prstGeom>
          <a:noFill/>
          <a:ln/>
        </p:spPr>
        <p:txBody>
          <a:bodyPr wrap="square" lIns="0" tIns="0" rIns="0" bIns="0" rtlCol="0" anchor="ctr"/>
          <a:lstStyle/>
          <a:p>
            <a:pPr algn="ctr" indent="0" marL="0">
              <a:buNone/>
            </a:pPr>
            <a:r>
              <a:rPr lang="en-US" sz="1100" i="1" dirty="0">
                <a:solidFill>
                  <a:schemeClr val="accent6"/>
                </a:solidFill>
              </a:rPr>
              <a:t>Service status and test console</a:t>
            </a:r>
            <a:endParaRPr lang="en-US" sz="1100" dirty="0"/>
          </a:p>
        </p:txBody>
      </p:sp>
      <p:sp>
        <p:nvSpPr>
          <p:cNvPr id="8" name="frame-f-aws-logs"/>
          <p:cNvSpPr/>
          <p:nvPr/>
        </p:nvSpPr>
        <p:spPr>
          <a:xfrm>
            <a:off x="4822253" y="1152144"/>
            <a:ext cx="3751453" cy="1673567"/>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9" name="shot-f-aws-logs" descr="f-aws-logs">    </p:cNvPr>
          <p:cNvPicPr>
            <a:picLocks noChangeAspect="1"/>
          </p:cNvPicPr>
          <p:nvPr/>
        </p:nvPicPr>
        <p:blipFill>
          <a:blip r:embed="rId1"/>
          <a:stretch>
            <a:fillRect/>
          </a:stretch>
        </p:blipFill>
        <p:spPr>
          <a:xfrm>
            <a:off x="4858829" y="1188720"/>
            <a:ext cx="3678301" cy="1600415"/>
          </a:xfrm>
          <a:prstGeom prst="rect">
            <a:avLst/>
          </a:prstGeom>
        </p:spPr>
      </p:pic>
      <p:sp>
        <p:nvSpPr>
          <p:cNvPr id="10" name="cap-f-aws-logs"/>
          <p:cNvSpPr txBox="1"/>
          <p:nvPr/>
        </p:nvSpPr>
        <p:spPr>
          <a:xfrm>
            <a:off x="4709159" y="2880575"/>
            <a:ext cx="3977640" cy="256032"/>
          </a:xfrm>
          <a:prstGeom prst="rect">
            <a:avLst/>
          </a:prstGeom>
          <a:noFill/>
          <a:ln/>
        </p:spPr>
        <p:txBody>
          <a:bodyPr wrap="square" lIns="0" tIns="0" rIns="0" bIns="0" rtlCol="0" anchor="ctr"/>
          <a:lstStyle/>
          <a:p>
            <a:pPr algn="ctr" indent="0" marL="0">
              <a:buNone/>
            </a:pPr>
            <a:r>
              <a:rPr lang="en-US" sz="1100" i="1" dirty="0">
                <a:solidFill>
                  <a:schemeClr val="accent6"/>
                </a:solidFill>
              </a:rPr>
              <a:t>Every write, email and upload in the log feed</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8046720" cy="320040"/>
          </a:xfrm>
          <a:prstGeom prst="rect">
            <a:avLst/>
          </a:prstGeom>
          <a:noFill/>
          <a:ln/>
        </p:spPr>
        <p:txBody>
          <a:bodyPr wrap="square" lIns="0" tIns="0" rIns="0" bIns="0" rtlCol="0"/>
          <a:lstStyle/>
          <a:p>
            <a:pPr indent="0" marL="0">
              <a:buNone/>
            </a:pPr>
            <a:r>
              <a:rPr lang="en-US" sz="1200" b="1" dirty="0">
                <a:solidFill>
                  <a:schemeClr val="accent3"/>
                </a:solidFill>
                <a:latin typeface="Courier New" pitchFamily="34" charset="0"/>
                <a:ea typeface="Courier New" pitchFamily="34" charset="-122"/>
                <a:cs typeface="Courier New" pitchFamily="34" charset="-120"/>
              </a:rPr>
              <a:t>PRODUCTION READINESS</a:t>
            </a:r>
            <a:endParaRPr lang="en-US" sz="1200" dirty="0"/>
          </a:p>
        </p:txBody>
      </p:sp>
      <p:sp>
        <p:nvSpPr>
          <p:cNvPr id="3" name="Text 0"/>
          <p:cNvSpPr/>
          <p:nvPr>
            <p:ph idx="101" type="title" hasCustomPrompt="1"/>
          </p:nvPr>
        </p:nvSpPr>
        <p:spPr>
          <a:xfrm>
            <a:off x="548640" y="1783080"/>
            <a:ext cx="8046720" cy="914400"/>
          </a:xfrm>
          <a:prstGeom prst="rect">
            <a:avLst/>
          </a:prstGeom>
          <a:noFill/>
          <a:ln/>
        </p:spPr>
        <p:txBody>
          <a:bodyPr wrap="square" lIns="0" tIns="0" rIns="0" bIns="0" rtlCol="0" anchor="t"/>
          <a:lstStyle/>
          <a:p>
            <a:pPr indent="0" marL="0">
              <a:buNone/>
            </a:pPr>
            <a:r>
              <a:rPr lang="en-US" sz="4000" b="1" dirty="0">
                <a:solidFill>
                  <a:schemeClr val="bg1"/>
                </a:solidFill>
              </a:rPr>
              <a:t>From prototype to deployable</a:t>
            </a:r>
            <a:endParaRPr lang="en-US" sz="4000" dirty="0"/>
          </a:p>
        </p:txBody>
      </p:sp>
      <p:sp>
        <p:nvSpPr>
          <p:cNvPr id="4" name="Text 0"/>
          <p:cNvSpPr/>
          <p:nvPr>
            <p:ph idx="102" type="body" hasCustomPrompt="1"/>
          </p:nvPr>
        </p:nvSpPr>
        <p:spPr>
          <a:xfrm>
            <a:off x="548640" y="2788920"/>
            <a:ext cx="6949440" cy="1097280"/>
          </a:xfrm>
          <a:prstGeom prst="rect">
            <a:avLst/>
          </a:prstGeom>
          <a:noFill/>
          <a:ln/>
        </p:spPr>
        <p:txBody>
          <a:bodyPr wrap="square" lIns="0" tIns="0" rIns="0" bIns="0" rtlCol="0" anchor="t"/>
          <a:lstStyle/>
          <a:p>
            <a:pPr indent="0" marL="0">
              <a:buNone/>
            </a:pPr>
            <a:r>
              <a:rPr lang="en-US" sz="1600" dirty="0">
                <a:solidFill>
                  <a:schemeClr val="bg2"/>
                </a:solidFill>
              </a:rPr>
              <a:t>What changed under the hood to make Demeure safe to run for a real campus.</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F8F6F2"/>
                </a:solidFill>
                <a:latin typeface="Courier New"/>
                <a:ea typeface="Courier New"/>
                <a:cs typeface="Courier New"/>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dirty="0">
                <a:solidFill>
                  <a:schemeClr val="accent2"/>
                </a:solidFill>
                <a:latin typeface="Courier New" pitchFamily="34" charset="0"/>
                <a:ea typeface="Courier New" pitchFamily="34" charset="-122"/>
                <a:cs typeface="Courier New" pitchFamily="34" charset="-120"/>
              </a:rPr>
              <a:t>HARDENING</a:t>
            </a: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indent="0" marL="0">
              <a:buNone/>
            </a:pPr>
            <a:r>
              <a:rPr lang="en-US" sz="2800" b="1" dirty="0">
                <a:solidFill>
                  <a:schemeClr val="tx2"/>
                </a:solidFill>
              </a:rPr>
              <a:t>Built to be operated, not just demoed</a:t>
            </a:r>
            <a:endParaRPr lang="en-US" sz="2800" dirty="0"/>
          </a:p>
        </p:txBody>
      </p:sp>
      <p:sp>
        <p:nvSpPr>
          <p:cNvPr id="5" name="tile-Real authentication"/>
          <p:cNvSpPr/>
          <p:nvPr/>
        </p:nvSpPr>
        <p:spPr>
          <a:xfrm>
            <a:off x="457200" y="1188720"/>
            <a:ext cx="1920240" cy="1600200"/>
          </a:xfrm>
          <a:prstGeom prst="rect">
            <a:avLst/>
          </a:prstGeom>
          <a:solidFill>
            <a:schemeClr val="bg2"/>
          </a:solidFill>
          <a:ln w="12700">
            <a:solidFill>
              <a:schemeClr val="bg2"/>
            </a:solidFill>
            <a:prstDash val="solid"/>
          </a:ln>
        </p:spPr>
        <p:txBody>
          <a:bodyPr/>
          <a:p/>
        </p:txBody>
      </p:sp>
      <p:pic>
        <p:nvPicPr>
          <p:cNvPr id="6" name="Image 0" descr="Real authentication">    </p:cNvPr>
          <p:cNvPicPr>
            <a:picLocks noChangeAspect="1"/>
          </p:cNvPicPr>
          <p:nvPr/>
        </p:nvPicPr>
        <p:blipFill>
          <a:blip r:embed="rId1"/>
          <a:stretch>
            <a:fillRect/>
          </a:stretch>
        </p:blipFill>
        <p:spPr>
          <a:xfrm>
            <a:off x="658368" y="1371600"/>
            <a:ext cx="329184" cy="329184"/>
          </a:xfrm>
          <a:prstGeom prst="rect">
            <a:avLst/>
          </a:prstGeom>
        </p:spPr>
      </p:pic>
      <p:sp>
        <p:nvSpPr>
          <p:cNvPr id="7" name="Text 3"/>
          <p:cNvSpPr txBox="1"/>
          <p:nvPr/>
        </p:nvSpPr>
        <p:spPr>
          <a:xfrm>
            <a:off x="658368" y="1755648"/>
            <a:ext cx="1572768" cy="969264"/>
          </a:xfrm>
          <a:prstGeom prst="rect">
            <a:avLst/>
          </a:prstGeom>
          <a:noFill/>
          <a:ln/>
        </p:spPr>
        <p:txBody>
          <a:bodyPr wrap="square" lIns="0" tIns="0" rIns="0" bIns="0" rtlCol="0" anchor="t"/>
          <a:lstStyle/>
          <a:p>
            <a:pPr indent="0" marL="0">
              <a:buNone/>
            </a:pPr>
            <a:r>
              <a:rPr lang="en-US" sz="1400" b="1" dirty="0">
                <a:solidFill>
                  <a:schemeClr val="tx1"/>
                </a:solidFill>
              </a:rPr>
              <a:t>Real authentication</a:t>
            </a:r>
            <a:endParaRPr lang="en-US" sz="1400" dirty="0"/>
          </a:p>
          <a:p>
            <a:pPr indent="0" marL="0">
              <a:buNone/>
            </a:pPr>
            <a:r>
              <a:rPr lang="en-US" sz="1200" dirty="0">
                <a:solidFill>
                  <a:schemeClr val="accent6"/>
                </a:solidFill>
              </a:rPr>
              <a:t>Hashed secrets, signed sessions, throttling</a:t>
            </a:r>
            <a:endParaRPr lang="en-US" sz="1400" dirty="0"/>
          </a:p>
        </p:txBody>
      </p:sp>
      <p:sp>
        <p:nvSpPr>
          <p:cNvPr id="8" name="tile-Role guards"/>
          <p:cNvSpPr/>
          <p:nvPr/>
        </p:nvSpPr>
        <p:spPr>
          <a:xfrm>
            <a:off x="2560320" y="1188720"/>
            <a:ext cx="1920240" cy="1600200"/>
          </a:xfrm>
          <a:prstGeom prst="rect">
            <a:avLst/>
          </a:prstGeom>
          <a:solidFill>
            <a:schemeClr val="bg2"/>
          </a:solidFill>
          <a:ln w="12700">
            <a:solidFill>
              <a:schemeClr val="bg2"/>
            </a:solidFill>
            <a:prstDash val="solid"/>
          </a:ln>
        </p:spPr>
        <p:txBody>
          <a:bodyPr/>
          <a:p/>
        </p:txBody>
      </p:sp>
      <p:pic>
        <p:nvPicPr>
          <p:cNvPr id="9" name="Image 1" descr="Role guards">    </p:cNvPr>
          <p:cNvPicPr>
            <a:picLocks noChangeAspect="1"/>
          </p:cNvPicPr>
          <p:nvPr/>
        </p:nvPicPr>
        <p:blipFill>
          <a:blip r:embed="rId2"/>
          <a:stretch>
            <a:fillRect/>
          </a:stretch>
        </p:blipFill>
        <p:spPr>
          <a:xfrm>
            <a:off x="2761488" y="1371600"/>
            <a:ext cx="329184" cy="329184"/>
          </a:xfrm>
          <a:prstGeom prst="rect">
            <a:avLst/>
          </a:prstGeom>
        </p:spPr>
      </p:pic>
      <p:sp>
        <p:nvSpPr>
          <p:cNvPr id="10" name="Text 5"/>
          <p:cNvSpPr txBox="1"/>
          <p:nvPr/>
        </p:nvSpPr>
        <p:spPr>
          <a:xfrm>
            <a:off x="2761488" y="1755648"/>
            <a:ext cx="1572768" cy="969264"/>
          </a:xfrm>
          <a:prstGeom prst="rect">
            <a:avLst/>
          </a:prstGeom>
          <a:noFill/>
          <a:ln/>
        </p:spPr>
        <p:txBody>
          <a:bodyPr wrap="square" lIns="0" tIns="0" rIns="0" bIns="0" rtlCol="0" anchor="t"/>
          <a:lstStyle/>
          <a:p>
            <a:pPr indent="0" marL="0">
              <a:buNone/>
            </a:pPr>
            <a:r>
              <a:rPr lang="en-US" sz="1400" b="1" dirty="0">
                <a:solidFill>
                  <a:schemeClr val="tx1"/>
                </a:solidFill>
              </a:rPr>
              <a:t>Role guards</a:t>
            </a:r>
            <a:endParaRPr lang="en-US" sz="1400" dirty="0"/>
          </a:p>
          <a:p>
            <a:pPr indent="0" marL="0">
              <a:buNone/>
            </a:pPr>
            <a:r>
              <a:rPr lang="en-US" sz="1200" dirty="0">
                <a:solidFill>
                  <a:schemeClr val="accent6"/>
                </a:solidFill>
              </a:rPr>
              <a:t>Every endpoint checks the caller's role and ownership</a:t>
            </a:r>
            <a:endParaRPr lang="en-US" sz="1400" dirty="0"/>
          </a:p>
        </p:txBody>
      </p:sp>
      <p:sp>
        <p:nvSpPr>
          <p:cNvPr id="11" name="tile-Durable storage"/>
          <p:cNvSpPr/>
          <p:nvPr/>
        </p:nvSpPr>
        <p:spPr>
          <a:xfrm>
            <a:off x="4663440" y="1188720"/>
            <a:ext cx="1920240" cy="1600200"/>
          </a:xfrm>
          <a:prstGeom prst="rect">
            <a:avLst/>
          </a:prstGeom>
          <a:solidFill>
            <a:schemeClr val="bg2"/>
          </a:solidFill>
          <a:ln w="12700">
            <a:solidFill>
              <a:schemeClr val="bg2"/>
            </a:solidFill>
            <a:prstDash val="solid"/>
          </a:ln>
        </p:spPr>
        <p:txBody>
          <a:bodyPr/>
          <a:p/>
        </p:txBody>
      </p:sp>
      <p:pic>
        <p:nvPicPr>
          <p:cNvPr id="12" name="Image 2" descr="Durable storage">    </p:cNvPr>
          <p:cNvPicPr>
            <a:picLocks noChangeAspect="1"/>
          </p:cNvPicPr>
          <p:nvPr/>
        </p:nvPicPr>
        <p:blipFill>
          <a:blip r:embed="rId3"/>
          <a:stretch>
            <a:fillRect/>
          </a:stretch>
        </p:blipFill>
        <p:spPr>
          <a:xfrm>
            <a:off x="4864608" y="1371600"/>
            <a:ext cx="329184" cy="329184"/>
          </a:xfrm>
          <a:prstGeom prst="rect">
            <a:avLst/>
          </a:prstGeom>
        </p:spPr>
      </p:pic>
      <p:sp>
        <p:nvSpPr>
          <p:cNvPr id="13" name="Text 7"/>
          <p:cNvSpPr txBox="1"/>
          <p:nvPr/>
        </p:nvSpPr>
        <p:spPr>
          <a:xfrm>
            <a:off x="4864608" y="1755648"/>
            <a:ext cx="1572768" cy="969264"/>
          </a:xfrm>
          <a:prstGeom prst="rect">
            <a:avLst/>
          </a:prstGeom>
          <a:noFill/>
          <a:ln/>
        </p:spPr>
        <p:txBody>
          <a:bodyPr wrap="square" lIns="0" tIns="0" rIns="0" bIns="0" rtlCol="0" anchor="t"/>
          <a:lstStyle/>
          <a:p>
            <a:pPr indent="0" marL="0">
              <a:buNone/>
            </a:pPr>
            <a:r>
              <a:rPr lang="en-US" sz="1400" b="1" dirty="0">
                <a:solidFill>
                  <a:schemeClr val="tx1"/>
                </a:solidFill>
              </a:rPr>
              <a:t>Encrypted records</a:t>
            </a:r>
            <a:endParaRPr lang="en-US" sz="1400" dirty="0"/>
          </a:p>
          <a:p>
            <a:pPr indent="0" marL="0">
              <a:buNone/>
            </a:pPr>
            <a:r>
              <a:rPr lang="en-US" sz="1200" dirty="0">
                <a:solidFill>
                  <a:schemeClr val="accent6"/>
                </a:solidFill>
              </a:rPr>
              <a:t>AES-256-GCM personal fields; SQLite or DynamoDB</a:t>
            </a:r>
            <a:endParaRPr lang="en-US" sz="1400" dirty="0"/>
          </a:p>
        </p:txBody>
      </p:sp>
      <p:sp>
        <p:nvSpPr>
          <p:cNvPr id="14" name="tile-Private files"/>
          <p:cNvSpPr/>
          <p:nvPr/>
        </p:nvSpPr>
        <p:spPr>
          <a:xfrm>
            <a:off x="6766560" y="1188720"/>
            <a:ext cx="1920240" cy="1600200"/>
          </a:xfrm>
          <a:prstGeom prst="rect">
            <a:avLst/>
          </a:prstGeom>
          <a:solidFill>
            <a:schemeClr val="bg2"/>
          </a:solidFill>
          <a:ln w="12700">
            <a:solidFill>
              <a:schemeClr val="bg2"/>
            </a:solidFill>
            <a:prstDash val="solid"/>
          </a:ln>
        </p:spPr>
        <p:txBody>
          <a:bodyPr/>
          <a:p/>
        </p:txBody>
      </p:sp>
      <p:pic>
        <p:nvPicPr>
          <p:cNvPr id="15" name="Image 3" descr="Private files">    </p:cNvPr>
          <p:cNvPicPr>
            <a:picLocks noChangeAspect="1"/>
          </p:cNvPicPr>
          <p:nvPr/>
        </p:nvPicPr>
        <p:blipFill>
          <a:blip r:embed="rId4"/>
          <a:stretch>
            <a:fillRect/>
          </a:stretch>
        </p:blipFill>
        <p:spPr>
          <a:xfrm>
            <a:off x="6967728" y="1371600"/>
            <a:ext cx="329184" cy="329184"/>
          </a:xfrm>
          <a:prstGeom prst="rect">
            <a:avLst/>
          </a:prstGeom>
        </p:spPr>
      </p:pic>
      <p:sp>
        <p:nvSpPr>
          <p:cNvPr id="16" name="Text 9"/>
          <p:cNvSpPr txBox="1"/>
          <p:nvPr/>
        </p:nvSpPr>
        <p:spPr>
          <a:xfrm>
            <a:off x="6967728" y="1755648"/>
            <a:ext cx="1572768" cy="969264"/>
          </a:xfrm>
          <a:prstGeom prst="rect">
            <a:avLst/>
          </a:prstGeom>
          <a:noFill/>
          <a:ln/>
        </p:spPr>
        <p:txBody>
          <a:bodyPr wrap="square" lIns="0" tIns="0" rIns="0" bIns="0" rtlCol="0" anchor="t"/>
          <a:lstStyle/>
          <a:p>
            <a:pPr indent="0" marL="0">
              <a:buNone/>
            </a:pPr>
            <a:r>
              <a:rPr lang="en-US" sz="1400" b="1" dirty="0">
                <a:solidFill>
                  <a:schemeClr val="tx1"/>
                </a:solidFill>
              </a:rPr>
              <a:t>Private files</a:t>
            </a:r>
            <a:endParaRPr lang="en-US" sz="1400" dirty="0"/>
          </a:p>
          <a:p>
            <a:pPr indent="0" marL="0">
              <a:buNone/>
            </a:pPr>
            <a:r>
              <a:rPr lang="en-US" sz="1200" dirty="0">
                <a:solidFill>
                  <a:schemeClr val="accent6"/>
                </a:solidFill>
              </a:rPr>
              <a:t>Type, content and size checks; owner/staff access only</a:t>
            </a:r>
            <a:endParaRPr lang="en-US" sz="1400" dirty="0"/>
          </a:p>
        </p:txBody>
      </p:sp>
      <p:sp>
        <p:nvSpPr>
          <p:cNvPr id="17" name="tile-Secure headers"/>
          <p:cNvSpPr/>
          <p:nvPr/>
        </p:nvSpPr>
        <p:spPr>
          <a:xfrm>
            <a:off x="457200" y="2926080"/>
            <a:ext cx="1920240" cy="1600200"/>
          </a:xfrm>
          <a:prstGeom prst="rect">
            <a:avLst/>
          </a:prstGeom>
          <a:solidFill>
            <a:schemeClr val="bg2"/>
          </a:solidFill>
          <a:ln w="12700">
            <a:solidFill>
              <a:schemeClr val="bg2"/>
            </a:solidFill>
            <a:prstDash val="solid"/>
          </a:ln>
        </p:spPr>
        <p:txBody>
          <a:bodyPr/>
          <a:p/>
        </p:txBody>
      </p:sp>
      <p:pic>
        <p:nvPicPr>
          <p:cNvPr id="18" name="Image 4" descr="Secure headers">    </p:cNvPr>
          <p:cNvPicPr>
            <a:picLocks noChangeAspect="1"/>
          </p:cNvPicPr>
          <p:nvPr/>
        </p:nvPicPr>
        <p:blipFill>
          <a:blip r:embed="rId5"/>
          <a:stretch>
            <a:fillRect/>
          </a:stretch>
        </p:blipFill>
        <p:spPr>
          <a:xfrm>
            <a:off x="658368" y="3108960"/>
            <a:ext cx="329184" cy="329184"/>
          </a:xfrm>
          <a:prstGeom prst="rect">
            <a:avLst/>
          </a:prstGeom>
        </p:spPr>
      </p:pic>
      <p:sp>
        <p:nvSpPr>
          <p:cNvPr id="19" name="Text 11"/>
          <p:cNvSpPr txBox="1"/>
          <p:nvPr/>
        </p:nvSpPr>
        <p:spPr>
          <a:xfrm>
            <a:off x="658368" y="3493008"/>
            <a:ext cx="1572768" cy="969264"/>
          </a:xfrm>
          <a:prstGeom prst="rect">
            <a:avLst/>
          </a:prstGeom>
          <a:noFill/>
          <a:ln/>
        </p:spPr>
        <p:txBody>
          <a:bodyPr wrap="square" lIns="0" tIns="0" rIns="0" bIns="0" rtlCol="0" anchor="t"/>
          <a:lstStyle/>
          <a:p>
            <a:pPr indent="0" marL="0">
              <a:buNone/>
            </a:pPr>
            <a:r>
              <a:rPr lang="en-US" sz="1400" b="1" dirty="0">
                <a:solidFill>
                  <a:schemeClr val="tx1"/>
                </a:solidFill>
              </a:rPr>
              <a:t>Secure headers</a:t>
            </a:r>
            <a:endParaRPr lang="en-US" sz="1400" dirty="0"/>
          </a:p>
          <a:p>
            <a:pPr indent="0" marL="0">
              <a:buNone/>
            </a:pPr>
            <a:r>
              <a:rPr lang="en-US" sz="1200" dirty="0">
                <a:solidFill>
                  <a:schemeClr val="accent6"/>
                </a:solidFill>
              </a:rPr>
              <a:t>CSP, HSTS, frame-deny; docs hidden in production</a:t>
            </a:r>
            <a:endParaRPr lang="en-US" sz="1400" dirty="0"/>
          </a:p>
        </p:txBody>
      </p:sp>
      <p:sp>
        <p:nvSpPr>
          <p:cNvPr id="20" name="tile-Tested"/>
          <p:cNvSpPr/>
          <p:nvPr/>
        </p:nvSpPr>
        <p:spPr>
          <a:xfrm>
            <a:off x="2560320" y="2926080"/>
            <a:ext cx="1920240" cy="1600200"/>
          </a:xfrm>
          <a:prstGeom prst="rect">
            <a:avLst/>
          </a:prstGeom>
          <a:solidFill>
            <a:schemeClr val="bg2"/>
          </a:solidFill>
          <a:ln w="12700">
            <a:solidFill>
              <a:schemeClr val="bg2"/>
            </a:solidFill>
            <a:prstDash val="solid"/>
          </a:ln>
        </p:spPr>
        <p:txBody>
          <a:bodyPr/>
          <a:p/>
        </p:txBody>
      </p:sp>
      <p:pic>
        <p:nvPicPr>
          <p:cNvPr id="21" name="Image 5" descr="Tested">    </p:cNvPr>
          <p:cNvPicPr>
            <a:picLocks noChangeAspect="1"/>
          </p:cNvPicPr>
          <p:nvPr/>
        </p:nvPicPr>
        <p:blipFill>
          <a:blip r:embed="rId6"/>
          <a:stretch>
            <a:fillRect/>
          </a:stretch>
        </p:blipFill>
        <p:spPr>
          <a:xfrm>
            <a:off x="2761488" y="3108960"/>
            <a:ext cx="329184" cy="329184"/>
          </a:xfrm>
          <a:prstGeom prst="rect">
            <a:avLst/>
          </a:prstGeom>
        </p:spPr>
      </p:pic>
      <p:sp>
        <p:nvSpPr>
          <p:cNvPr id="22" name="Text 13"/>
          <p:cNvSpPr txBox="1"/>
          <p:nvPr/>
        </p:nvSpPr>
        <p:spPr>
          <a:xfrm>
            <a:off x="2761488" y="3493008"/>
            <a:ext cx="1572768" cy="969264"/>
          </a:xfrm>
          <a:prstGeom prst="rect">
            <a:avLst/>
          </a:prstGeom>
          <a:noFill/>
          <a:ln/>
        </p:spPr>
        <p:txBody>
          <a:bodyPr wrap="square" lIns="0" tIns="0" rIns="0" bIns="0" rtlCol="0" anchor="t"/>
          <a:lstStyle/>
          <a:p>
            <a:pPr indent="0" marL="0">
              <a:buNone/>
            </a:pPr>
            <a:r>
              <a:rPr lang="en-US" sz="1400" b="1" dirty="0">
                <a:solidFill>
                  <a:schemeClr val="tx1"/>
                </a:solidFill>
              </a:rPr>
              <a:t>Tested</a:t>
            </a:r>
            <a:endParaRPr lang="en-US" sz="1400" dirty="0"/>
          </a:p>
          <a:p>
            <a:pPr indent="0" marL="0">
              <a:buNone/>
            </a:pPr>
            <a:r>
              <a:rPr lang="en-US" sz="1200" dirty="0">
                <a:solidFill>
                  <a:schemeClr val="accent6"/>
                </a:solidFill>
              </a:rPr>
              <a:t>41 API tests, 57 browser checks, readability audit</a:t>
            </a:r>
            <a:endParaRPr lang="en-US" sz="1400" dirty="0"/>
          </a:p>
        </p:txBody>
      </p:sp>
      <p:sp>
        <p:nvSpPr>
          <p:cNvPr id="23" name="tile-CI pipeline"/>
          <p:cNvSpPr/>
          <p:nvPr/>
        </p:nvSpPr>
        <p:spPr>
          <a:xfrm>
            <a:off x="4663440" y="2926080"/>
            <a:ext cx="1920240" cy="1600200"/>
          </a:xfrm>
          <a:prstGeom prst="rect">
            <a:avLst/>
          </a:prstGeom>
          <a:solidFill>
            <a:schemeClr val="bg2"/>
          </a:solidFill>
          <a:ln w="12700">
            <a:solidFill>
              <a:schemeClr val="bg2"/>
            </a:solidFill>
            <a:prstDash val="solid"/>
          </a:ln>
        </p:spPr>
      </p:sp>
      <p:pic>
        <p:nvPicPr>
          <p:cNvPr id="24" name="Image 6" descr="CI pipeline">    </p:cNvPr>
          <p:cNvPicPr>
            <a:picLocks noChangeAspect="1"/>
          </p:cNvPicPr>
          <p:nvPr/>
        </p:nvPicPr>
        <p:blipFill>
          <a:blip r:embed="rId7"/>
          <a:stretch>
            <a:fillRect/>
          </a:stretch>
        </p:blipFill>
        <p:spPr>
          <a:xfrm>
            <a:off x="4864608" y="3108960"/>
            <a:ext cx="329184" cy="329184"/>
          </a:xfrm>
          <a:prstGeom prst="rect">
            <a:avLst/>
          </a:prstGeom>
        </p:spPr>
      </p:pic>
      <p:sp>
        <p:nvSpPr>
          <p:cNvPr id="25" name="Text 15"/>
          <p:cNvSpPr txBox="1"/>
          <p:nvPr/>
        </p:nvSpPr>
        <p:spPr>
          <a:xfrm>
            <a:off x="4864608" y="3493008"/>
            <a:ext cx="1572768" cy="969264"/>
          </a:xfrm>
          <a:prstGeom prst="rect">
            <a:avLst/>
          </a:prstGeom>
          <a:noFill/>
          <a:ln/>
        </p:spPr>
        <p:txBody>
          <a:bodyPr wrap="square" lIns="0" tIns="0" rIns="0" bIns="0" rtlCol="0" anchor="t"/>
          <a:lstStyle/>
          <a:p>
            <a:pPr indent="0" marL="0">
              <a:buNone/>
            </a:pPr>
            <a:r>
              <a:rPr lang="en-US" sz="1400" b="1" dirty="0">
                <a:solidFill>
                  <a:schemeClr val="tx1"/>
                </a:solidFill>
              </a:rPr>
              <a:t>CI pipeline</a:t>
            </a:r>
            <a:endParaRPr lang="en-US" sz="1400" dirty="0"/>
          </a:p>
          <a:p>
            <a:pPr indent="0" marL="0">
              <a:buNone/>
            </a:pPr>
            <a:r>
              <a:rPr lang="en-US" sz="1200" dirty="0">
                <a:solidFill>
                  <a:schemeClr val="accent6"/>
                </a:solidFill>
              </a:rPr>
              <a:t>Lint, build, audit and tests on every push</a:t>
            </a:r>
            <a:endParaRPr lang="en-US" sz="1400" dirty="0"/>
          </a:p>
        </p:txBody>
      </p:sp>
      <p:sp>
        <p:nvSpPr>
          <p:cNvPr id="26" name="tile-One-step deploy"/>
          <p:cNvSpPr/>
          <p:nvPr/>
        </p:nvSpPr>
        <p:spPr>
          <a:xfrm>
            <a:off x="6766560" y="2926080"/>
            <a:ext cx="1920240" cy="1600200"/>
          </a:xfrm>
          <a:prstGeom prst="rect">
            <a:avLst/>
          </a:prstGeom>
          <a:solidFill>
            <a:schemeClr val="bg2"/>
          </a:solidFill>
          <a:ln w="12700">
            <a:solidFill>
              <a:schemeClr val="bg2"/>
            </a:solidFill>
            <a:prstDash val="solid"/>
          </a:ln>
        </p:spPr>
      </p:sp>
      <p:pic>
        <p:nvPicPr>
          <p:cNvPr id="27" name="Image 7" descr="One-step deploy">    </p:cNvPr>
          <p:cNvPicPr>
            <a:picLocks noChangeAspect="1"/>
          </p:cNvPicPr>
          <p:nvPr/>
        </p:nvPicPr>
        <p:blipFill>
          <a:blip r:embed="rId8"/>
          <a:stretch>
            <a:fillRect/>
          </a:stretch>
        </p:blipFill>
        <p:spPr>
          <a:xfrm>
            <a:off x="6967728" y="3108960"/>
            <a:ext cx="329184" cy="329184"/>
          </a:xfrm>
          <a:prstGeom prst="rect">
            <a:avLst/>
          </a:prstGeom>
        </p:spPr>
      </p:pic>
      <p:sp>
        <p:nvSpPr>
          <p:cNvPr id="28" name="Text 17"/>
          <p:cNvSpPr txBox="1"/>
          <p:nvPr/>
        </p:nvSpPr>
        <p:spPr>
          <a:xfrm>
            <a:off x="6967728" y="3493008"/>
            <a:ext cx="1572768" cy="969264"/>
          </a:xfrm>
          <a:prstGeom prst="rect">
            <a:avLst/>
          </a:prstGeom>
          <a:noFill/>
          <a:ln/>
        </p:spPr>
        <p:txBody>
          <a:bodyPr wrap="square" lIns="0" tIns="0" rIns="0" bIns="0" rtlCol="0" anchor="t"/>
          <a:lstStyle/>
          <a:p>
            <a:pPr indent="0" marL="0">
              <a:buNone/>
            </a:pPr>
            <a:r>
              <a:rPr lang="en-US" sz="1400" b="1" dirty="0">
                <a:solidFill>
                  <a:schemeClr val="tx1"/>
                </a:solidFill>
              </a:rPr>
              <a:t>One-step deploy</a:t>
            </a:r>
            <a:endParaRPr lang="en-US" sz="1400" dirty="0"/>
          </a:p>
          <a:p>
            <a:pPr indent="0" marL="0">
              <a:buNone/>
            </a:pPr>
            <a:r>
              <a:rPr lang="en-US" sz="1200" dirty="0">
                <a:solidFill>
                  <a:schemeClr val="accent6"/>
                </a:solidFill>
              </a:rPr>
              <a:t>Single Docker image, health check, data volume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26</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56032"/>
          </a:xfrm>
          <a:prstGeom prst="rect">
            <a:avLst/>
          </a:prstGeom>
          <a:noFill/>
          <a:ln/>
        </p:spPr>
        <p:txBody>
          <a:bodyPr wrap="square" lIns="0" tIns="0" rIns="0" bIns="0" rtlCol="0"/>
          <a:lstStyle/>
          <a:p>
            <a:pPr indent="0" marL="0">
              <a:buNone/>
            </a:pPr>
            <a:r>
              <a:rPr lang="en-US" sz="1000" b="1" dirty="0">
                <a:solidFill>
                  <a:schemeClr val="accent2"/>
                </a:solidFill>
                <a:latin typeface="Courier New" pitchFamily="34" charset="0"/>
                <a:ea typeface="Courier New" pitchFamily="34" charset="-122"/>
                <a:cs typeface="Courier New" pitchFamily="34" charset="-120"/>
              </a:rPr>
              <a:t>NEXT STEPS</a:t>
            </a:r>
            <a:endParaRPr lang="en-US" sz="10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indent="0" marL="0">
              <a:buNone/>
            </a:pPr>
            <a:r>
              <a:rPr lang="en-US" sz="2800" b="1" dirty="0">
                <a:solidFill>
                  <a:schemeClr val="tx2"/>
                </a:solidFill>
              </a:rPr>
              <a:t>Where Demeure goes next</a:t>
            </a:r>
            <a:endParaRPr lang="en-US" sz="2800" dirty="0"/>
          </a:p>
        </p:txBody>
      </p:sp>
      <p:sp>
        <p:nvSpPr>
          <p:cNvPr id="5" name="card-Live payments"/>
          <p:cNvSpPr/>
          <p:nvPr/>
        </p:nvSpPr>
        <p:spPr>
          <a:xfrm>
            <a:off x="457200" y="1280160"/>
            <a:ext cx="1920240" cy="3017520"/>
          </a:xfrm>
          <a:prstGeom prst="rect">
            <a:avLst/>
          </a:prstGeom>
          <a:solidFill>
            <a:schemeClr val="bg2"/>
          </a:solidFill>
          <a:ln w="12700">
            <a:solidFill>
              <a:schemeClr val="bg2"/>
            </a:solidFill>
            <a:prstDash val="solid"/>
          </a:ln>
        </p:spPr>
      </p:sp>
      <p:sp>
        <p:nvSpPr>
          <p:cNvPr id="6" name="Shape 3"/>
          <p:cNvSpPr/>
          <p:nvPr/>
        </p:nvSpPr>
        <p:spPr>
          <a:xfrm>
            <a:off x="685800" y="1508760"/>
            <a:ext cx="512064" cy="512064"/>
          </a:xfrm>
          <a:prstGeom prst="ellipse">
            <a:avLst/>
          </a:prstGeom>
          <a:solidFill>
            <a:schemeClr val="bg1"/>
          </a:solidFill>
          <a:ln w="12700">
            <a:solidFill>
              <a:schemeClr val="bg1"/>
            </a:solidFill>
            <a:prstDash val="solid"/>
          </a:ln>
        </p:spPr>
      </p:sp>
      <p:pic>
        <p:nvPicPr>
          <p:cNvPr id="7" name="Image 0" descr="Live payments">    </p:cNvPr>
          <p:cNvPicPr>
            <a:picLocks noChangeAspect="1"/>
          </p:cNvPicPr>
          <p:nvPr/>
        </p:nvPicPr>
        <p:blipFill>
          <a:blip r:embed="rId1"/>
          <a:stretch>
            <a:fillRect/>
          </a:stretch>
        </p:blipFill>
        <p:spPr>
          <a:xfrm>
            <a:off x="795528" y="1618488"/>
            <a:ext cx="292608" cy="292608"/>
          </a:xfrm>
          <a:prstGeom prst="rect">
            <a:avLst/>
          </a:prstGeom>
        </p:spPr>
      </p:pic>
      <p:sp>
        <p:nvSpPr>
          <p:cNvPr id="8" name="Text 4"/>
          <p:cNvSpPr txBox="1"/>
          <p:nvPr/>
        </p:nvSpPr>
        <p:spPr>
          <a:xfrm>
            <a:off x="685800" y="2148840"/>
            <a:ext cx="1463040" cy="201168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Live payments</a:t>
            </a:r>
            <a:endParaRPr lang="en-US" sz="1500" dirty="0"/>
          </a:p>
          <a:p>
            <a:pPr indent="0" marL="0">
              <a:spcAft>
                <a:spcPts val="400"/>
              </a:spcAft>
              <a:buNone/>
            </a:pPr>
            <a:r>
              <a:rPr lang="en-US" sz="1400" dirty="0">
                <a:solidFill>
                  <a:schemeClr val="accent6"/>
                </a:solidFill>
              </a:rPr>
              <a:t>Razorpay or PayU UPI gateway in place of the simulated collection</a:t>
            </a:r>
            <a:endParaRPr lang="en-US" sz="1500" dirty="0"/>
          </a:p>
        </p:txBody>
      </p:sp>
      <p:sp>
        <p:nvSpPr>
          <p:cNvPr id="9" name="card-SIS integration"/>
          <p:cNvSpPr/>
          <p:nvPr/>
        </p:nvSpPr>
        <p:spPr>
          <a:xfrm>
            <a:off x="2560320" y="1280160"/>
            <a:ext cx="1920240" cy="3017520"/>
          </a:xfrm>
          <a:prstGeom prst="rect">
            <a:avLst/>
          </a:prstGeom>
          <a:solidFill>
            <a:schemeClr val="bg2"/>
          </a:solidFill>
          <a:ln w="12700">
            <a:solidFill>
              <a:schemeClr val="bg2"/>
            </a:solidFill>
            <a:prstDash val="solid"/>
          </a:ln>
        </p:spPr>
      </p:sp>
      <p:sp>
        <p:nvSpPr>
          <p:cNvPr id="10" name="Shape 6"/>
          <p:cNvSpPr/>
          <p:nvPr/>
        </p:nvSpPr>
        <p:spPr>
          <a:xfrm>
            <a:off x="2788920" y="1508760"/>
            <a:ext cx="512064" cy="512064"/>
          </a:xfrm>
          <a:prstGeom prst="ellipse">
            <a:avLst/>
          </a:prstGeom>
          <a:solidFill>
            <a:schemeClr val="bg1"/>
          </a:solidFill>
          <a:ln w="12700">
            <a:solidFill>
              <a:schemeClr val="bg1"/>
            </a:solidFill>
            <a:prstDash val="solid"/>
          </a:ln>
        </p:spPr>
      </p:sp>
      <p:pic>
        <p:nvPicPr>
          <p:cNvPr id="11" name="Image 1" descr="SIS integration">    </p:cNvPr>
          <p:cNvPicPr>
            <a:picLocks noChangeAspect="1"/>
          </p:cNvPicPr>
          <p:nvPr/>
        </p:nvPicPr>
        <p:blipFill>
          <a:blip r:embed="rId2"/>
          <a:stretch>
            <a:fillRect/>
          </a:stretch>
        </p:blipFill>
        <p:spPr>
          <a:xfrm>
            <a:off x="2898648" y="1618488"/>
            <a:ext cx="292608" cy="292608"/>
          </a:xfrm>
          <a:prstGeom prst="rect">
            <a:avLst/>
          </a:prstGeom>
        </p:spPr>
      </p:pic>
      <p:sp>
        <p:nvSpPr>
          <p:cNvPr id="12" name="Text 7"/>
          <p:cNvSpPr txBox="1"/>
          <p:nvPr/>
        </p:nvSpPr>
        <p:spPr>
          <a:xfrm>
            <a:off x="2788920" y="2148840"/>
            <a:ext cx="1463040" cy="201168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SIS integration</a:t>
            </a:r>
            <a:endParaRPr lang="en-US" sz="1500" dirty="0"/>
          </a:p>
          <a:p>
            <a:pPr indent="0" marL="0">
              <a:spcAft>
                <a:spcPts val="400"/>
              </a:spcAft>
              <a:buNone/>
            </a:pPr>
            <a:r>
              <a:rPr lang="en-US" sz="1400" dirty="0">
                <a:solidFill>
                  <a:schemeClr val="accent6"/>
                </a:solidFill>
              </a:rPr>
              <a:t>Real timetables, grades and library holdings</a:t>
            </a:r>
            <a:endParaRPr lang="en-US" sz="1500" dirty="0"/>
          </a:p>
        </p:txBody>
      </p:sp>
      <p:sp>
        <p:nvSpPr>
          <p:cNvPr id="13" name="card-Gate hardware"/>
          <p:cNvSpPr/>
          <p:nvPr/>
        </p:nvSpPr>
        <p:spPr>
          <a:xfrm>
            <a:off x="4663440" y="1280160"/>
            <a:ext cx="1920240" cy="3017520"/>
          </a:xfrm>
          <a:prstGeom prst="rect">
            <a:avLst/>
          </a:prstGeom>
          <a:solidFill>
            <a:schemeClr val="bg2"/>
          </a:solidFill>
          <a:ln w="12700">
            <a:solidFill>
              <a:schemeClr val="bg2"/>
            </a:solidFill>
            <a:prstDash val="solid"/>
          </a:ln>
        </p:spPr>
      </p:sp>
      <p:sp>
        <p:nvSpPr>
          <p:cNvPr id="14" name="Shape 9"/>
          <p:cNvSpPr/>
          <p:nvPr/>
        </p:nvSpPr>
        <p:spPr>
          <a:xfrm>
            <a:off x="4892040" y="1508760"/>
            <a:ext cx="512064" cy="512064"/>
          </a:xfrm>
          <a:prstGeom prst="ellipse">
            <a:avLst/>
          </a:prstGeom>
          <a:solidFill>
            <a:schemeClr val="bg1"/>
          </a:solidFill>
          <a:ln w="12700">
            <a:solidFill>
              <a:schemeClr val="bg1"/>
            </a:solidFill>
            <a:prstDash val="solid"/>
          </a:ln>
        </p:spPr>
      </p:sp>
      <p:pic>
        <p:nvPicPr>
          <p:cNvPr id="15" name="Image 2" descr="Gate hardware">    </p:cNvPr>
          <p:cNvPicPr>
            <a:picLocks noChangeAspect="1"/>
          </p:cNvPicPr>
          <p:nvPr/>
        </p:nvPicPr>
        <p:blipFill>
          <a:blip r:embed="rId3"/>
          <a:stretch>
            <a:fillRect/>
          </a:stretch>
        </p:blipFill>
        <p:spPr>
          <a:xfrm>
            <a:off x="5001768" y="1618488"/>
            <a:ext cx="292608" cy="292608"/>
          </a:xfrm>
          <a:prstGeom prst="rect">
            <a:avLst/>
          </a:prstGeom>
        </p:spPr>
      </p:pic>
      <p:sp>
        <p:nvSpPr>
          <p:cNvPr id="16" name="Text 10"/>
          <p:cNvSpPr txBox="1"/>
          <p:nvPr/>
        </p:nvSpPr>
        <p:spPr>
          <a:xfrm>
            <a:off x="4892040" y="2148840"/>
            <a:ext cx="1463040" cy="201168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Gate hardware</a:t>
            </a:r>
            <a:endParaRPr lang="en-US" sz="1500" dirty="0"/>
          </a:p>
          <a:p>
            <a:pPr indent="0" marL="0">
              <a:spcAft>
                <a:spcPts val="400"/>
              </a:spcAft>
              <a:buNone/>
            </a:pPr>
            <a:r>
              <a:rPr lang="en-US" sz="1400" dirty="0">
                <a:solidFill>
                  <a:schemeClr val="accent6"/>
                </a:solidFill>
              </a:rPr>
              <a:t>Connect real biometric scanners to the ledger API</a:t>
            </a:r>
            <a:endParaRPr lang="en-US" sz="1500" dirty="0"/>
          </a:p>
        </p:txBody>
      </p:sp>
      <p:sp>
        <p:nvSpPr>
          <p:cNvPr id="17" name="card-Campus SSO"/>
          <p:cNvSpPr/>
          <p:nvPr/>
        </p:nvSpPr>
        <p:spPr>
          <a:xfrm>
            <a:off x="6766560" y="1280160"/>
            <a:ext cx="1920240" cy="3017520"/>
          </a:xfrm>
          <a:prstGeom prst="rect">
            <a:avLst/>
          </a:prstGeom>
          <a:solidFill>
            <a:schemeClr val="bg2"/>
          </a:solidFill>
          <a:ln w="12700">
            <a:solidFill>
              <a:schemeClr val="bg2"/>
            </a:solidFill>
            <a:prstDash val="solid"/>
          </a:ln>
        </p:spPr>
      </p:sp>
      <p:sp>
        <p:nvSpPr>
          <p:cNvPr id="18" name="Shape 12"/>
          <p:cNvSpPr/>
          <p:nvPr/>
        </p:nvSpPr>
        <p:spPr>
          <a:xfrm>
            <a:off x="6995160" y="1508760"/>
            <a:ext cx="512064" cy="512064"/>
          </a:xfrm>
          <a:prstGeom prst="ellipse">
            <a:avLst/>
          </a:prstGeom>
          <a:solidFill>
            <a:schemeClr val="bg1"/>
          </a:solidFill>
          <a:ln w="12700">
            <a:solidFill>
              <a:schemeClr val="bg1"/>
            </a:solidFill>
            <a:prstDash val="solid"/>
          </a:ln>
        </p:spPr>
      </p:sp>
      <p:pic>
        <p:nvPicPr>
          <p:cNvPr id="19" name="Image 3" descr="Campus SSO">    </p:cNvPr>
          <p:cNvPicPr>
            <a:picLocks noChangeAspect="1"/>
          </p:cNvPicPr>
          <p:nvPr/>
        </p:nvPicPr>
        <p:blipFill>
          <a:blip r:embed="rId4"/>
          <a:stretch>
            <a:fillRect/>
          </a:stretch>
        </p:blipFill>
        <p:spPr>
          <a:xfrm>
            <a:off x="7104888" y="1618488"/>
            <a:ext cx="292608" cy="292608"/>
          </a:xfrm>
          <a:prstGeom prst="rect">
            <a:avLst/>
          </a:prstGeom>
        </p:spPr>
      </p:pic>
      <p:sp>
        <p:nvSpPr>
          <p:cNvPr id="20" name="Text 13"/>
          <p:cNvSpPr txBox="1"/>
          <p:nvPr/>
        </p:nvSpPr>
        <p:spPr>
          <a:xfrm>
            <a:off x="6995160" y="2148840"/>
            <a:ext cx="1463040" cy="201168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Campus SSO</a:t>
            </a:r>
            <a:endParaRPr lang="en-US" sz="1500" dirty="0"/>
          </a:p>
          <a:p>
            <a:pPr indent="0" marL="0">
              <a:spcAft>
                <a:spcPts val="400"/>
              </a:spcAft>
              <a:buNone/>
            </a:pPr>
            <a:r>
              <a:rPr lang="en-US" sz="1400" dirty="0">
                <a:solidFill>
                  <a:schemeClr val="accent6"/>
                </a:solidFill>
              </a:rPr>
              <a:t>Google Workspace or Azure AD sign-in for staff and students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457200" y="502920"/>
            <a:ext cx="4206240" cy="292608"/>
          </a:xfrm>
          <a:prstGeom prst="rect">
            <a:avLst/>
          </a:prstGeom>
          <a:noFill/>
          <a:ln/>
        </p:spPr>
        <p:txBody>
          <a:bodyPr wrap="square" lIns="0" tIns="0" rIns="0" bIns="0" rtlCol="0"/>
          <a:lstStyle/>
          <a:p>
            <a:pPr indent="0" marL="0">
              <a:buNone/>
            </a:pPr>
            <a:r>
              <a:rPr lang="en-US" sz="1100" b="1" dirty="0">
                <a:solidFill>
                  <a:schemeClr val="accent3"/>
                </a:solidFill>
                <a:latin typeface="Courier New" pitchFamily="34" charset="0"/>
                <a:ea typeface="Courier New" pitchFamily="34" charset="-122"/>
                <a:cs typeface="Courier New" pitchFamily="34" charset="-120"/>
              </a:rPr>
              <a:t>THANK YOU</a:t>
            </a:r>
            <a:endParaRPr lang="en-US" sz="1100" dirty="0"/>
          </a:p>
        </p:txBody>
      </p:sp>
      <p:sp>
        <p:nvSpPr>
          <p:cNvPr id="3" name="Text 0"/>
          <p:cNvSpPr/>
          <p:nvPr>
            <p:ph idx="101" type="title" hasCustomPrompt="1"/>
          </p:nvPr>
        </p:nvSpPr>
        <p:spPr>
          <a:xfrm>
            <a:off x="457200" y="914400"/>
            <a:ext cx="4206240" cy="1417320"/>
          </a:xfrm>
          <a:prstGeom prst="rect">
            <a:avLst/>
          </a:prstGeom>
          <a:noFill/>
          <a:ln/>
        </p:spPr>
        <p:txBody>
          <a:bodyPr wrap="square" lIns="0" tIns="0" rIns="0" bIns="0" rtlCol="0" anchor="t"/>
          <a:lstStyle/>
          <a:p>
            <a:pPr indent="0" marL="0">
              <a:buNone/>
            </a:pPr>
            <a:r>
              <a:rPr lang="en-US" sz="4800" b="1" dirty="0">
                <a:solidFill>
                  <a:schemeClr val="bg1"/>
                </a:solidFill>
              </a:rPr>
              <a:t>Demeure AI</a:t>
            </a:r>
            <a:endParaRPr lang="en-US" sz="4800" dirty="0"/>
          </a:p>
        </p:txBody>
      </p:sp>
      <p:sp>
        <p:nvSpPr>
          <p:cNvPr id="4" name="Text 0"/>
          <p:cNvSpPr/>
          <p:nvPr>
            <p:ph idx="102" type="body" hasCustomPrompt="1"/>
          </p:nvPr>
        </p:nvSpPr>
        <p:spPr>
          <a:xfrm>
            <a:off x="457200" y="2423160"/>
            <a:ext cx="3931920" cy="1188720"/>
          </a:xfrm>
          <a:prstGeom prst="rect">
            <a:avLst/>
          </a:prstGeom>
          <a:noFill/>
          <a:ln/>
        </p:spPr>
        <p:txBody>
          <a:bodyPr wrap="square" lIns="0" tIns="0" rIns="0" bIns="0" rtlCol="0" anchor="t"/>
          <a:lstStyle/>
          <a:p>
            <a:pPr indent="0" marL="0">
              <a:buNone/>
            </a:pPr>
            <a:r>
              <a:rPr lang="en-US" sz="1600" dirty="0">
                <a:solidFill>
                  <a:schemeClr val="bg2"/>
                </a:solidFill>
              </a:rPr>
              <a:t>Questions, and a live walkthrough of any scenario.</a:t>
            </a:r>
            <a:endParaRPr lang="en-US" sz="1600" dirty="0"/>
          </a:p>
        </p:txBody>
      </p:sp>
      <p:sp>
        <p:nvSpPr>
          <p:cNvPr id="5" name="Shape 3"/>
          <p:cNvSpPr/>
          <p:nvPr/>
        </p:nvSpPr>
        <p:spPr>
          <a:xfrm>
            <a:off x="4809744" y="969264"/>
            <a:ext cx="4005072" cy="2531758"/>
          </a:xfrm>
          <a:prstGeom prst="rect">
            <a:avLst/>
          </a:prstGeom>
          <a:solidFill>
            <a:schemeClr val="bg1"/>
          </a:solidFill>
          <a:ln w="12700">
            <a:solidFill>
              <a:schemeClr val="bg1"/>
            </a:solidFill>
            <a:prstDash val="solid"/>
          </a:ln>
          <a:effectLst>
            <a:outerShdw sx="100000" sy="100000" kx="0" ky="0" algn="bl" rotWithShape="0" blurRad="127000" dist="50800" dir="5400000">
              <a:srgbClr val="000000">
                <a:alpha val="35000"/>
              </a:srgbClr>
            </a:outerShdw>
          </a:effectLst>
        </p:spPr>
      </p:sp>
      <p:pic>
        <p:nvPicPr>
          <p:cNvPr id="6" name="Image 0" descr="Student services portal">    </p:cNvPr>
          <p:cNvPicPr>
            <a:picLocks noChangeAspect="1"/>
          </p:cNvPicPr>
          <p:nvPr/>
        </p:nvPicPr>
        <p:blipFill>
          <a:blip r:embed="rId4"/>
          <a:stretch>
            <a:fillRect/>
          </a:stretch>
        </p:blipFill>
        <p:spPr>
          <a:xfrm>
            <a:off x="4846320" y="1005840"/>
            <a:ext cx="3931920" cy="2458606"/>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SCENARIO 11  ·  RESIDENT RECORDS</a:t>
            </a:r>
          </a:p>
        </p:txBody>
      </p:sp>
      <p:sp>
        <p:nvSpPr>
          <p:cNvPr id="3" name="Title 2"/>
          <p:cNvSpPr>
            <a:spLocks noGrp="1"/>
          </p:cNvSpPr>
          <p:nvPr>
            <p:ph type="title" idx="101"/>
          </p:nvPr>
        </p:nvSpPr>
        <p:spPr/>
        <p:txBody>
          <a:bodyPr/>
          <a:lstStyle/>
          <a:p>
            <a:r>
              <a:t>100 residents, personal data encrypted</a:t>
            </a:r>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22</a:t>
            </a:fld>
            <a:endParaRPr lang="en-US"/>
          </a:p>
        </p:txBody>
      </p:sp>
      <p:sp>
        <p:nvSpPr>
          <p:cNvPr id="5" name="frame-n-directory"/>
          <p:cNvSpPr/>
          <p:nvPr/>
        </p:nvSpPr>
        <p:spPr>
          <a:xfrm>
            <a:off x="420624" y="1152144"/>
            <a:ext cx="4279392" cy="3309482"/>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26" name="shot-n-directory" descr="Directory with a decrypted profile (audited)"/>
          <p:cNvPicPr>
            <a:picLocks noChangeAspect="1"/>
          </p:cNvPicPr>
          <p:nvPr/>
        </p:nvPicPr>
        <p:blipFill>
          <a:blip r:embed="rId3"/>
          <a:stretch>
            <a:fillRect/>
          </a:stretch>
        </p:blipFill>
        <p:spPr>
          <a:xfrm>
            <a:off x="457200" y="1188720"/>
            <a:ext cx="4206240" cy="3236330"/>
          </a:xfrm>
          <a:prstGeom prst="rect">
            <a:avLst/>
          </a:prstGeom>
        </p:spPr>
      </p:pic>
      <p:sp>
        <p:nvSpPr>
          <p:cNvPr id="7" name="cap-n-directory"/>
          <p:cNvSpPr txBox="1"/>
          <p:nvPr/>
        </p:nvSpPr>
        <p:spPr>
          <a:xfrm>
            <a:off x="457200" y="4498202"/>
            <a:ext cx="4206240" cy="256032"/>
          </a:xfrm>
          <a:prstGeom prst="rect">
            <a:avLst/>
          </a:prstGeom>
          <a:noFill/>
          <a:ln/>
        </p:spPr>
        <p:txBody>
          <a:bodyPr wrap="square" lIns="0" tIns="0" rIns="0" bIns="0" rtlCol="0" anchor="ctr"/>
          <a:lstStyle/>
          <a:p>
            <a:pPr algn="ctr" indent="0" marL="0">
              <a:buNone/>
            </a:pPr>
            <a:r>
              <a:rPr lang="en-US" sz="1100" i="1" dirty="0">
                <a:solidFill>
                  <a:schemeClr val="accent6"/>
                </a:solidFill>
              </a:rPr>
              <a:t>Directory with a decrypted profile (audited)</a:t>
            </a:r>
            <a:endParaRPr lang="en-US" sz="1100" dirty="0"/>
          </a:p>
        </p:txBody>
      </p:sp>
      <p:sp>
        <p:nvSpPr>
          <p:cNvPr id="5" name="frame-n-stored-record"/>
          <p:cNvSpPr/>
          <p:nvPr/>
        </p:nvSpPr>
        <p:spPr>
          <a:xfrm>
            <a:off x="4854213" y="1152144"/>
            <a:ext cx="1355813" cy="3319272"/>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27" name="shot-n-stored-record" descr="As stored"/>
          <p:cNvPicPr>
            <a:picLocks noChangeAspect="1"/>
          </p:cNvPicPr>
          <p:nvPr/>
        </p:nvPicPr>
        <p:blipFill>
          <a:blip r:embed="rId4"/>
          <a:stretch>
            <a:fillRect/>
          </a:stretch>
        </p:blipFill>
        <p:spPr>
          <a:xfrm>
            <a:off x="4890789" y="1188720"/>
            <a:ext cx="1282661" cy="3246120"/>
          </a:xfrm>
          <a:prstGeom prst="rect">
            <a:avLst/>
          </a:prstGeom>
        </p:spPr>
      </p:pic>
      <p:sp>
        <p:nvSpPr>
          <p:cNvPr id="7" name="cap-n-stored-record"/>
          <p:cNvSpPr txBox="1"/>
          <p:nvPr/>
        </p:nvSpPr>
        <p:spPr>
          <a:xfrm>
            <a:off x="4434839" y="4507992"/>
            <a:ext cx="2194560" cy="256032"/>
          </a:xfrm>
          <a:prstGeom prst="rect">
            <a:avLst/>
          </a:prstGeom>
          <a:noFill/>
          <a:ln/>
        </p:spPr>
        <p:txBody>
          <a:bodyPr wrap="square" lIns="0" tIns="0" rIns="0" bIns="0" rtlCol="0" anchor="ctr"/>
          <a:lstStyle/>
          <a:p>
            <a:pPr algn="ctr" indent="0" marL="0">
              <a:buNone/>
            </a:pPr>
            <a:r>
              <a:rPr lang="en-US" sz="1100" i="1" dirty="0">
                <a:solidFill>
                  <a:schemeClr val="accent6"/>
                </a:solidFill>
              </a:rPr>
              <a:t>As stored</a:t>
            </a:r>
            <a:endParaRPr lang="en-US" sz="1100" dirty="0"/>
          </a:p>
        </p:txBody>
      </p:sp>
      <p:sp>
        <p:nvSpPr>
          <p:cNvPr id="6" name="Text 3"/>
          <p:cNvSpPr txBox="1"/>
          <p:nvPr/>
        </p:nvSpPr>
        <p:spPr>
          <a:xfrm>
            <a:off x="6446520" y="12344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1</a:t>
            </a:r>
            <a:endParaRPr lang="en-US" sz="1400" dirty="0"/>
          </a:p>
        </p:txBody>
      </p:sp>
      <p:sp>
        <p:nvSpPr>
          <p:cNvPr id="7" name="step-0"/>
          <p:cNvSpPr txBox="1"/>
          <p:nvPr/>
        </p:nvSpPr>
        <p:spPr>
          <a:xfrm>
            <a:off x="6949440" y="1234440"/>
            <a:ext cx="1783080" cy="64008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Encrypted at rest</a:t>
            </a:r>
            <a:endParaRPr lang="en-US" sz="1500" dirty="0"/>
          </a:p>
          <a:p>
            <a:pPr indent="0" marL="0">
              <a:spcAft>
                <a:spcPts val="200"/>
              </a:spcAft>
              <a:buNone/>
            </a:pPr>
            <a:r>
              <a:rPr lang="en-US" sz="1400" dirty="0">
                <a:solidFill>
                  <a:schemeClr val="accent6"/>
                </a:solidFill>
              </a:rPr>
              <a:t>9 personal fields per record, AES-256-GCM</a:t>
            </a:r>
            <a:endParaRPr lang="en-US" sz="1500" dirty="0"/>
          </a:p>
        </p:txBody>
      </p:sp>
      <p:sp>
        <p:nvSpPr>
          <p:cNvPr id="6" name="Text 3"/>
          <p:cNvSpPr txBox="1"/>
          <p:nvPr/>
        </p:nvSpPr>
        <p:spPr>
          <a:xfrm>
            <a:off x="6446520" y="2286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2</a:t>
            </a:r>
            <a:endParaRPr lang="en-US" sz="1400" dirty="0"/>
          </a:p>
        </p:txBody>
      </p:sp>
      <p:sp>
        <p:nvSpPr>
          <p:cNvPr id="7" name="step-0"/>
          <p:cNvSpPr txBox="1"/>
          <p:nvPr/>
        </p:nvSpPr>
        <p:spPr>
          <a:xfrm>
            <a:off x="6949440" y="2286000"/>
            <a:ext cx="1783080" cy="64008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Bound to the record</a:t>
            </a:r>
            <a:endParaRPr lang="en-US" sz="1500" dirty="0"/>
          </a:p>
          <a:p>
            <a:pPr indent="0" marL="0">
              <a:spcAft>
                <a:spcPts val="200"/>
              </a:spcAft>
              <a:buNone/>
            </a:pPr>
            <a:r>
              <a:rPr lang="en-US" sz="1400" dirty="0">
                <a:solidFill>
                  <a:schemeClr val="accent6"/>
                </a:solidFill>
              </a:rPr>
              <a:t>Ciphertext moved to another record fails</a:t>
            </a:r>
            <a:endParaRPr lang="en-US" sz="1500" dirty="0"/>
          </a:p>
        </p:txBody>
      </p:sp>
      <p:sp>
        <p:nvSpPr>
          <p:cNvPr id="6" name="Text 3"/>
          <p:cNvSpPr txBox="1"/>
          <p:nvPr/>
        </p:nvSpPr>
        <p:spPr>
          <a:xfrm>
            <a:off x="6446520" y="33375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3</a:t>
            </a:r>
            <a:endParaRPr lang="en-US" sz="1400" dirty="0"/>
          </a:p>
        </p:txBody>
      </p:sp>
      <p:sp>
        <p:nvSpPr>
          <p:cNvPr id="7" name="step-0"/>
          <p:cNvSpPr txBox="1"/>
          <p:nvPr/>
        </p:nvSpPr>
        <p:spPr>
          <a:xfrm>
            <a:off x="6949440" y="3337560"/>
            <a:ext cx="1783080" cy="64008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Masked and audited</a:t>
            </a:r>
            <a:endParaRPr lang="en-US" sz="1500" dirty="0"/>
          </a:p>
          <a:p>
            <a:pPr indent="0" marL="0">
              <a:spcAft>
                <a:spcPts val="200"/>
              </a:spcAft>
              <a:buNone/>
            </a:pPr>
            <a:r>
              <a:rPr lang="en-US" sz="1400" dirty="0">
                <a:solidFill>
                  <a:schemeClr val="accent6"/>
                </a:solidFill>
              </a:rPr>
              <a:t>Full view logged; codes stored as hashes</a:t>
            </a:r>
            <a:endParaRPr lang="en-US" sz="150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SCENARIO 12  ·  ONBOARDING</a:t>
            </a:r>
          </a:p>
        </p:txBody>
      </p:sp>
      <p:sp>
        <p:nvSpPr>
          <p:cNvPr id="3" name="Title 2"/>
          <p:cNvSpPr>
            <a:spLocks noGrp="1"/>
          </p:cNvSpPr>
          <p:nvPr>
            <p:ph type="title" idx="101"/>
          </p:nvPr>
        </p:nvSpPr>
        <p:spPr/>
        <p:txBody>
          <a:bodyPr/>
          <a:lstStyle/>
          <a:p>
            <a:r>
              <a:t>Register one resident or import a whole batch</a:t>
            </a:r>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4B5563"/>
                </a:solidFill>
                <a:latin typeface="Courier New"/>
                <a:ea typeface="Courier New"/>
                <a:cs typeface="Courier New"/>
              </a:defRPr>
            </a:lvl1pPr>
          </a:lstStyle>
          <a:p>
            <a:pPr algn="r"/>
            <a:fld id="{F7021451-1387-4CA6-816F-3879F97B5CBC}" type="slidenum">
              <a:rPr b="0" lang="en-US"/>
              <a:t>22</a:t>
            </a:fld>
            <a:endParaRPr lang="en-US"/>
          </a:p>
        </p:txBody>
      </p:sp>
      <p:sp>
        <p:nvSpPr>
          <p:cNvPr id="5" name="frame-n-add-resident"/>
          <p:cNvSpPr/>
          <p:nvPr/>
        </p:nvSpPr>
        <p:spPr>
          <a:xfrm>
            <a:off x="492839" y="1152144"/>
            <a:ext cx="2031841" cy="3319272"/>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26" name="shot-n-add-resident" descr="Validated registration form"/>
          <p:cNvPicPr>
            <a:picLocks noChangeAspect="1"/>
          </p:cNvPicPr>
          <p:nvPr/>
        </p:nvPicPr>
        <p:blipFill>
          <a:blip r:embed="rId3"/>
          <a:stretch>
            <a:fillRect/>
          </a:stretch>
        </p:blipFill>
        <p:spPr>
          <a:xfrm>
            <a:off x="529415" y="1188720"/>
            <a:ext cx="1958689" cy="3246120"/>
          </a:xfrm>
          <a:prstGeom prst="rect">
            <a:avLst/>
          </a:prstGeom>
        </p:spPr>
      </p:pic>
      <p:sp>
        <p:nvSpPr>
          <p:cNvPr id="7" name="cap-n-add-resident"/>
          <p:cNvSpPr txBox="1"/>
          <p:nvPr/>
        </p:nvSpPr>
        <p:spPr>
          <a:xfrm>
            <a:off x="411479" y="4507992"/>
            <a:ext cx="2194560" cy="256032"/>
          </a:xfrm>
          <a:prstGeom prst="rect">
            <a:avLst/>
          </a:prstGeom>
          <a:noFill/>
          <a:ln/>
        </p:spPr>
        <p:txBody>
          <a:bodyPr wrap="square" lIns="0" tIns="0" rIns="0" bIns="0" rtlCol="0" anchor="ctr"/>
          <a:lstStyle/>
          <a:p>
            <a:pPr algn="ctr" indent="0" marL="0">
              <a:buNone/>
            </a:pPr>
            <a:r>
              <a:rPr lang="en-US" sz="1100" i="1" dirty="0">
                <a:solidFill>
                  <a:schemeClr val="accent6"/>
                </a:solidFill>
              </a:rPr>
              <a:t>Validated registration form</a:t>
            </a:r>
            <a:endParaRPr lang="en-US" sz="1100" dirty="0"/>
          </a:p>
        </p:txBody>
      </p:sp>
      <p:sp>
        <p:nvSpPr>
          <p:cNvPr id="5" name="frame-n-import-result"/>
          <p:cNvSpPr/>
          <p:nvPr/>
        </p:nvSpPr>
        <p:spPr>
          <a:xfrm>
            <a:off x="3697197" y="1152144"/>
            <a:ext cx="4127046" cy="1856232"/>
          </a:xfrm>
          <a:prstGeom prst="rect">
            <a:avLst/>
          </a:prstGeom>
          <a:solidFill>
            <a:schemeClr val="bg1"/>
          </a:solidFill>
          <a:ln w="9525">
            <a:solidFill>
              <a:schemeClr val="accent1"/>
            </a:solidFill>
            <a:prstDash val="solid"/>
          </a:ln>
          <a:effectLst>
            <a:outerShdw sx="100000" sy="100000" kx="0" ky="0" algn="bl" rotWithShape="0" blurRad="76200" dist="25400" dir="5400000">
              <a:srgbClr val="000000">
                <a:alpha val="18000"/>
              </a:srgbClr>
            </a:outerShdw>
          </a:effectLst>
        </p:spPr>
      </p:sp>
      <p:pic>
        <p:nvPicPr>
          <p:cNvPr id="27" name="shot-n-import-result" descr="CSV import: 2 registered, 1 row reported"/>
          <p:cNvPicPr>
            <a:picLocks noChangeAspect="1"/>
          </p:cNvPicPr>
          <p:nvPr/>
        </p:nvPicPr>
        <p:blipFill>
          <a:blip r:embed="rId4"/>
          <a:stretch>
            <a:fillRect/>
          </a:stretch>
        </p:blipFill>
        <p:spPr>
          <a:xfrm>
            <a:off x="3733773" y="1188720"/>
            <a:ext cx="4053894" cy="1783080"/>
          </a:xfrm>
          <a:prstGeom prst="rect">
            <a:avLst/>
          </a:prstGeom>
        </p:spPr>
      </p:pic>
      <p:sp>
        <p:nvSpPr>
          <p:cNvPr id="7" name="cap-n-import-result"/>
          <p:cNvSpPr txBox="1"/>
          <p:nvPr/>
        </p:nvSpPr>
        <p:spPr>
          <a:xfrm>
            <a:off x="3733773" y="3044952"/>
            <a:ext cx="4053894" cy="256032"/>
          </a:xfrm>
          <a:prstGeom prst="rect">
            <a:avLst/>
          </a:prstGeom>
          <a:noFill/>
          <a:ln/>
        </p:spPr>
        <p:txBody>
          <a:bodyPr wrap="square" lIns="0" tIns="0" rIns="0" bIns="0" rtlCol="0" anchor="ctr"/>
          <a:lstStyle/>
          <a:p>
            <a:pPr algn="ctr" indent="0" marL="0">
              <a:buNone/>
            </a:pPr>
            <a:r>
              <a:rPr lang="en-US" sz="1100" i="1" dirty="0">
                <a:solidFill>
                  <a:schemeClr val="accent6"/>
                </a:solidFill>
              </a:rPr>
              <a:t>CSV import: 2 registered, 1 row reported</a:t>
            </a:r>
            <a:endParaRPr lang="en-US" sz="1100" dirty="0"/>
          </a:p>
        </p:txBody>
      </p:sp>
      <p:sp>
        <p:nvSpPr>
          <p:cNvPr id="6" name="Text 3"/>
          <p:cNvSpPr txBox="1"/>
          <p:nvPr/>
        </p:nvSpPr>
        <p:spPr>
          <a:xfrm>
            <a:off x="2971800" y="33375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1</a:t>
            </a:r>
            <a:endParaRPr lang="en-US" sz="1400" dirty="0"/>
          </a:p>
        </p:txBody>
      </p:sp>
      <p:sp>
        <p:nvSpPr>
          <p:cNvPr id="7" name="step-0"/>
          <p:cNvSpPr txBox="1"/>
          <p:nvPr/>
        </p:nvSpPr>
        <p:spPr>
          <a:xfrm>
            <a:off x="3474720" y="3337560"/>
            <a:ext cx="5166360" cy="64008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Bed assigned automatically</a:t>
            </a:r>
            <a:endParaRPr lang="en-US" sz="1500" dirty="0"/>
          </a:p>
          <a:p>
            <a:pPr indent="0" marL="0">
              <a:spcAft>
                <a:spcPts val="200"/>
              </a:spcAft>
              <a:buNone/>
            </a:pPr>
            <a:r>
              <a:rPr lang="en-US" sz="1400" dirty="0">
                <a:solidFill>
                  <a:schemeClr val="accent6"/>
                </a:solidFill>
              </a:rPr>
              <a:t>By block, floor and room type; never mixes genders in a room</a:t>
            </a:r>
            <a:endParaRPr lang="en-US" sz="1500" dirty="0"/>
          </a:p>
        </p:txBody>
      </p:sp>
      <p:sp>
        <p:nvSpPr>
          <p:cNvPr id="6" name="Text 3"/>
          <p:cNvSpPr txBox="1"/>
          <p:nvPr/>
        </p:nvSpPr>
        <p:spPr>
          <a:xfrm>
            <a:off x="2971800" y="399592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2</a:t>
            </a:r>
            <a:endParaRPr lang="en-US" sz="1400" dirty="0"/>
          </a:p>
        </p:txBody>
      </p:sp>
      <p:sp>
        <p:nvSpPr>
          <p:cNvPr id="7" name="step-0"/>
          <p:cNvSpPr txBox="1"/>
          <p:nvPr/>
        </p:nvSpPr>
        <p:spPr>
          <a:xfrm>
            <a:off x="3474720" y="3995928"/>
            <a:ext cx="5166360" cy="64008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One-time access code</a:t>
            </a:r>
            <a:endParaRPr lang="en-US" sz="1500" dirty="0"/>
          </a:p>
          <a:p>
            <a:pPr indent="0" marL="0">
              <a:spcAft>
                <a:spcPts val="200"/>
              </a:spcAft>
              <a:buNone/>
            </a:pPr>
            <a:r>
              <a:rPr lang="en-US" sz="1400" dirty="0">
                <a:solidFill>
                  <a:schemeClr val="accent6"/>
                </a:solidFill>
              </a:rPr>
              <a:t>E-mailed to the resident; stored only as a PBKDF2 hash</a:t>
            </a:r>
            <a:endParaRPr lang="en-US" sz="1500" dirty="0"/>
          </a:p>
        </p:txBody>
      </p:sp>
    </p:spTree>
  </p:cSld>
  <p:clrMapOvr>
    <a:masterClrMapping/>
  </p:clrMapOvr>
</p:sld>
</file>

<file path=ppt/theme/theme1.xml><?xml version="1.0" encoding="utf-8"?>
<a:theme xmlns:a="http://schemas.openxmlformats.org/drawingml/2006/main" name="Demeure Campus OS">
  <a:themeElements>
    <a:clrScheme name="Demeure Campus OS">
      <a:dk1>
        <a:srgbClr val="111827"/>
      </a:dk1>
      <a:lt1>
        <a:srgbClr val="FFFFFF"/>
      </a:lt1>
      <a:dk2>
        <a:srgbClr val="1E3A5F"/>
      </a:dk2>
      <a:lt2>
        <a:srgbClr val="F8F6F2"/>
      </a:lt2>
      <a:accent1>
        <a:srgbClr val="1E3A5F"/>
      </a:accent1>
      <a:accent2>
        <a:srgbClr val="355E3B"/>
      </a:accent2>
      <a:accent3>
        <a:srgbClr val="4B8BFF"/>
      </a:accent3>
      <a:accent4>
        <a:srgbClr val="B45309"/>
      </a:accent4>
      <a:accent5>
        <a:srgbClr val="B91C1C"/>
      </a:accent5>
      <a:accent6>
        <a:srgbClr val="4B5563"/>
      </a:accent6>
      <a:hlink>
        <a:srgbClr val="1E3A5F"/>
      </a:hlink>
      <a:folHlink>
        <a:srgbClr val="4B5563"/>
      </a:folHlink>
    </a:clrScheme>
    <a:fontScheme name="Demeure Campus O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Demeure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Demeure AI: Campus OS Showcase</dc:title>
  <dc:subject>Use-case scenarios and production readiness</dc:subject>
  <dc:creator>Demeure AI Team</dc:creator>
  <cp:lastModifiedBy>Demeure AI Team</cp:lastModifiedBy>
  <cp:revision>1</cp:revision>
  <dcterms:created xsi:type="dcterms:W3CDTF">2026-10-07T03:18:50Z</dcterms:created>
  <dcterms:modified xsi:type="dcterms:W3CDTF">2026-10-07T03:18:50Z</dcterms:modified>
</cp:coreProperties>
</file>