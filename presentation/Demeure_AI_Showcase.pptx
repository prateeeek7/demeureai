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31f278-3c4a-4e03-6694-4312e82a9f63}">
          <p14:sldIdLst>
            <p14:sldId id="256"/>
            <p14:sldId id="257"/>
            <p14:sldId id="258"/>
            <p14:sldId id="259"/>
            <p14:sldId id="260"/>
            <p14:sldId id="261"/>
          </p14:sldIdLst>
        </p14:section>
        <p14:section name="Use-case scenarios" id="{3804ec80-3078-2e50-9f63-8a67968a1c07}">
          <p14:sldIdLst>
            <p14:sldId id="262"/>
            <p14:sldId id="263"/>
            <p14:sldId id="264"/>
            <p14:sldId id="265"/>
            <p14:sldId id="266"/>
            <p14:sldId id="267"/>
            <p14:sldId id="268"/>
            <p14:sldId id="269"/>
            <p14:sldId id="270"/>
            <p14:sldId id="271"/>
            <p14:sldId id="272"/>
            <p14:sldId id="273"/>
            <p14:sldId id="274"/>
            <p14:sldId id="275"/>
            <p14:sldId id="276"/>
            <p14:sldId id="277"/>
            <p14:sldId id="278"/>
            <p14:sldId id="279"/>
          </p14:sldIdLst>
        </p14:section>
        <p14:section name="Production readiness" id="{76f79d88-a0de-5764-6e20-e440b6fd2c37}">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Similarity weights (%)</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1E3A5F"/>
            </a:solidFill>
            <a:effectLst/>
          </c:spPr>
          <c:invertIfNegative val="0"/>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cat>
            <c:multiLvlStrRef>
              <c:f>Sheet1!$A$2:$A$5</c:f>
              <c:multiLvlStrCache>
                <c:ptCount val="4"/>
                <c:lvl>
                  <c:pt idx="0">
                    <c:v>Sleep</c:v>
                  </c:pt>
                  <c:pt idx="1">
                    <c:v>Study</c:v>
                  </c:pt>
                  <c:pt idx="2">
                    <c:v>Cleanliness</c:v>
                  </c:pt>
                  <c:pt idx="3">
                    <c:v>Social</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First-load JavaScript (kB, uncompressed)</a:t>
            </a:r>
          </a:p>
        </c:rich>
      </c:tx>
      <c:layout/>
      <c:overlay val="0"/>
    </c:title>
    <c:autoTitleDeleted val="0"/>
    <c:plotArea>
      <c:layout/>
      <c:barChart>
        <c:barDir val="col"/>
        <c:grouping val="clustered"/>
        <c:varyColors val="0"/>
        <c:ser>
          <c:idx val="0"/>
          <c:order val="0"/>
          <c:tx>
            <c:strRef>
              <c:f>Sheet1!$B$1</c:f>
              <c:strCache>
                <c:ptCount val="1"/>
                <c:pt idx="0">
                  <c:v>First-load JS (kB)</c:v>
                </c:pt>
              </c:strCache>
            </c:strRef>
          </c:tx>
          <c:spPr>
            <a:solidFill>
              <a:srgbClr val="1E3A5F"/>
            </a:solidFill>
            <a:effectLst/>
          </c:spPr>
          <c:invertIfNegative val="0"/>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cat>
            <c:multiLvlStrRef>
              <c:f>Sheet1!$A$2:$A$3</c:f>
              <c:multiLvlStrCache>
                <c:ptCount val="2"/>
                <c:lvl>
                  <c:pt idx="0">
                    <c:v>Prototype</c:v>
                  </c:pt>
                  <c:pt idx="1">
                    <c:v>This release</c:v>
                  </c:pt>
                </c:lvl>
              </c:multiLvlStrCache>
            </c:multiLvlStrRef>
          </c:cat>
          <c:val>
            <c:numRef>
              <c:f>Sheet1!$B$2:$B$3</c:f>
              <c:numCache>
                <c:formatCode>General</c:formatCode>
                <c:ptCount val="2"/>
                <c:pt idx="0">
                  <c:v>1316</c:v>
                </c:pt>
                <c:pt idx="1">
                  <c:v>254</c:v>
                </c:pt>
              </c:numCache>
            </c:numRef>
          </c:val>
        </c:ser>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Demeure AI is a single platform that runs hostel and campus operations end to end. Every screen in this deck was captured from the running application, using real flows across four signed-in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bottleneck in Indian hostels: paper outpass registers, complaints scattered across WhatsApp, surveys collected in spreadsheets nobody reads, and dues reconciled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persona signs in to a workspace scoped to their job. The server enforces the same scoping, so a student can never call an admin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this build: 13 modules in the sidebar, the 100-student survey dataset seeded at first start, 31 automated backend tests, 8 scripted end-to-end scenarios, and the gzipped first-load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talks only to the FastAPI service. Each adapter has a local implementation and an AWS one, chosen at start-up from the environment: SQLite or DynamoDB, local disk or S3, logged email or SES, browser speech or Polly.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Credentials are verified server-side against salted hashes. The session lives in an HttpOnly, SameSite=Strict cookie. Ten failed attempts in five minutes lock the client out. Production refuses demo PINs and weak secrets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comes from an automated Chrome run against the real backend, so the flows shown are exactly what users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picks dates, gives a reason and attaches a PDF. The file is validated (type, content, 5 MB) and stored privately. The leave is saved with the student's identity taken from the session, not from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uploader and hostel or campus staff can open the attachment. Approval is a one-way state change; acting twice returns a conflict instead of silently overwriting.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request visitor passes themselves; this flow was missing before. On approval the server issues a gate pass code and emails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sets the per-unit rate and dispatches. This opens a new billing cycle, so every student owes for the new cycle even if they paid the last one. The chart switches between three metered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is computed on the server from the current rate, so the browser cannot change the amount. The UPI ID is validated, and paying twice in one cycle is refused. Note: the payment gateway itself is simulated in this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100-student dataset in the repo is seeded at first start and normalised to the survey form's vocabulary. New student submissions join it immediately; here the total is 101 after Pratik submitted.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habit maps to a 0-2 scale and is compared with the warden's inputs, weighted as shown. Same-block preference adds a small bonus. Before this release the results were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Allocations are saved centrally and checked on the server: no overfilling and no duplicate names. Every warden session sees the same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runs on the server. The category with the most keyword hits wins, with safety-critical categories winning ties, and terms like sparks or socket escalate to a 2-hour SLA. Staff move tickets from Open to Dispatched to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are embedded with MiniLM and matched against the hostel rulebooks. The top passages go to a Groq-hosted LLM, which must answer only from them. Answers show their source files, and the speaker icon reads them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uploads the weekly menu sheet. It is parsed in the browser, validated (7 days, sane lengths), and published on the server, so every student sees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Ratings are stored with the student's real name from the session, and the manager's rating distribution updates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Anonymous tickets keep the filer so they can track their own case, but staff responses never include who filed it. Staff can still escalate it to investigation and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and ticket IDs now come from the server, so the screen and the database agree. Admins gained approve/reject and status-advance controls that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event is a SHA-256 block chained to the previous one. The server re-verifies the whole chain on every read, and editing any past record flips the badge to an integrity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overview shows live system state from the health endpoint: environment, storage backend, AWS mode and assistant readiness. Welfare alerts are resolved by wardens and persisted.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Admins can test SES, S3 and Polly from one screen. Every data write, email and upload appears in the SDK log console, whether the system is on real AWS or in local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engineering work: security, persistence, validation, testing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tile is a concrete change in this release, covered by the automated test suite or the end-to-end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Code-splitting cut the first download from 1,316 kB to 254 kB (raw), or 386 kB to 76 kB gzipped. Lint errors went from 65 to zero, and the high-severity Excel parser vulnerability is gone. The prototype had no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gaps. Payments are simulated, academics use sample data until a student information system is connected, and the gate scanner needs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live demo: sign in as the student, submit a leave, switch to the warden and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3A5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rtlCol="0"/>
          <a:lstStyle>
            <a:lvl1pPr indent="0" marL="0">
              <a:buNone/>
              <a:defRPr lang="en-US" sz="11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8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rtlCol="0"/>
          <a:lstStyle>
            <a:lvl1pPr indent="0" marL="0">
              <a:buNone/>
              <a:defRPr lang="en-US" sz="12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bg2"/>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rtlCol="0"/>
          <a:lstStyle>
            <a:lvl1pPr indent="0" marL="0">
              <a:buNone/>
              <a:defRPr lang="en-US" sz="1000" b="1" dirty="0">
                <a:solidFill>
                  <a:schemeClr val="accent2"/>
                </a:solidFill>
                <a:latin typeface="Courier New" pitchFamily="34" charset="0"/>
                <a:ea typeface="Courier New" pitchFamily="34" charset="-122"/>
                <a:cs typeface="Courier New" pitchFamily="34" charset="-120"/>
              </a:defRPr>
            </a:lvl1pPr>
          </a:lstStyle>
          <a:p>
            <a:pPr indent="0" marL="0">
              <a:buNone/>
            </a:pP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4"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accent6"/>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4-1.jp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jp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image" Target="../media/image-19-2.jp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jpg"/><Relationship Id="rId3" Type="http://schemas.openxmlformats.org/officeDocument/2006/relationships/slideLayout" Target="../slideLayouts/slideLayout4.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jp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image" Target="../media/image-22-2.jp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image" Target="../media/image-23-2.jp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jp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4.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WEBFORGE SMART CAMPUS WEBATHON 2026</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One operating system for hostel and campus life: secure, persistent and AI-assisted, for administrators, wardens, mess managers and students.</a:t>
            </a:r>
            <a:endParaRPr lang="en-US" sz="1600" dirty="0"/>
          </a:p>
        </p:txBody>
      </p:sp>
      <p:sp>
        <p:nvSpPr>
          <p:cNvPr id="5" name="Shape 3"/>
          <p:cNvSpPr/>
          <p:nvPr/>
        </p:nvSpPr>
        <p:spPr>
          <a:xfrm>
            <a:off x="4809744" y="969264"/>
            <a:ext cx="4005072" cy="2578608"/>
          </a:xfrm>
          <a:prstGeom prst="rect">
            <a:avLst/>
          </a:prstGeom>
          <a:solidFill>
            <a:schemeClr val="bg1"/>
          </a:solidFill>
          <a:ln w="9525">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Demeure AI landing page">    </p:cNvPr>
          <p:cNvPicPr>
            <a:picLocks noChangeAspect="1"/>
          </p:cNvPicPr>
          <p:nvPr/>
        </p:nvPicPr>
        <p:blipFill>
          <a:blip r:embed="rId1"/>
          <a:stretch>
            <a:fillRect/>
          </a:stretch>
        </p:blipFill>
        <p:spPr>
          <a:xfrm>
            <a:off x="4846320" y="1005840"/>
            <a:ext cx="3931920" cy="2458606"/>
          </a:xfrm>
          <a:prstGeom prst="rect">
            <a:avLst/>
          </a:prstGeom>
        </p:spPr>
      </p:pic>
      <p:sp>
        <p:nvSpPr>
          <p:cNvPr id="7" name="Text 4"/>
          <p:cNvSpPr txBox="1"/>
          <p:nvPr/>
        </p:nvSpPr>
        <p:spPr>
          <a:xfrm>
            <a:off x="4846320" y="3639312"/>
            <a:ext cx="393192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Live product screenshots throughout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PROBLEM</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Campus operations still run on paper</a:t>
            </a:r>
            <a:endParaRPr lang="en-US" sz="2800" dirty="0"/>
          </a:p>
        </p:txBody>
      </p:sp>
      <p:sp>
        <p:nvSpPr>
          <p:cNvPr id="5" name="card-Paper registers"/>
          <p:cNvSpPr/>
          <p:nvPr/>
        </p:nvSpPr>
        <p:spPr>
          <a:xfrm>
            <a:off x="457200" y="1280160"/>
            <a:ext cx="1920240" cy="292608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Paper register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Paper registers</a:t>
            </a:r>
            <a:endParaRPr lang="en-US" sz="1500" dirty="0"/>
          </a:p>
          <a:p>
            <a:pPr indent="0" marL="0">
              <a:spcAft>
                <a:spcPts val="400"/>
              </a:spcAft>
              <a:buNone/>
            </a:pPr>
            <a:r>
              <a:rPr lang="en-US" sz="1400" dirty="0">
                <a:solidFill>
                  <a:schemeClr val="accent6"/>
                </a:solidFill>
              </a:rPr>
              <a:t>Leave and visitor passes signed on paper; no audit trail for wardens or parents.</a:t>
            </a:r>
            <a:endParaRPr lang="en-US" sz="1500" dirty="0"/>
          </a:p>
        </p:txBody>
      </p:sp>
      <p:sp>
        <p:nvSpPr>
          <p:cNvPr id="9" name="card-Lost complaints"/>
          <p:cNvSpPr/>
          <p:nvPr/>
        </p:nvSpPr>
        <p:spPr>
          <a:xfrm>
            <a:off x="2560320" y="1280160"/>
            <a:ext cx="1920240" cy="292608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Lost complaints">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Lost complaints</a:t>
            </a:r>
            <a:endParaRPr lang="en-US" sz="1500" dirty="0"/>
          </a:p>
          <a:p>
            <a:pPr indent="0" marL="0">
              <a:spcAft>
                <a:spcPts val="400"/>
              </a:spcAft>
              <a:buNone/>
            </a:pPr>
            <a:r>
              <a:rPr lang="en-US" sz="1400" dirty="0">
                <a:solidFill>
                  <a:schemeClr val="accent6"/>
                </a:solidFill>
              </a:rPr>
              <a:t>Maintenance issues buried in chat threads with no priority or owner.</a:t>
            </a:r>
            <a:endParaRPr lang="en-US" sz="1500" dirty="0"/>
          </a:p>
        </p:txBody>
      </p:sp>
      <p:sp>
        <p:nvSpPr>
          <p:cNvPr id="13" name="card-Unused surveys"/>
          <p:cNvSpPr/>
          <p:nvPr/>
        </p:nvSpPr>
        <p:spPr>
          <a:xfrm>
            <a:off x="4663440" y="1280160"/>
            <a:ext cx="1920240" cy="292608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Unused surveys">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Unused surveys</a:t>
            </a:r>
            <a:endParaRPr lang="en-US" sz="1500" dirty="0"/>
          </a:p>
          <a:p>
            <a:pPr indent="0" marL="0">
              <a:spcAft>
                <a:spcPts val="400"/>
              </a:spcAft>
              <a:buNone/>
            </a:pPr>
            <a:r>
              <a:rPr lang="en-US" sz="1400" dirty="0">
                <a:solidFill>
                  <a:schemeClr val="accent6"/>
                </a:solidFill>
              </a:rPr>
              <a:t>Roommate preferences collected in spreadsheets, then allocated by hand.</a:t>
            </a:r>
            <a:endParaRPr lang="en-US" sz="1500" dirty="0"/>
          </a:p>
        </p:txBody>
      </p:sp>
      <p:sp>
        <p:nvSpPr>
          <p:cNvPr id="17" name="card-Manual billing"/>
          <p:cNvSpPr/>
          <p:nvPr/>
        </p:nvSpPr>
        <p:spPr>
          <a:xfrm>
            <a:off x="6766560" y="1280160"/>
            <a:ext cx="1920240" cy="292608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Manual billing">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Manual billing</a:t>
            </a:r>
            <a:endParaRPr lang="en-US" sz="1500" dirty="0"/>
          </a:p>
          <a:p>
            <a:pPr indent="0" marL="0">
              <a:spcAft>
                <a:spcPts val="400"/>
              </a:spcAft>
              <a:buNone/>
            </a:pPr>
            <a:r>
              <a:rPr lang="en-US" sz="1400" dirty="0">
                <a:solidFill>
                  <a:schemeClr val="accent6"/>
                </a:solidFill>
              </a:rPr>
              <a:t>Electricity and mess dues calculated by hand and paid by screenshot.</a:t>
            </a:r>
            <a:endParaRPr lang="en-US" sz="1500" dirty="0"/>
          </a:p>
        </p:txBody>
      </p:sp>
      <p:sp>
        <p:nvSpPr>
          <p:cNvPr id="21" name="Text 14"/>
          <p:cNvSpPr txBox="1"/>
          <p:nvPr/>
        </p:nvSpPr>
        <p:spPr>
          <a:xfrm>
            <a:off x="457200" y="4370832"/>
            <a:ext cx="8229600" cy="320040"/>
          </a:xfrm>
          <a:prstGeom prst="rect">
            <a:avLst/>
          </a:prstGeom>
          <a:noFill/>
          <a:ln/>
        </p:spPr>
        <p:txBody>
          <a:bodyPr wrap="square" lIns="0" tIns="0" rIns="0" bIns="0" rtlCol="0" anchor="ctr"/>
          <a:lstStyle/>
          <a:p>
            <a:pPr indent="0" marL="0">
              <a:buNone/>
            </a:pPr>
            <a:r>
              <a:rPr lang="en-US" sz="1500" i="1" dirty="0">
                <a:solidFill>
                  <a:schemeClr val="accent1"/>
                </a:solidFill>
              </a:rPr>
              <a:t>Result: slow approvals, unsafe incidents missed, and no single source of truth.</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SOLUTION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One platform, four roles, one source of truth</a:t>
            </a:r>
            <a:endParaRPr lang="en-US" sz="2800" dirty="0"/>
          </a:p>
        </p:txBody>
      </p:sp>
      <p:sp>
        <p:nvSpPr>
          <p:cNvPr id="5" name="frame-02-role-picker"/>
          <p:cNvSpPr/>
          <p:nvPr/>
        </p:nvSpPr>
        <p:spPr>
          <a:xfrm>
            <a:off x="420624" y="1152144"/>
            <a:ext cx="4828032" cy="276944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2-role-picker" descr="Persona picker on the landing page">    </p:cNvPr>
          <p:cNvPicPr>
            <a:picLocks noChangeAspect="1"/>
          </p:cNvPicPr>
          <p:nvPr/>
        </p:nvPicPr>
        <p:blipFill>
          <a:blip r:embed="rId1"/>
          <a:stretch>
            <a:fillRect/>
          </a:stretch>
        </p:blipFill>
        <p:spPr>
          <a:xfrm>
            <a:off x="457200" y="1188720"/>
            <a:ext cx="4754880" cy="2696297"/>
          </a:xfrm>
          <a:prstGeom prst="rect">
            <a:avLst/>
          </a:prstGeom>
        </p:spPr>
      </p:pic>
      <p:sp>
        <p:nvSpPr>
          <p:cNvPr id="7" name="cap-02-role-picker"/>
          <p:cNvSpPr txBox="1"/>
          <p:nvPr/>
        </p:nvSpPr>
        <p:spPr>
          <a:xfrm>
            <a:off x="457200" y="3976457"/>
            <a:ext cx="4754880" cy="256032"/>
          </a:xfrm>
          <a:prstGeom prst="rect">
            <a:avLst/>
          </a:prstGeom>
          <a:noFill/>
          <a:ln/>
        </p:spPr>
        <p:txBody>
          <a:bodyPr wrap="square" lIns="0" tIns="0" rIns="0" bIns="0" rtlCol="0" anchor="ctr"/>
          <a:lstStyle/>
          <a:p>
            <a:pPr indent="0" marL="0">
              <a:buNone/>
            </a:pPr>
            <a:r>
              <a:rPr lang="en-US" sz="1100" i="1" dirty="0">
                <a:solidFill>
                  <a:schemeClr val="accent6"/>
                </a:solidFill>
              </a:rPr>
              <a:t>Persona picker on the landing page</a:t>
            </a:r>
            <a:endParaRPr lang="en-US" sz="1100" dirty="0"/>
          </a:p>
        </p:txBody>
      </p:sp>
      <p:sp>
        <p:nvSpPr>
          <p:cNvPr id="8" name="Text 4"/>
          <p:cNvSpPr txBox="1"/>
          <p:nvPr/>
        </p:nvSpPr>
        <p:spPr>
          <a:xfrm>
            <a:off x="5577840" y="1188720"/>
            <a:ext cx="3108960" cy="731520"/>
          </a:xfrm>
          <a:prstGeom prst="rect">
            <a:avLst/>
          </a:prstGeom>
          <a:noFill/>
          <a:ln/>
        </p:spPr>
        <p:txBody>
          <a:bodyPr wrap="square" lIns="0" tIns="0" rIns="0" bIns="0" rtlCol="0" anchor="t"/>
          <a:lstStyle/>
          <a:p>
            <a:pPr indent="0" marL="0">
              <a:buNone/>
            </a:pPr>
            <a:r>
              <a:rPr lang="en-US" sz="1500" b="1" dirty="0">
                <a:solidFill>
                  <a:schemeClr val="tx1"/>
                </a:solidFill>
              </a:rPr>
              <a:t>Campus Admin</a:t>
            </a:r>
            <a:endParaRPr lang="en-US" sz="1500" dirty="0"/>
          </a:p>
          <a:p>
            <a:pPr indent="0" marL="0">
              <a:buNone/>
            </a:pPr>
            <a:r>
              <a:rPr lang="en-US" sz="1400" dirty="0">
                <a:solidFill>
                  <a:schemeClr val="accent6"/>
                </a:solidFill>
              </a:rPr>
              <a:t>Finance, facilities, power billing, AWS hub</a:t>
            </a:r>
            <a:endParaRPr lang="en-US" sz="1500" dirty="0"/>
          </a:p>
        </p:txBody>
      </p:sp>
      <p:sp>
        <p:nvSpPr>
          <p:cNvPr id="9" name="Text 5"/>
          <p:cNvSpPr txBox="1"/>
          <p:nvPr/>
        </p:nvSpPr>
        <p:spPr>
          <a:xfrm>
            <a:off x="5577840" y="2011680"/>
            <a:ext cx="3108960" cy="731520"/>
          </a:xfrm>
          <a:prstGeom prst="rect">
            <a:avLst/>
          </a:prstGeom>
          <a:noFill/>
          <a:ln/>
        </p:spPr>
        <p:txBody>
          <a:bodyPr wrap="square" lIns="0" tIns="0" rIns="0" bIns="0" rtlCol="0" anchor="t"/>
          <a:lstStyle/>
          <a:p>
            <a:pPr indent="0" marL="0">
              <a:buNone/>
            </a:pPr>
            <a:r>
              <a:rPr lang="en-US" sz="1500" b="1" dirty="0">
                <a:solidFill>
                  <a:schemeClr val="tx1"/>
                </a:solidFill>
              </a:rPr>
              <a:t>Hostel Warden</a:t>
            </a:r>
            <a:endParaRPr lang="en-US" sz="1500" dirty="0"/>
          </a:p>
          <a:p>
            <a:pPr indent="0" marL="0">
              <a:buNone/>
            </a:pPr>
            <a:r>
              <a:rPr lang="en-US" sz="1400" dirty="0">
                <a:solidFill>
                  <a:schemeClr val="accent6"/>
                </a:solidFill>
              </a:rPr>
              <a:t>Rooms, surveys, gate security, welfare</a:t>
            </a:r>
            <a:endParaRPr lang="en-US" sz="1500" dirty="0"/>
          </a:p>
        </p:txBody>
      </p:sp>
      <p:sp>
        <p:nvSpPr>
          <p:cNvPr id="10" name="Text 6"/>
          <p:cNvSpPr txBox="1"/>
          <p:nvPr/>
        </p:nvSpPr>
        <p:spPr>
          <a:xfrm>
            <a:off x="5577840" y="2834640"/>
            <a:ext cx="3108960" cy="731520"/>
          </a:xfrm>
          <a:prstGeom prst="rect">
            <a:avLst/>
          </a:prstGeom>
          <a:noFill/>
          <a:ln/>
        </p:spPr>
        <p:txBody>
          <a:bodyPr wrap="square" lIns="0" tIns="0" rIns="0" bIns="0" rtlCol="0" anchor="t"/>
          <a:lstStyle/>
          <a:p>
            <a:pPr indent="0" marL="0">
              <a:buNone/>
            </a:pPr>
            <a:r>
              <a:rPr lang="en-US" sz="1500" b="1" dirty="0">
                <a:solidFill>
                  <a:schemeClr val="tx1"/>
                </a:solidFill>
              </a:rPr>
              <a:t>Mess Manager</a:t>
            </a:r>
            <a:endParaRPr lang="en-US" sz="1500" dirty="0"/>
          </a:p>
          <a:p>
            <a:pPr indent="0" marL="0">
              <a:buNone/>
            </a:pPr>
            <a:r>
              <a:rPr lang="en-US" sz="1400" dirty="0">
                <a:solidFill>
                  <a:schemeClr val="accent6"/>
                </a:solidFill>
              </a:rPr>
              <a:t>Weekly menu publishing, food feedback</a:t>
            </a:r>
            <a:endParaRPr lang="en-US" sz="1500" dirty="0"/>
          </a:p>
        </p:txBody>
      </p:sp>
      <p:sp>
        <p:nvSpPr>
          <p:cNvPr id="11" name="Text 7"/>
          <p:cNvSpPr txBox="1"/>
          <p:nvPr/>
        </p:nvSpPr>
        <p:spPr>
          <a:xfrm>
            <a:off x="5577840" y="3657600"/>
            <a:ext cx="3108960" cy="731520"/>
          </a:xfrm>
          <a:prstGeom prst="rect">
            <a:avLst/>
          </a:prstGeom>
          <a:noFill/>
          <a:ln/>
        </p:spPr>
        <p:txBody>
          <a:bodyPr wrap="square" lIns="0" tIns="0" rIns="0" bIns="0" rtlCol="0" anchor="t"/>
          <a:lstStyle/>
          <a:p>
            <a:pPr indent="0" marL="0">
              <a:buNone/>
            </a:pPr>
            <a:r>
              <a:rPr lang="en-US" sz="1500" b="1" dirty="0">
                <a:solidFill>
                  <a:schemeClr val="tx1"/>
                </a:solidFill>
              </a:rPr>
              <a:t>Resident Student</a:t>
            </a:r>
            <a:endParaRPr lang="en-US" sz="1500" dirty="0"/>
          </a:p>
          <a:p>
            <a:pPr indent="0" marL="0">
              <a:buNone/>
            </a:pPr>
            <a:r>
              <a:rPr lang="en-US" sz="1400" dirty="0">
                <a:solidFill>
                  <a:schemeClr val="accent6"/>
                </a:solidFill>
              </a:rPr>
              <a:t>Dues, leave, visitors, complaints, AI help</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AT A GLANCE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What ships today</a:t>
            </a:r>
            <a:endParaRPr lang="en-US" sz="2800" dirty="0"/>
          </a:p>
        </p:txBody>
      </p:sp>
      <p:sp>
        <p:nvSpPr>
          <p:cNvPr id="5" name="stat-operational modules across hostel and campu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13</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operational modules across hostel and campus</a:t>
            </a:r>
            <a:endParaRPr lang="en-US" sz="1400" dirty="0"/>
          </a:p>
        </p:txBody>
      </p:sp>
      <p:sp>
        <p:nvSpPr>
          <p:cNvPr id="7" name="stat-role-scoped personas with server-side access control"/>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a:t>
            </a:r>
            <a:endParaRPr lang="en-US" sz="4000" dirty="0"/>
          </a:p>
        </p:txBody>
      </p:sp>
      <p:sp>
        <p:nvSpPr>
          <p:cNvPr id="8" name="Text 5"/>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role-scoped personas with server-side access control</a:t>
            </a:r>
            <a:endParaRPr lang="en-US" sz="1400" dirty="0"/>
          </a:p>
        </p:txBody>
      </p:sp>
      <p:sp>
        <p:nvSpPr>
          <p:cNvPr id="9" name="stat-student survey profiles seeded for allocation"/>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100</a:t>
            </a:r>
            <a:endParaRPr lang="en-US" sz="4000" dirty="0"/>
          </a:p>
        </p:txBody>
      </p:sp>
      <p:sp>
        <p:nvSpPr>
          <p:cNvPr id="10" name="Text 7"/>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student survey profiles seeded for allocation</a:t>
            </a:r>
            <a:endParaRPr lang="en-US" sz="1400" dirty="0"/>
          </a:p>
        </p:txBody>
      </p:sp>
      <p:sp>
        <p:nvSpPr>
          <p:cNvPr id="11" name="stat-automated API and domain tests"/>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31</a:t>
            </a:r>
            <a:endParaRPr lang="en-US" sz="4000" dirty="0"/>
          </a:p>
        </p:txBody>
      </p:sp>
      <p:sp>
        <p:nvSpPr>
          <p:cNvPr id="12" name="Text 9"/>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API and domain tests</a:t>
            </a:r>
            <a:endParaRPr lang="en-US" sz="1400" dirty="0"/>
          </a:p>
        </p:txBody>
      </p:sp>
      <p:sp>
        <p:nvSpPr>
          <p:cNvPr id="13" name="stat-end-to-end user scenarios verified in Chrome"/>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8</a:t>
            </a:r>
            <a:endParaRPr lang="en-US" sz="4000" dirty="0"/>
          </a:p>
        </p:txBody>
      </p:sp>
      <p:sp>
        <p:nvSpPr>
          <p:cNvPr id="14" name="Text 11"/>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end-to-end user scenarios verified in Chrome</a:t>
            </a:r>
            <a:endParaRPr lang="en-US" sz="1400" dirty="0"/>
          </a:p>
        </p:txBody>
      </p:sp>
      <p:sp>
        <p:nvSpPr>
          <p:cNvPr id="15" name="stat-first-load JavaScript (gzip), down from 386 kB"/>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76 kB</a:t>
            </a:r>
            <a:endParaRPr lang="en-US" sz="4000" dirty="0"/>
          </a:p>
        </p:txBody>
      </p:sp>
      <p:sp>
        <p:nvSpPr>
          <p:cNvPr id="16" name="Text 1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(gzip), down from 386 kB</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ARCHITECTURE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Hybrid by design: runs locally or on AWS</a:t>
            </a:r>
            <a:endParaRPr lang="en-US" sz="2800" dirty="0"/>
          </a:p>
        </p:txBody>
      </p:sp>
      <p:sp>
        <p:nvSpPr>
          <p:cNvPr id="5" name="arch-React 19 SPA"/>
          <p:cNvSpPr/>
          <p:nvPr/>
        </p:nvSpPr>
        <p:spPr>
          <a:xfrm>
            <a:off x="457200" y="2057400"/>
            <a:ext cx="1737360" cy="1097280"/>
          </a:xfrm>
          <a:prstGeom prst="rect">
            <a:avLst/>
          </a:prstGeom>
          <a:solidFill>
            <a:schemeClr val="bg2"/>
          </a:solidFill>
          <a:ln w="12700">
            <a:solidFill>
              <a:schemeClr val="accent1"/>
            </a:solidFill>
            <a:prstDash val="solid"/>
          </a:ln>
        </p:spPr>
      </p:sp>
      <p:sp>
        <p:nvSpPr>
          <p:cNvPr id="6" name="Text 3"/>
          <p:cNvSpPr txBox="1"/>
          <p:nvPr/>
        </p:nvSpPr>
        <p:spPr>
          <a:xfrm>
            <a:off x="548640" y="2057400"/>
            <a:ext cx="1554480" cy="1097280"/>
          </a:xfrm>
          <a:prstGeom prst="rect">
            <a:avLst/>
          </a:prstGeom>
          <a:noFill/>
          <a:ln/>
        </p:spPr>
        <p:txBody>
          <a:bodyPr wrap="square" lIns="0" tIns="0" rIns="0" bIns="0" rtlCol="0" anchor="ctr"/>
          <a:lstStyle/>
          <a:p>
            <a:pPr algn="ctr" indent="0" marL="0">
              <a:buNone/>
            </a:pPr>
            <a:r>
              <a:rPr lang="en-US" sz="1400" b="1" dirty="0">
                <a:solidFill>
                  <a:schemeClr val="tx1"/>
                </a:solidFill>
              </a:rPr>
              <a:t>React 19 SPA</a:t>
            </a:r>
            <a:endParaRPr lang="en-US" sz="1400" dirty="0"/>
          </a:p>
          <a:p>
            <a:pPr algn="ctr" indent="0" marL="0">
              <a:buNone/>
            </a:pPr>
            <a:r>
              <a:rPr lang="en-US" sz="1100" dirty="0">
                <a:solidFill>
                  <a:schemeClr val="tx1"/>
                </a:solidFill>
              </a:rPr>
              <a:t>Vite · code-split</a:t>
            </a:r>
            <a:endParaRPr lang="en-US" sz="1400" dirty="0"/>
          </a:p>
        </p:txBody>
      </p:sp>
      <p:sp>
        <p:nvSpPr>
          <p:cNvPr id="7" name="arch-FastAPI service"/>
          <p:cNvSpPr/>
          <p:nvPr/>
        </p:nvSpPr>
        <p:spPr>
          <a:xfrm>
            <a:off x="2743200" y="1417320"/>
            <a:ext cx="2194560" cy="2377440"/>
          </a:xfrm>
          <a:prstGeom prst="rect">
            <a:avLst/>
          </a:prstGeom>
          <a:solidFill>
            <a:schemeClr val="accent1"/>
          </a:solidFill>
          <a:ln w="12700">
            <a:solidFill>
              <a:schemeClr val="accent1"/>
            </a:solidFill>
            <a:prstDash val="solid"/>
          </a:ln>
        </p:spPr>
      </p:sp>
      <p:sp>
        <p:nvSpPr>
          <p:cNvPr id="8" name="Text 5"/>
          <p:cNvSpPr txBox="1"/>
          <p:nvPr/>
        </p:nvSpPr>
        <p:spPr>
          <a:xfrm>
            <a:off x="2834640" y="1417320"/>
            <a:ext cx="2011680" cy="2377440"/>
          </a:xfrm>
          <a:prstGeom prst="rect">
            <a:avLst/>
          </a:prstGeom>
          <a:noFill/>
          <a:ln/>
        </p:spPr>
        <p:txBody>
          <a:bodyPr wrap="square" lIns="0" tIns="0" rIns="0" bIns="0" rtlCol="0" anchor="ctr"/>
          <a:lstStyle/>
          <a:p>
            <a:pPr algn="ctr" indent="0" marL="0">
              <a:buNone/>
            </a:pPr>
            <a:r>
              <a:rPr lang="en-US" sz="1400" b="1" dirty="0">
                <a:solidFill>
                  <a:schemeClr val="bg1"/>
                </a:solidFill>
              </a:rPr>
              <a:t>FastAPI service</a:t>
            </a:r>
            <a:endParaRPr lang="en-US" sz="1400" dirty="0"/>
          </a:p>
          <a:p>
            <a:pPr algn="ctr" indent="0" marL="0">
              <a:buNone/>
            </a:pPr>
            <a:r>
              <a:rPr lang="en-US" sz="1100" dirty="0">
                <a:solidFill>
                  <a:schemeClr val="bg1"/>
                </a:solidFill>
              </a:rPr>
              <a:t>auth · hostel · campus</a:t>
            </a:r>
            <a:endParaRPr lang="en-US" sz="1400" dirty="0"/>
          </a:p>
          <a:p>
            <a:pPr algn="ctr" indent="0" marL="0">
              <a:buNone/>
            </a:pPr>
            <a:r>
              <a:rPr lang="en-US" sz="1100" dirty="0">
                <a:solidFill>
                  <a:schemeClr val="bg1"/>
                </a:solidFill>
              </a:rPr>
              <a:t>billing · aws · chat</a:t>
            </a:r>
            <a:endParaRPr lang="en-US" sz="1400" dirty="0"/>
          </a:p>
          <a:p>
            <a:pPr algn="ctr" indent="0" marL="0">
              <a:buNone/>
            </a:pPr>
            <a:endParaRPr lang="en-US" sz="1400" dirty="0"/>
          </a:p>
          <a:p>
            <a:pPr algn="ctr" indent="0" marL="0">
              <a:buNone/>
            </a:pPr>
            <a:r>
              <a:rPr lang="en-US" sz="1100" dirty="0">
                <a:solidFill>
                  <a:schemeClr val="bg1"/>
                </a:solidFill>
              </a:rPr>
              <a:t>signed session cookie</a:t>
            </a:r>
            <a:endParaRPr lang="en-US" sz="1400" dirty="0"/>
          </a:p>
          <a:p>
            <a:pPr algn="ctr" indent="0" marL="0">
              <a:buNone/>
            </a:pPr>
            <a:r>
              <a:rPr lang="en-US" sz="1100" dirty="0">
                <a:solidFill>
                  <a:schemeClr val="bg1"/>
                </a:solidFill>
              </a:rPr>
              <a:t>role guards · validation</a:t>
            </a:r>
            <a:endParaRPr lang="en-US" sz="1400" dirty="0"/>
          </a:p>
        </p:txBody>
      </p:sp>
      <p:sp>
        <p:nvSpPr>
          <p:cNvPr id="9" name="arch-Data"/>
          <p:cNvSpPr/>
          <p:nvPr/>
        </p:nvSpPr>
        <p:spPr>
          <a:xfrm>
            <a:off x="5577840" y="1143000"/>
            <a:ext cx="3108960" cy="548640"/>
          </a:xfrm>
          <a:prstGeom prst="rect">
            <a:avLst/>
          </a:prstGeom>
          <a:solidFill>
            <a:schemeClr val="bg1"/>
          </a:solidFill>
          <a:ln w="12700">
            <a:solidFill>
              <a:schemeClr val="accent1"/>
            </a:solidFill>
            <a:prstDash val="solid"/>
          </a:ln>
        </p:spPr>
      </p:sp>
      <p:sp>
        <p:nvSpPr>
          <p:cNvPr id="10" name="Text 7"/>
          <p:cNvSpPr txBox="1"/>
          <p:nvPr/>
        </p:nvSpPr>
        <p:spPr>
          <a:xfrm>
            <a:off x="5669280" y="114300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Data</a:t>
            </a:r>
            <a:endParaRPr lang="en-US" sz="1400" dirty="0"/>
          </a:p>
          <a:p>
            <a:pPr algn="ctr" indent="0" marL="0">
              <a:buNone/>
            </a:pPr>
            <a:r>
              <a:rPr lang="en-US" sz="1100" dirty="0">
                <a:solidFill>
                  <a:schemeClr val="tx1"/>
                </a:solidFill>
              </a:rPr>
              <a:t>SQLite  |  DynamoDB</a:t>
            </a:r>
            <a:endParaRPr lang="en-US" sz="1400" dirty="0"/>
          </a:p>
        </p:txBody>
      </p:sp>
      <p:sp>
        <p:nvSpPr>
          <p:cNvPr id="11" name="arch-Files"/>
          <p:cNvSpPr/>
          <p:nvPr/>
        </p:nvSpPr>
        <p:spPr>
          <a:xfrm>
            <a:off x="5577840" y="1783080"/>
            <a:ext cx="3108960" cy="548640"/>
          </a:xfrm>
          <a:prstGeom prst="rect">
            <a:avLst/>
          </a:prstGeom>
          <a:solidFill>
            <a:schemeClr val="bg1"/>
          </a:solidFill>
          <a:ln w="12700">
            <a:solidFill>
              <a:schemeClr val="accent1"/>
            </a:solidFill>
            <a:prstDash val="solid"/>
          </a:ln>
        </p:spPr>
      </p:sp>
      <p:sp>
        <p:nvSpPr>
          <p:cNvPr id="12" name="Text 9"/>
          <p:cNvSpPr txBox="1"/>
          <p:nvPr/>
        </p:nvSpPr>
        <p:spPr>
          <a:xfrm>
            <a:off x="5669280" y="178308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Files</a:t>
            </a:r>
            <a:endParaRPr lang="en-US" sz="1400" dirty="0"/>
          </a:p>
          <a:p>
            <a:pPr algn="ctr" indent="0" marL="0">
              <a:buNone/>
            </a:pPr>
            <a:r>
              <a:rPr lang="en-US" sz="1100" dirty="0">
                <a:solidFill>
                  <a:schemeClr val="tx1"/>
                </a:solidFill>
              </a:rPr>
              <a:t>Local disk  |  S3 (private)</a:t>
            </a:r>
            <a:endParaRPr lang="en-US" sz="1400" dirty="0"/>
          </a:p>
        </p:txBody>
      </p:sp>
      <p:sp>
        <p:nvSpPr>
          <p:cNvPr id="13" name="arch-Email"/>
          <p:cNvSpPr/>
          <p:nvPr/>
        </p:nvSpPr>
        <p:spPr>
          <a:xfrm>
            <a:off x="5577840" y="2423160"/>
            <a:ext cx="3108960" cy="548640"/>
          </a:xfrm>
          <a:prstGeom prst="rect">
            <a:avLst/>
          </a:prstGeom>
          <a:solidFill>
            <a:schemeClr val="bg1"/>
          </a:solidFill>
          <a:ln w="12700">
            <a:solidFill>
              <a:schemeClr val="accent1"/>
            </a:solidFill>
            <a:prstDash val="solid"/>
          </a:ln>
        </p:spPr>
      </p:sp>
      <p:sp>
        <p:nvSpPr>
          <p:cNvPr id="14" name="Text 11"/>
          <p:cNvSpPr txBox="1"/>
          <p:nvPr/>
        </p:nvSpPr>
        <p:spPr>
          <a:xfrm>
            <a:off x="5669280" y="242316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Email</a:t>
            </a:r>
            <a:endParaRPr lang="en-US" sz="1400" dirty="0"/>
          </a:p>
          <a:p>
            <a:pPr algn="ctr" indent="0" marL="0">
              <a:buNone/>
            </a:pPr>
            <a:r>
              <a:rPr lang="en-US" sz="1100" dirty="0">
                <a:solidFill>
                  <a:schemeClr val="tx1"/>
                </a:solidFill>
              </a:rPr>
              <a:t>Log  |  SES</a:t>
            </a:r>
            <a:endParaRPr lang="en-US" sz="1400" dirty="0"/>
          </a:p>
        </p:txBody>
      </p:sp>
      <p:sp>
        <p:nvSpPr>
          <p:cNvPr id="15" name="arch-Speech"/>
          <p:cNvSpPr/>
          <p:nvPr/>
        </p:nvSpPr>
        <p:spPr>
          <a:xfrm>
            <a:off x="5577840" y="3063240"/>
            <a:ext cx="3108960" cy="548640"/>
          </a:xfrm>
          <a:prstGeom prst="rect">
            <a:avLst/>
          </a:prstGeom>
          <a:solidFill>
            <a:schemeClr val="bg1"/>
          </a:solidFill>
          <a:ln w="12700">
            <a:solidFill>
              <a:schemeClr val="accent1"/>
            </a:solidFill>
            <a:prstDash val="solid"/>
          </a:ln>
        </p:spPr>
      </p:sp>
      <p:sp>
        <p:nvSpPr>
          <p:cNvPr id="16" name="Text 13"/>
          <p:cNvSpPr txBox="1"/>
          <p:nvPr/>
        </p:nvSpPr>
        <p:spPr>
          <a:xfrm>
            <a:off x="5669280" y="306324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Speech</a:t>
            </a:r>
            <a:endParaRPr lang="en-US" sz="1400" dirty="0"/>
          </a:p>
          <a:p>
            <a:pPr algn="ctr" indent="0" marL="0">
              <a:buNone/>
            </a:pPr>
            <a:r>
              <a:rPr lang="en-US" sz="1100" dirty="0">
                <a:solidFill>
                  <a:schemeClr val="tx1"/>
                </a:solidFill>
              </a:rPr>
              <a:t>Browser  |  Polly</a:t>
            </a:r>
            <a:endParaRPr lang="en-US" sz="1400" dirty="0"/>
          </a:p>
        </p:txBody>
      </p:sp>
      <p:sp>
        <p:nvSpPr>
          <p:cNvPr id="17" name="arch-AI"/>
          <p:cNvSpPr/>
          <p:nvPr/>
        </p:nvSpPr>
        <p:spPr>
          <a:xfrm>
            <a:off x="5577840" y="3703320"/>
            <a:ext cx="3108960" cy="548640"/>
          </a:xfrm>
          <a:prstGeom prst="rect">
            <a:avLst/>
          </a:prstGeom>
          <a:solidFill>
            <a:schemeClr val="bg1"/>
          </a:solidFill>
          <a:ln w="12700">
            <a:solidFill>
              <a:schemeClr val="accent1"/>
            </a:solidFill>
            <a:prstDash val="solid"/>
          </a:ln>
        </p:spPr>
      </p:sp>
      <p:sp>
        <p:nvSpPr>
          <p:cNvPr id="18" name="Text 15"/>
          <p:cNvSpPr txBox="1"/>
          <p:nvPr/>
        </p:nvSpPr>
        <p:spPr>
          <a:xfrm>
            <a:off x="5669280" y="370332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AI</a:t>
            </a:r>
            <a:endParaRPr lang="en-US" sz="1400" dirty="0"/>
          </a:p>
          <a:p>
            <a:pPr algn="ctr" indent="0" marL="0">
              <a:buNone/>
            </a:pPr>
            <a:r>
              <a:rPr lang="en-US" sz="1100" dirty="0">
                <a:solidFill>
                  <a:schemeClr val="tx1"/>
                </a:solidFill>
              </a:rPr>
              <a:t>MiniLM retrieval + Groq LLM</a:t>
            </a:r>
            <a:endParaRPr lang="en-US" sz="1400" dirty="0"/>
          </a:p>
        </p:txBody>
      </p:sp>
      <p:sp>
        <p:nvSpPr>
          <p:cNvPr id="19" name="Shape 16"/>
          <p:cNvSpPr/>
          <p:nvPr/>
        </p:nvSpPr>
        <p:spPr>
          <a:xfrm>
            <a:off x="2194560" y="2606040"/>
            <a:ext cx="548640" cy="0"/>
          </a:xfrm>
          <a:prstGeom prst="line">
            <a:avLst/>
          </a:prstGeom>
          <a:noFill/>
          <a:ln w="19050">
            <a:solidFill>
              <a:schemeClr val="accent1"/>
            </a:solidFill>
            <a:prstDash val="solid"/>
            <a:headEnd type="triangle"/>
            <a:tailEnd type="triangle"/>
          </a:ln>
        </p:spPr>
      </p:sp>
      <p:sp>
        <p:nvSpPr>
          <p:cNvPr id="20" name="Shape 17"/>
          <p:cNvSpPr/>
          <p:nvPr/>
        </p:nvSpPr>
        <p:spPr>
          <a:xfrm flipV="1">
            <a:off x="4937760" y="1417320"/>
            <a:ext cx="640080" cy="1188720"/>
          </a:xfrm>
          <a:prstGeom prst="line">
            <a:avLst/>
          </a:prstGeom>
          <a:noFill/>
          <a:ln w="12700">
            <a:solidFill>
              <a:schemeClr val="accent6"/>
            </a:solidFill>
            <a:prstDash val="solid"/>
            <a:tailEnd type="triangle"/>
          </a:ln>
        </p:spPr>
      </p:sp>
      <p:sp>
        <p:nvSpPr>
          <p:cNvPr id="21" name="Shape 18"/>
          <p:cNvSpPr/>
          <p:nvPr/>
        </p:nvSpPr>
        <p:spPr>
          <a:xfrm flipV="1">
            <a:off x="4937760" y="2057400"/>
            <a:ext cx="640080" cy="548640"/>
          </a:xfrm>
          <a:prstGeom prst="line">
            <a:avLst/>
          </a:prstGeom>
          <a:noFill/>
          <a:ln w="12700">
            <a:solidFill>
              <a:schemeClr val="accent6"/>
            </a:solidFill>
            <a:prstDash val="solid"/>
            <a:tailEnd type="triangle"/>
          </a:ln>
        </p:spPr>
      </p:sp>
      <p:sp>
        <p:nvSpPr>
          <p:cNvPr id="22" name="Shape 19"/>
          <p:cNvSpPr/>
          <p:nvPr/>
        </p:nvSpPr>
        <p:spPr>
          <a:xfrm>
            <a:off x="4937760" y="2606040"/>
            <a:ext cx="640080" cy="91440"/>
          </a:xfrm>
          <a:prstGeom prst="line">
            <a:avLst/>
          </a:prstGeom>
          <a:noFill/>
          <a:ln w="12700">
            <a:solidFill>
              <a:schemeClr val="accent6"/>
            </a:solidFill>
            <a:prstDash val="solid"/>
            <a:tailEnd type="triangle"/>
          </a:ln>
        </p:spPr>
      </p:sp>
      <p:sp>
        <p:nvSpPr>
          <p:cNvPr id="23" name="Shape 20"/>
          <p:cNvSpPr/>
          <p:nvPr/>
        </p:nvSpPr>
        <p:spPr>
          <a:xfrm>
            <a:off x="4937760" y="2606040"/>
            <a:ext cx="640080" cy="731520"/>
          </a:xfrm>
          <a:prstGeom prst="line">
            <a:avLst/>
          </a:prstGeom>
          <a:noFill/>
          <a:ln w="12700">
            <a:solidFill>
              <a:schemeClr val="accent6"/>
            </a:solidFill>
            <a:prstDash val="solid"/>
            <a:tailEnd type="triangle"/>
          </a:ln>
        </p:spPr>
      </p:sp>
      <p:sp>
        <p:nvSpPr>
          <p:cNvPr id="24" name="Shape 21"/>
          <p:cNvSpPr/>
          <p:nvPr/>
        </p:nvSpPr>
        <p:spPr>
          <a:xfrm>
            <a:off x="4937760" y="2606040"/>
            <a:ext cx="640080" cy="1371600"/>
          </a:xfrm>
          <a:prstGeom prst="line">
            <a:avLst/>
          </a:prstGeom>
          <a:noFill/>
          <a:ln w="12700">
            <a:solidFill>
              <a:schemeClr val="accent6"/>
            </a:solidFill>
            <a:prstDash val="solid"/>
            <a:tailEnd type="triangle"/>
          </a:ln>
        </p:spPr>
      </p:sp>
      <p:sp>
        <p:nvSpPr>
          <p:cNvPr id="25" name="Text 2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400" i="1" dirty="0">
                <a:solidFill>
                  <a:schemeClr val="accent1"/>
                </a:solidFill>
              </a:rPr>
              <a:t>Same code, two modes: no AWS keys means durable local mode; add keys and it switches to AWS.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SECURE ACCESS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Every sign-in is checked by the server</a:t>
            </a:r>
            <a:endParaRPr lang="en-US" sz="2800" dirty="0"/>
          </a:p>
        </p:txBody>
      </p:sp>
      <p:sp>
        <p:nvSpPr>
          <p:cNvPr id="5" name="frame-03-staff-pin-rejected"/>
          <p:cNvSpPr/>
          <p:nvPr/>
        </p:nvSpPr>
        <p:spPr>
          <a:xfrm>
            <a:off x="420624" y="1152144"/>
            <a:ext cx="1933989" cy="318211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3-staff-pin-rejected" descr="Wrong PIN rejected">    </p:cNvPr>
          <p:cNvPicPr>
            <a:picLocks noChangeAspect="1"/>
          </p:cNvPicPr>
          <p:nvPr/>
        </p:nvPicPr>
        <p:blipFill>
          <a:blip r:embed="rId1"/>
          <a:stretch>
            <a:fillRect/>
          </a:stretch>
        </p:blipFill>
        <p:spPr>
          <a:xfrm>
            <a:off x="457200" y="1188720"/>
            <a:ext cx="1860837" cy="3108960"/>
          </a:xfrm>
          <a:prstGeom prst="rect">
            <a:avLst/>
          </a:prstGeom>
        </p:spPr>
      </p:pic>
      <p:sp>
        <p:nvSpPr>
          <p:cNvPr id="7" name="cap-03-staff-pin-rejected"/>
          <p:cNvSpPr txBox="1"/>
          <p:nvPr/>
        </p:nvSpPr>
        <p:spPr>
          <a:xfrm>
            <a:off x="457200" y="4389120"/>
            <a:ext cx="1860837" cy="256032"/>
          </a:xfrm>
          <a:prstGeom prst="rect">
            <a:avLst/>
          </a:prstGeom>
          <a:noFill/>
          <a:ln/>
        </p:spPr>
        <p:txBody>
          <a:bodyPr wrap="square" lIns="0" tIns="0" rIns="0" bIns="0" rtlCol="0" anchor="ctr"/>
          <a:lstStyle/>
          <a:p>
            <a:pPr indent="0" marL="0">
              <a:buNone/>
            </a:pPr>
            <a:r>
              <a:rPr lang="en-US" sz="1100" i="1" dirty="0">
                <a:solidFill>
                  <a:schemeClr val="accent6"/>
                </a:solidFill>
              </a:rPr>
              <a:t>Wrong PIN rejected</a:t>
            </a:r>
            <a:endParaRPr lang="en-US" sz="1100" dirty="0"/>
          </a:p>
        </p:txBody>
      </p:sp>
      <p:sp>
        <p:nvSpPr>
          <p:cNvPr id="8" name="frame-04-student-login"/>
          <p:cNvSpPr/>
          <p:nvPr/>
        </p:nvSpPr>
        <p:spPr>
          <a:xfrm>
            <a:off x="2569464" y="1152144"/>
            <a:ext cx="2176272" cy="222756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04-student-login" descr="Student sign-in">    </p:cNvPr>
          <p:cNvPicPr>
            <a:picLocks noChangeAspect="1"/>
          </p:cNvPicPr>
          <p:nvPr/>
        </p:nvPicPr>
        <p:blipFill>
          <a:blip r:embed="rId2"/>
          <a:stretch>
            <a:fillRect/>
          </a:stretch>
        </p:blipFill>
        <p:spPr>
          <a:xfrm>
            <a:off x="2606040" y="1188720"/>
            <a:ext cx="2103120" cy="2154416"/>
          </a:xfrm>
          <a:prstGeom prst="rect">
            <a:avLst/>
          </a:prstGeom>
        </p:spPr>
      </p:pic>
      <p:sp>
        <p:nvSpPr>
          <p:cNvPr id="10" name="cap-04-student-login"/>
          <p:cNvSpPr txBox="1"/>
          <p:nvPr/>
        </p:nvSpPr>
        <p:spPr>
          <a:xfrm>
            <a:off x="2606040" y="3434576"/>
            <a:ext cx="2103120" cy="256032"/>
          </a:xfrm>
          <a:prstGeom prst="rect">
            <a:avLst/>
          </a:prstGeom>
          <a:noFill/>
          <a:ln/>
        </p:spPr>
        <p:txBody>
          <a:bodyPr wrap="square" lIns="0" tIns="0" rIns="0" bIns="0" rtlCol="0" anchor="ctr"/>
          <a:lstStyle/>
          <a:p>
            <a:pPr indent="0" marL="0">
              <a:buNone/>
            </a:pPr>
            <a:r>
              <a:rPr lang="en-US" sz="1100" i="1" dirty="0">
                <a:solidFill>
                  <a:schemeClr val="accent6"/>
                </a:solidFill>
              </a:rPr>
              <a:t>Student sign-in</a:t>
            </a:r>
            <a:endParaRPr lang="en-US" sz="1100" dirty="0"/>
          </a:p>
        </p:txBody>
      </p:sp>
      <p:sp>
        <p:nvSpPr>
          <p:cNvPr id="11" name="Text 6"/>
          <p:cNvSpPr txBox="1"/>
          <p:nvPr/>
        </p:nvSpPr>
        <p:spPr>
          <a:xfrm>
            <a:off x="5120640" y="1188720"/>
            <a:ext cx="3566160" cy="777240"/>
          </a:xfrm>
          <a:prstGeom prst="rect">
            <a:avLst/>
          </a:prstGeom>
          <a:noFill/>
          <a:ln/>
        </p:spPr>
        <p:txBody>
          <a:bodyPr wrap="square" lIns="0" tIns="0" rIns="0" bIns="0" rtlCol="0" anchor="t"/>
          <a:lstStyle/>
          <a:p>
            <a:pPr indent="0" marL="0">
              <a:buNone/>
            </a:pPr>
            <a:r>
              <a:rPr lang="en-US" sz="1500" b="1" dirty="0">
                <a:solidFill>
                  <a:schemeClr val="tx1"/>
                </a:solidFill>
              </a:rPr>
              <a:t>Server-verified</a:t>
            </a:r>
            <a:endParaRPr lang="en-US" sz="1500" dirty="0"/>
          </a:p>
          <a:p>
            <a:pPr indent="0" marL="0">
              <a:buNone/>
            </a:pPr>
            <a:r>
              <a:rPr lang="en-US" sz="1400" dirty="0">
                <a:solidFill>
                  <a:schemeClr val="accent6"/>
                </a:solidFill>
              </a:rPr>
              <a:t>PBKDF2-hashed PINs and codes; signed, expiring sessions</a:t>
            </a:r>
            <a:endParaRPr lang="en-US" sz="1500" dirty="0"/>
          </a:p>
        </p:txBody>
      </p:sp>
      <p:sp>
        <p:nvSpPr>
          <p:cNvPr id="12" name="Text 7"/>
          <p:cNvSpPr txBox="1"/>
          <p:nvPr/>
        </p:nvSpPr>
        <p:spPr>
          <a:xfrm>
            <a:off x="5120640" y="2039112"/>
            <a:ext cx="3566160" cy="777240"/>
          </a:xfrm>
          <a:prstGeom prst="rect">
            <a:avLst/>
          </a:prstGeom>
          <a:noFill/>
          <a:ln/>
        </p:spPr>
        <p:txBody>
          <a:bodyPr wrap="square" lIns="0" tIns="0" rIns="0" bIns="0" rtlCol="0" anchor="t"/>
          <a:lstStyle/>
          <a:p>
            <a:pPr indent="0" marL="0">
              <a:buNone/>
            </a:pPr>
            <a:r>
              <a:rPr lang="en-US" sz="1500" b="1" dirty="0">
                <a:solidFill>
                  <a:schemeClr val="tx1"/>
                </a:solidFill>
              </a:rPr>
              <a:t>Role-scoped APIs</a:t>
            </a:r>
            <a:endParaRPr lang="en-US" sz="1500" dirty="0"/>
          </a:p>
          <a:p>
            <a:pPr indent="0" marL="0">
              <a:buNone/>
            </a:pPr>
            <a:r>
              <a:rPr lang="en-US" sz="1400" dirty="0">
                <a:solidFill>
                  <a:schemeClr val="accent6"/>
                </a:solidFill>
              </a:rPr>
              <a:t>A student calling an admin endpoint gets 403</a:t>
            </a:r>
            <a:endParaRPr lang="en-US" sz="1500" dirty="0"/>
          </a:p>
        </p:txBody>
      </p:sp>
      <p:sp>
        <p:nvSpPr>
          <p:cNvPr id="13" name="Text 8"/>
          <p:cNvSpPr txBox="1"/>
          <p:nvPr/>
        </p:nvSpPr>
        <p:spPr>
          <a:xfrm>
            <a:off x="5120640" y="2889504"/>
            <a:ext cx="3566160" cy="777240"/>
          </a:xfrm>
          <a:prstGeom prst="rect">
            <a:avLst/>
          </a:prstGeom>
          <a:noFill/>
          <a:ln/>
        </p:spPr>
        <p:txBody>
          <a:bodyPr wrap="square" lIns="0" tIns="0" rIns="0" bIns="0" rtlCol="0" anchor="t"/>
          <a:lstStyle/>
          <a:p>
            <a:pPr indent="0" marL="0">
              <a:buNone/>
            </a:pPr>
            <a:r>
              <a:rPr lang="en-US" sz="1500" b="1" dirty="0">
                <a:solidFill>
                  <a:schemeClr val="tx1"/>
                </a:solidFill>
              </a:rPr>
              <a:t>Brute-force throttle</a:t>
            </a:r>
            <a:endParaRPr lang="en-US" sz="1500" dirty="0"/>
          </a:p>
          <a:p>
            <a:pPr indent="0" marL="0">
              <a:buNone/>
            </a:pPr>
            <a:r>
              <a:rPr lang="en-US" sz="1400" dirty="0">
                <a:solidFill>
                  <a:schemeClr val="accent6"/>
                </a:solidFill>
              </a:rPr>
              <a:t>10 failures in 5 minutes blocks the client</a:t>
            </a:r>
            <a:endParaRPr lang="en-US" sz="1500" dirty="0"/>
          </a:p>
        </p:txBody>
      </p:sp>
      <p:sp>
        <p:nvSpPr>
          <p:cNvPr id="14" name="Text 9"/>
          <p:cNvSpPr txBox="1"/>
          <p:nvPr/>
        </p:nvSpPr>
        <p:spPr>
          <a:xfrm>
            <a:off x="5120640" y="3739896"/>
            <a:ext cx="3566160" cy="777240"/>
          </a:xfrm>
          <a:prstGeom prst="rect">
            <a:avLst/>
          </a:prstGeom>
          <a:noFill/>
          <a:ln/>
        </p:spPr>
        <p:txBody>
          <a:bodyPr wrap="square" lIns="0" tIns="0" rIns="0" bIns="0" rtlCol="0" anchor="t"/>
          <a:lstStyle/>
          <a:p>
            <a:pPr indent="0" marL="0">
              <a:buNone/>
            </a:pPr>
            <a:r>
              <a:rPr lang="en-US" sz="1500" b="1" dirty="0">
                <a:solidFill>
                  <a:schemeClr val="tx1"/>
                </a:solidFill>
              </a:rPr>
              <a:t>Safe by default</a:t>
            </a:r>
            <a:endParaRPr lang="en-US" sz="1500" dirty="0"/>
          </a:p>
          <a:p>
            <a:pPr indent="0" marL="0">
              <a:buNone/>
            </a:pPr>
            <a:r>
              <a:rPr lang="en-US" sz="1400" dirty="0">
                <a:solidFill>
                  <a:schemeClr val="accent6"/>
                </a:solidFill>
              </a:rPr>
              <a:t>Demo hints only in dev; prod requires real secrets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USE-CASE SCENARIOS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Ten flows, captured live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Each scenario crosses roles: a student acts, staff respond, and both see the same persisted record.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Leave request with medical proof</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Fill dates and reason</a:t>
            </a:r>
            <a:endParaRPr lang="en-US" sz="1500" dirty="0"/>
          </a:p>
          <a:p>
            <a:pPr indent="0" marL="0">
              <a:spcAft>
                <a:spcPts val="200"/>
              </a:spcAft>
              <a:buNone/>
            </a:pPr>
            <a:r>
              <a:rPr lang="en-US" sz="1400" dirty="0">
                <a:solidFill>
                  <a:schemeClr val="accent6"/>
                </a:solidFill>
              </a:rPr>
              <a:t>Past dates and end-before-start are blocked</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Attach the certificate</a:t>
            </a:r>
            <a:endParaRPr lang="en-US" sz="1500" dirty="0"/>
          </a:p>
          <a:p>
            <a:pPr indent="0" marL="0">
              <a:spcAft>
                <a:spcPts val="200"/>
              </a:spcAft>
              <a:buNone/>
            </a:pPr>
            <a:r>
              <a:rPr lang="en-US" sz="1400" dirty="0">
                <a:solidFill>
                  <a:schemeClr val="accent6"/>
                </a:solidFill>
              </a:rPr>
              <a:t>PDF/PNG/JPG, checked by content, kept private</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Submit</a:t>
            </a:r>
            <a:endParaRPr lang="en-US" sz="1500" dirty="0"/>
          </a:p>
          <a:p>
            <a:pPr indent="0" marL="0">
              <a:spcAft>
                <a:spcPts val="200"/>
              </a:spcAft>
              <a:buNone/>
            </a:pPr>
            <a:r>
              <a:rPr lang="en-US" sz="1400" dirty="0">
                <a:solidFill>
                  <a:schemeClr val="accent6"/>
                </a:solidFill>
              </a:rPr>
              <a:t>Guardian is emailed automatically (SES)</a:t>
            </a:r>
            <a:endParaRPr lang="en-US" sz="1500" dirty="0"/>
          </a:p>
        </p:txBody>
      </p:sp>
      <p:sp>
        <p:nvSpPr>
          <p:cNvPr id="14" name="frame-f-leave-form"/>
          <p:cNvSpPr/>
          <p:nvPr/>
        </p:nvSpPr>
        <p:spPr>
          <a:xfrm>
            <a:off x="5290433" y="1078992"/>
            <a:ext cx="2586494"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f-leave-form" descr="f-leave-form">    </p:cNvPr>
          <p:cNvPicPr>
            <a:picLocks noChangeAspect="1"/>
          </p:cNvPicPr>
          <p:nvPr/>
        </p:nvPicPr>
        <p:blipFill>
          <a:blip r:embed="rId1"/>
          <a:stretch>
            <a:fillRect/>
          </a:stretch>
        </p:blipFill>
        <p:spPr>
          <a:xfrm>
            <a:off x="5327009" y="1115568"/>
            <a:ext cx="2513342" cy="3584448"/>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Warden reviews the proof and approves</a:t>
            </a:r>
            <a:endParaRPr lang="en-US" sz="2800" dirty="0"/>
          </a:p>
        </p:txBody>
      </p:sp>
      <p:sp>
        <p:nvSpPr>
          <p:cNvPr id="5" name="frame-f-warden-leaves"/>
          <p:cNvSpPr/>
          <p:nvPr/>
        </p:nvSpPr>
        <p:spPr>
          <a:xfrm>
            <a:off x="420624" y="1152144"/>
            <a:ext cx="4050792" cy="285431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leaves" descr="f-warden-leaves">    </p:cNvPr>
          <p:cNvPicPr>
            <a:picLocks noChangeAspect="1"/>
          </p:cNvPicPr>
          <p:nvPr/>
        </p:nvPicPr>
        <p:blipFill>
          <a:blip r:embed="rId1"/>
          <a:stretch>
            <a:fillRect/>
          </a:stretch>
        </p:blipFill>
        <p:spPr>
          <a:xfrm>
            <a:off x="457200" y="1188720"/>
            <a:ext cx="3977640" cy="2781166"/>
          </a:xfrm>
          <a:prstGeom prst="rect">
            <a:avLst/>
          </a:prstGeom>
        </p:spPr>
      </p:pic>
      <p:sp>
        <p:nvSpPr>
          <p:cNvPr id="7" name="cap-f-warden-leaves"/>
          <p:cNvSpPr txBox="1"/>
          <p:nvPr/>
        </p:nvSpPr>
        <p:spPr>
          <a:xfrm>
            <a:off x="457200" y="4061326"/>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Pending queue with the private attachment link</a:t>
            </a:r>
            <a:endParaRPr lang="en-US" sz="1100" dirty="0"/>
          </a:p>
        </p:txBody>
      </p:sp>
      <p:sp>
        <p:nvSpPr>
          <p:cNvPr id="8" name="frame-f-leave-approved"/>
          <p:cNvSpPr/>
          <p:nvPr/>
        </p:nvSpPr>
        <p:spPr>
          <a:xfrm>
            <a:off x="5624801" y="1152144"/>
            <a:ext cx="2146359"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leave-approved" descr="f-leave-approved">    </p:cNvPr>
          <p:cNvPicPr>
            <a:picLocks noChangeAspect="1"/>
          </p:cNvPicPr>
          <p:nvPr/>
        </p:nvPicPr>
        <p:blipFill>
          <a:blip r:embed="rId2"/>
          <a:stretch>
            <a:fillRect/>
          </a:stretch>
        </p:blipFill>
        <p:spPr>
          <a:xfrm>
            <a:off x="5661377" y="1188720"/>
            <a:ext cx="2073207" cy="3127248"/>
          </a:xfrm>
          <a:prstGeom prst="rect">
            <a:avLst/>
          </a:prstGeom>
        </p:spPr>
      </p:pic>
      <p:sp>
        <p:nvSpPr>
          <p:cNvPr id="10" name="cap-f-leave-approved"/>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student sees "Approved" instantly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2</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Visitor pass in two clicks</a:t>
            </a:r>
            <a:endParaRPr lang="en-US" sz="2800" dirty="0"/>
          </a:p>
        </p:txBody>
      </p:sp>
      <p:sp>
        <p:nvSpPr>
          <p:cNvPr id="5" name="frame-f-warden-visitors"/>
          <p:cNvSpPr/>
          <p:nvPr/>
        </p:nvSpPr>
        <p:spPr>
          <a:xfrm>
            <a:off x="420624" y="1152144"/>
            <a:ext cx="4050792" cy="2580656"/>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visitors" descr="f-warden-visitors">    </p:cNvPr>
          <p:cNvPicPr>
            <a:picLocks noChangeAspect="1"/>
          </p:cNvPicPr>
          <p:nvPr/>
        </p:nvPicPr>
        <p:blipFill>
          <a:blip r:embed="rId1"/>
          <a:stretch>
            <a:fillRect/>
          </a:stretch>
        </p:blipFill>
        <p:spPr>
          <a:xfrm>
            <a:off x="457200" y="1188720"/>
            <a:ext cx="3977640" cy="2507504"/>
          </a:xfrm>
          <a:prstGeom prst="rect">
            <a:avLst/>
          </a:prstGeom>
        </p:spPr>
      </p:pic>
      <p:sp>
        <p:nvSpPr>
          <p:cNvPr id="7" name="cap-f-warden-visitors"/>
          <p:cNvSpPr txBox="1"/>
          <p:nvPr/>
        </p:nvSpPr>
        <p:spPr>
          <a:xfrm>
            <a:off x="457200" y="3787664"/>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Warden approves the pending request</a:t>
            </a:r>
            <a:endParaRPr lang="en-US" sz="1100" dirty="0"/>
          </a:p>
        </p:txBody>
      </p:sp>
      <p:sp>
        <p:nvSpPr>
          <p:cNvPr id="8" name="frame-f-visitor-pass"/>
          <p:cNvSpPr/>
          <p:nvPr/>
        </p:nvSpPr>
        <p:spPr>
          <a:xfrm>
            <a:off x="4672584" y="1152144"/>
            <a:ext cx="4050792" cy="150744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visitor-pass" descr="f-visitor-pass">    </p:cNvPr>
          <p:cNvPicPr>
            <a:picLocks noChangeAspect="1"/>
          </p:cNvPicPr>
          <p:nvPr/>
        </p:nvPicPr>
        <p:blipFill>
          <a:blip r:embed="rId2"/>
          <a:stretch>
            <a:fillRect/>
          </a:stretch>
        </p:blipFill>
        <p:spPr>
          <a:xfrm>
            <a:off x="4709160" y="1188720"/>
            <a:ext cx="3977640" cy="1434290"/>
          </a:xfrm>
          <a:prstGeom prst="rect">
            <a:avLst/>
          </a:prstGeom>
        </p:spPr>
      </p:pic>
      <p:sp>
        <p:nvSpPr>
          <p:cNvPr id="10" name="cap-f-visitor-pass"/>
          <p:cNvSpPr txBox="1"/>
          <p:nvPr/>
        </p:nvSpPr>
        <p:spPr>
          <a:xfrm>
            <a:off x="4709160" y="2714450"/>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receives a gate pass code on approval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ADMIN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New billing cycle from the power monitor</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Inspect the load</a:t>
            </a:r>
            <a:endParaRPr lang="en-US" sz="1500" dirty="0"/>
          </a:p>
          <a:p>
            <a:pPr indent="0" marL="0">
              <a:spcAft>
                <a:spcPts val="200"/>
              </a:spcAft>
              <a:buNone/>
            </a:pPr>
            <a:r>
              <a:rPr lang="en-US" sz="1400" dirty="0">
                <a:solidFill>
                  <a:schemeClr val="accent6"/>
                </a:solidFill>
              </a:rPr>
              <a:t>Per-zone consumption vs. baseline</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Set the rate</a:t>
            </a:r>
            <a:endParaRPr lang="en-US" sz="1500" dirty="0"/>
          </a:p>
          <a:p>
            <a:pPr indent="0" marL="0">
              <a:spcAft>
                <a:spcPts val="200"/>
              </a:spcAft>
              <a:buNone/>
            </a:pPr>
            <a:r>
              <a:rPr lang="en-US" sz="1400" dirty="0">
                <a:solidFill>
                  <a:schemeClr val="accent6"/>
                </a:solidFill>
              </a:rPr>
              <a:t>Validated between ₹0.01 and ₹100 per kWh</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Dispatch</a:t>
            </a:r>
            <a:endParaRPr lang="en-US" sz="1500" dirty="0"/>
          </a:p>
          <a:p>
            <a:pPr indent="0" marL="0">
              <a:spcAft>
                <a:spcPts val="200"/>
              </a:spcAft>
              <a:buNone/>
            </a:pPr>
            <a:r>
              <a:rPr lang="en-US" sz="1400" dirty="0">
                <a:solidFill>
                  <a:schemeClr val="accent6"/>
                </a:solidFill>
              </a:rPr>
              <a:t>A new cycle ID is pushed to every student portal</a:t>
            </a:r>
            <a:endParaRPr lang="en-US" sz="1500" dirty="0"/>
          </a:p>
        </p:txBody>
      </p:sp>
      <p:sp>
        <p:nvSpPr>
          <p:cNvPr id="14" name="frame-16-admin-power-billing"/>
          <p:cNvSpPr/>
          <p:nvPr/>
        </p:nvSpPr>
        <p:spPr>
          <a:xfrm>
            <a:off x="3986784" y="1078992"/>
            <a:ext cx="4731838"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16-admin-power-billing" descr="16-admin-power-billing">    </p:cNvPr>
          <p:cNvPicPr>
            <a:picLocks noChangeAspect="1"/>
          </p:cNvPicPr>
          <p:nvPr/>
        </p:nvPicPr>
        <p:blipFill>
          <a:blip r:embed="rId1"/>
          <a:stretch>
            <a:fillRect/>
          </a:stretch>
        </p:blipFill>
        <p:spPr>
          <a:xfrm>
            <a:off x="4023360" y="1115568"/>
            <a:ext cx="4658686" cy="3584448"/>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Dues calculated on the server, paid by UPI</a:t>
            </a:r>
            <a:endParaRPr lang="en-US" sz="2800" dirty="0"/>
          </a:p>
        </p:txBody>
      </p:sp>
      <p:sp>
        <p:nvSpPr>
          <p:cNvPr id="5" name="frame-17-payment-modal"/>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17-payment-modal" descr="17-payment-modal">    </p:cNvPr>
          <p:cNvPicPr>
            <a:picLocks noChangeAspect="1"/>
          </p:cNvPicPr>
          <p:nvPr/>
        </p:nvPicPr>
        <p:blipFill>
          <a:blip r:embed="rId1"/>
          <a:stretch>
            <a:fillRect/>
          </a:stretch>
        </p:blipFill>
        <p:spPr>
          <a:xfrm>
            <a:off x="457200" y="1188720"/>
            <a:ext cx="3977640" cy="3060443"/>
          </a:xfrm>
          <a:prstGeom prst="rect">
            <a:avLst/>
          </a:prstGeom>
        </p:spPr>
      </p:pic>
      <p:sp>
        <p:nvSpPr>
          <p:cNvPr id="7" name="cap-17-payment-modal"/>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UPI authorisation for the server-computed total</a:t>
            </a:r>
            <a:endParaRPr lang="en-US" sz="1100" dirty="0"/>
          </a:p>
        </p:txBody>
      </p:sp>
      <p:sp>
        <p:nvSpPr>
          <p:cNvPr id="8" name="frame-f-dues-paid"/>
          <p:cNvSpPr/>
          <p:nvPr/>
        </p:nvSpPr>
        <p:spPr>
          <a:xfrm>
            <a:off x="5685279" y="1152144"/>
            <a:ext cx="2025401"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dues-paid" descr="f-dues-paid">    </p:cNvPr>
          <p:cNvPicPr>
            <a:picLocks noChangeAspect="1"/>
          </p:cNvPicPr>
          <p:nvPr/>
        </p:nvPicPr>
        <p:blipFill>
          <a:blip r:embed="rId2"/>
          <a:stretch>
            <a:fillRect/>
          </a:stretch>
        </p:blipFill>
        <p:spPr>
          <a:xfrm>
            <a:off x="5721855" y="1188720"/>
            <a:ext cx="1952249" cy="3127248"/>
          </a:xfrm>
          <a:prstGeom prst="rect">
            <a:avLst/>
          </a:prstGeom>
        </p:spPr>
      </p:pic>
      <p:sp>
        <p:nvSpPr>
          <p:cNvPr id="10" name="cap-f-dues-paid"/>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Receipt stored against the billing cycle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100 seeded students feed the allocation engine</a:t>
            </a:r>
            <a:endParaRPr lang="en-US" sz="2800" dirty="0"/>
          </a:p>
        </p:txBody>
      </p:sp>
      <p:sp>
        <p:nvSpPr>
          <p:cNvPr id="5" name="frame-22-survey-responses"/>
          <p:cNvSpPr/>
          <p:nvPr/>
        </p:nvSpPr>
        <p:spPr>
          <a:xfrm>
            <a:off x="420624" y="1106424"/>
            <a:ext cx="5696712" cy="3589531"/>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22-survey-responses" descr="22-survey-responses">    </p:cNvPr>
          <p:cNvPicPr>
            <a:picLocks noChangeAspect="1"/>
          </p:cNvPicPr>
          <p:nvPr/>
        </p:nvPicPr>
        <p:blipFill>
          <a:blip r:embed="rId1"/>
          <a:stretch>
            <a:fillRect/>
          </a:stretch>
        </p:blipFill>
        <p:spPr>
          <a:xfrm>
            <a:off x="457200" y="1143000"/>
            <a:ext cx="5623560" cy="3516379"/>
          </a:xfrm>
          <a:prstGeom prst="rect">
            <a:avLst/>
          </a:prstGeom>
        </p:spPr>
      </p:pic>
      <p:sp>
        <p:nvSpPr>
          <p:cNvPr id="7" name="stat-live survey responses (100 seeded + 1 new)"/>
          <p:cNvSpPr txBox="1"/>
          <p:nvPr/>
        </p:nvSpPr>
        <p:spPr>
          <a:xfrm>
            <a:off x="6446520" y="1280160"/>
            <a:ext cx="2240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101</a:t>
            </a:r>
            <a:endParaRPr lang="en-US" sz="4000" dirty="0"/>
          </a:p>
        </p:txBody>
      </p:sp>
      <p:sp>
        <p:nvSpPr>
          <p:cNvPr id="8" name="Text 4"/>
          <p:cNvSpPr txBox="1"/>
          <p:nvPr/>
        </p:nvSpPr>
        <p:spPr>
          <a:xfrm>
            <a:off x="6446520" y="199339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live survey responses (100 seeded + 1 new)</a:t>
            </a:r>
            <a:endParaRPr lang="en-US" sz="1400" dirty="0"/>
          </a:p>
        </p:txBody>
      </p:sp>
      <p:sp>
        <p:nvSpPr>
          <p:cNvPr id="9" name="stat-Excel export with the ML feature matrix"/>
          <p:cNvSpPr txBox="1"/>
          <p:nvPr/>
        </p:nvSpPr>
        <p:spPr>
          <a:xfrm>
            <a:off x="6446520" y="2697480"/>
            <a:ext cx="2240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1-click</a:t>
            </a:r>
            <a:endParaRPr lang="en-US" sz="4000" dirty="0"/>
          </a:p>
        </p:txBody>
      </p:sp>
      <p:sp>
        <p:nvSpPr>
          <p:cNvPr id="10" name="Text 6"/>
          <p:cNvSpPr txBox="1"/>
          <p:nvPr/>
        </p:nvSpPr>
        <p:spPr>
          <a:xfrm>
            <a:off x="6446520" y="341071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Excel export with the ML feature matrix</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MATCHING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Compatibility ranks real roommates</a:t>
            </a:r>
            <a:endParaRPr lang="en-US" sz="2800" dirty="0"/>
          </a:p>
        </p:txBody>
      </p:sp>
      <p:sp>
        <p:nvSpPr>
          <p:cNvPr id="5" name="frame-f-compat"/>
          <p:cNvSpPr/>
          <p:nvPr/>
        </p:nvSpPr>
        <p:spPr>
          <a:xfrm>
            <a:off x="555791" y="1078992"/>
            <a:ext cx="2180258"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compat" descr="f-compat">    </p:cNvPr>
          <p:cNvPicPr>
            <a:picLocks noChangeAspect="1"/>
          </p:cNvPicPr>
          <p:nvPr/>
        </p:nvPicPr>
        <p:blipFill>
          <a:blip r:embed="rId1"/>
          <a:stretch>
            <a:fillRect/>
          </a:stretch>
        </p:blipFill>
        <p:spPr>
          <a:xfrm>
            <a:off x="592367" y="1115568"/>
            <a:ext cx="2107106" cy="3584448"/>
          </a:xfrm>
          <a:prstGeom prst="rect">
            <a:avLst/>
          </a:prstGeom>
        </p:spPr>
      </p:pic>
      <p:graphicFrame>
        <p:nvGraphicFramePr>
          <p:cNvPr id="7" name="Chart 0" descr=""/>
          <p:cNvGraphicFramePr/>
          <p:nvPr/>
        </p:nvGraphicFramePr>
        <p:xfrm>
          <a:off x="3200400" y="1143000"/>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8" name="Text 3"/>
          <p:cNvSpPr txBox="1"/>
          <p:nvPr/>
        </p:nvSpPr>
        <p:spPr>
          <a:xfrm>
            <a:off x="3200400" y="4023360"/>
            <a:ext cx="5486400" cy="548640"/>
          </a:xfrm>
          <a:prstGeom prst="rect">
            <a:avLst/>
          </a:prstGeom>
          <a:noFill/>
          <a:ln/>
        </p:spPr>
        <p:txBody>
          <a:bodyPr wrap="square" lIns="0" tIns="0" rIns="0" bIns="0" rtlCol="0" anchor="t"/>
          <a:lstStyle/>
          <a:p>
            <a:pPr indent="0" marL="0">
              <a:buNone/>
            </a:pPr>
            <a:r>
              <a:rPr lang="en-US" sz="1400" i="1" dirty="0">
                <a:solidFill>
                  <a:schemeClr val="accent1"/>
                </a:solidFill>
              </a:rPr>
              <a:t>Pratik's own answers match his search at 100%; the next-best residents follow at 95% and 90%.</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ALLOCATION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Capacity-checked room allocation</a:t>
            </a:r>
            <a:endParaRPr lang="en-US" sz="2800" dirty="0"/>
          </a:p>
        </p:txBody>
      </p:sp>
      <p:sp>
        <p:nvSpPr>
          <p:cNvPr id="5" name="frame-25-allocate-modal"/>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25-allocate-modal" descr="25-allocate-modal">    </p:cNvPr>
          <p:cNvPicPr>
            <a:picLocks noChangeAspect="1"/>
          </p:cNvPicPr>
          <p:nvPr/>
        </p:nvPicPr>
        <p:blipFill>
          <a:blip r:embed="rId1"/>
          <a:stretch>
            <a:fillRect/>
          </a:stretch>
        </p:blipFill>
        <p:spPr>
          <a:xfrm>
            <a:off x="457200" y="1188720"/>
            <a:ext cx="3977640" cy="3060443"/>
          </a:xfrm>
          <a:prstGeom prst="rect">
            <a:avLst/>
          </a:prstGeom>
        </p:spPr>
      </p:pic>
      <p:sp>
        <p:nvSpPr>
          <p:cNvPr id="7" name="cap-25-allocate-modal"/>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Allocating a resident to a room with a free bed</a:t>
            </a:r>
            <a:endParaRPr lang="en-US" sz="1100" dirty="0"/>
          </a:p>
        </p:txBody>
      </p:sp>
      <p:sp>
        <p:nvSpPr>
          <p:cNvPr id="8" name="frame-26-room-allocated"/>
          <p:cNvSpPr/>
          <p:nvPr/>
        </p:nvSpPr>
        <p:spPr>
          <a:xfrm>
            <a:off x="467258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26-room-allocated" descr="26-room-allocated">    </p:cNvPr>
          <p:cNvPicPr>
            <a:picLocks noChangeAspect="1"/>
          </p:cNvPicPr>
          <p:nvPr/>
        </p:nvPicPr>
        <p:blipFill>
          <a:blip r:embed="rId2"/>
          <a:stretch>
            <a:fillRect/>
          </a:stretch>
        </p:blipFill>
        <p:spPr>
          <a:xfrm>
            <a:off x="4709160" y="1188720"/>
            <a:ext cx="3977640" cy="3060443"/>
          </a:xfrm>
          <a:prstGeom prst="rect">
            <a:avLst/>
          </a:prstGeom>
        </p:spPr>
      </p:pic>
      <p:sp>
        <p:nvSpPr>
          <p:cNvPr id="10" name="cap-26-room-allocated"/>
          <p:cNvSpPr txBox="1"/>
          <p:nvPr/>
        </p:nvSpPr>
        <p:spPr>
          <a:xfrm>
            <a:off x="470916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Occupancy updates and persists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5</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Complaints triaged by severity</a:t>
            </a:r>
            <a:endParaRPr lang="en-US" sz="2800" dirty="0"/>
          </a:p>
        </p:txBody>
      </p:sp>
      <p:sp>
        <p:nvSpPr>
          <p:cNvPr id="5" name="frame-f-triage"/>
          <p:cNvSpPr/>
          <p:nvPr/>
        </p:nvSpPr>
        <p:spPr>
          <a:xfrm>
            <a:off x="1029017" y="1152144"/>
            <a:ext cx="2834006"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triage" descr="f-triage">    </p:cNvPr>
          <p:cNvPicPr>
            <a:picLocks noChangeAspect="1"/>
          </p:cNvPicPr>
          <p:nvPr/>
        </p:nvPicPr>
        <p:blipFill>
          <a:blip r:embed="rId1"/>
          <a:stretch>
            <a:fillRect/>
          </a:stretch>
        </p:blipFill>
        <p:spPr>
          <a:xfrm>
            <a:off x="1065593" y="1188720"/>
            <a:ext cx="2760854" cy="3127248"/>
          </a:xfrm>
          <a:prstGeom prst="rect">
            <a:avLst/>
          </a:prstGeom>
        </p:spPr>
      </p:pic>
      <p:sp>
        <p:nvSpPr>
          <p:cNvPr id="7" name="cap-f-triage"/>
          <p:cNvSpPr txBox="1"/>
          <p:nvPr/>
        </p:nvSpPr>
        <p:spPr>
          <a:xfrm>
            <a:off x="45720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Washroom leak: Plumbing, high priority, 12 h SLA</a:t>
            </a:r>
            <a:endParaRPr lang="en-US" sz="1100" dirty="0"/>
          </a:p>
        </p:txBody>
      </p:sp>
      <p:sp>
        <p:nvSpPr>
          <p:cNvPr id="8" name="frame-f-complaint-ledger"/>
          <p:cNvSpPr/>
          <p:nvPr/>
        </p:nvSpPr>
        <p:spPr>
          <a:xfrm>
            <a:off x="5001605" y="1152144"/>
            <a:ext cx="3392751"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complaint-ledger" descr="f-complaint-ledger">    </p:cNvPr>
          <p:cNvPicPr>
            <a:picLocks noChangeAspect="1"/>
          </p:cNvPicPr>
          <p:nvPr/>
        </p:nvPicPr>
        <p:blipFill>
          <a:blip r:embed="rId2"/>
          <a:stretch>
            <a:fillRect/>
          </a:stretch>
        </p:blipFill>
        <p:spPr>
          <a:xfrm>
            <a:off x="5038181" y="1188720"/>
            <a:ext cx="3319599" cy="3127248"/>
          </a:xfrm>
          <a:prstGeom prst="rect">
            <a:avLst/>
          </a:prstGeom>
        </p:spPr>
      </p:pic>
      <p:sp>
        <p:nvSpPr>
          <p:cNvPr id="10" name="cap-f-complaint-ledger"/>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Sparking socket filed earlier: Electrical, critical, 2 h</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6</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Handbook assistant answers with citations</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Retrieve</a:t>
            </a:r>
            <a:endParaRPr lang="en-US" sz="1500" dirty="0"/>
          </a:p>
          <a:p>
            <a:pPr indent="0" marL="0">
              <a:spcAft>
                <a:spcPts val="200"/>
              </a:spcAft>
              <a:buNone/>
            </a:pPr>
            <a:r>
              <a:rPr lang="en-US" sz="1400" dirty="0">
                <a:solidFill>
                  <a:schemeClr val="accent6"/>
                </a:solidFill>
              </a:rPr>
              <a:t>MiniLM embeddings over six rulebooks</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Ground</a:t>
            </a:r>
            <a:endParaRPr lang="en-US" sz="1500" dirty="0"/>
          </a:p>
          <a:p>
            <a:pPr indent="0" marL="0">
              <a:spcAft>
                <a:spcPts val="200"/>
              </a:spcAft>
              <a:buNone/>
            </a:pPr>
            <a:r>
              <a:rPr lang="en-US" sz="1400" dirty="0">
                <a:solidFill>
                  <a:schemeClr val="accent6"/>
                </a:solidFill>
              </a:rPr>
              <a:t>LLM answers only from the retrieved text</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Cite and speak</a:t>
            </a:r>
            <a:endParaRPr lang="en-US" sz="1500" dirty="0"/>
          </a:p>
          <a:p>
            <a:pPr indent="0" marL="0">
              <a:spcAft>
                <a:spcPts val="200"/>
              </a:spcAft>
              <a:buNone/>
            </a:pPr>
            <a:r>
              <a:rPr lang="en-US" sz="1400" dirty="0">
                <a:solidFill>
                  <a:schemeClr val="accent6"/>
                </a:solidFill>
              </a:rPr>
              <a:t>Source files listed; Polly or browser voice</a:t>
            </a:r>
            <a:endParaRPr lang="en-US" sz="1500" dirty="0"/>
          </a:p>
        </p:txBody>
      </p:sp>
      <p:sp>
        <p:nvSpPr>
          <p:cNvPr id="14" name="frame-29-ai-assistant"/>
          <p:cNvSpPr/>
          <p:nvPr/>
        </p:nvSpPr>
        <p:spPr>
          <a:xfrm>
            <a:off x="3986784" y="1078992"/>
            <a:ext cx="4731838"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29-ai-assistant" descr="29-ai-assistant">    </p:cNvPr>
          <p:cNvPicPr>
            <a:picLocks noChangeAspect="1"/>
          </p:cNvPicPr>
          <p:nvPr/>
        </p:nvPicPr>
        <p:blipFill>
          <a:blip r:embed="rId1"/>
          <a:stretch>
            <a:fillRect/>
          </a:stretch>
        </p:blipFill>
        <p:spPr>
          <a:xfrm>
            <a:off x="4023360" y="1115568"/>
            <a:ext cx="4658686" cy="3584448"/>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MESS MANAGER</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Weekly menu published from Excel</a:t>
            </a:r>
            <a:endParaRPr lang="en-US" sz="2800" dirty="0"/>
          </a:p>
        </p:txBody>
      </p:sp>
      <p:sp>
        <p:nvSpPr>
          <p:cNvPr id="5" name="frame-30-mess-manager-upload"/>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0-mess-manager-upload" descr="30-mess-manager-upload">    </p:cNvPr>
          <p:cNvPicPr>
            <a:picLocks noChangeAspect="1"/>
          </p:cNvPicPr>
          <p:nvPr/>
        </p:nvPicPr>
        <p:blipFill>
          <a:blip r:embed="rId1"/>
          <a:stretch>
            <a:fillRect/>
          </a:stretch>
        </p:blipFill>
        <p:spPr>
          <a:xfrm>
            <a:off x="457200" y="1188720"/>
            <a:ext cx="3977640" cy="3060443"/>
          </a:xfrm>
          <a:prstGeom prst="rect">
            <a:avLst/>
          </a:prstGeom>
        </p:spPr>
      </p:pic>
      <p:sp>
        <p:nvSpPr>
          <p:cNvPr id="7" name="cap-30-mess-manager-upload"/>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Upload and publish the weekly menu</a:t>
            </a:r>
            <a:endParaRPr lang="en-US" sz="1100" dirty="0"/>
          </a:p>
        </p:txBody>
      </p:sp>
      <p:sp>
        <p:nvSpPr>
          <p:cNvPr id="8" name="frame-31-student-weekly-menu"/>
          <p:cNvSpPr/>
          <p:nvPr/>
        </p:nvSpPr>
        <p:spPr>
          <a:xfrm>
            <a:off x="467258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1-student-weekly-menu" descr="31-student-weekly-menu">    </p:cNvPr>
          <p:cNvPicPr>
            <a:picLocks noChangeAspect="1"/>
          </p:cNvPicPr>
          <p:nvPr/>
        </p:nvPicPr>
        <p:blipFill>
          <a:blip r:embed="rId2"/>
          <a:stretch>
            <a:fillRect/>
          </a:stretch>
        </p:blipFill>
        <p:spPr>
          <a:xfrm>
            <a:off x="4709160" y="1188720"/>
            <a:ext cx="3977640" cy="3060443"/>
          </a:xfrm>
          <a:prstGeom prst="rect">
            <a:avLst/>
          </a:prstGeom>
        </p:spPr>
      </p:pic>
      <p:sp>
        <p:nvSpPr>
          <p:cNvPr id="10" name="cap-31-student-weekly-menu"/>
          <p:cNvSpPr txBox="1"/>
          <p:nvPr/>
        </p:nvSpPr>
        <p:spPr>
          <a:xfrm>
            <a:off x="470916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Students see the published menu</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FEEDBACK LOOP</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Student ratings reach the kitchen</a:t>
            </a:r>
            <a:endParaRPr lang="en-US" sz="2800" dirty="0"/>
          </a:p>
        </p:txBody>
      </p:sp>
      <p:sp>
        <p:nvSpPr>
          <p:cNvPr id="5" name="frame-32-student-feedback-sent"/>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2-student-feedback-sent" descr="32-student-feedback-sent">    </p:cNvPr>
          <p:cNvPicPr>
            <a:picLocks noChangeAspect="1"/>
          </p:cNvPicPr>
          <p:nvPr/>
        </p:nvPicPr>
        <p:blipFill>
          <a:blip r:embed="rId1"/>
          <a:stretch>
            <a:fillRect/>
          </a:stretch>
        </p:blipFill>
        <p:spPr>
          <a:xfrm>
            <a:off x="457200" y="1188720"/>
            <a:ext cx="3977640" cy="3060443"/>
          </a:xfrm>
          <a:prstGeom prst="rect">
            <a:avLst/>
          </a:prstGeom>
        </p:spPr>
      </p:pic>
      <p:sp>
        <p:nvSpPr>
          <p:cNvPr id="7" name="cap-32-student-feedback-sent"/>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rates dinner and suggests a change</a:t>
            </a:r>
            <a:endParaRPr lang="en-US" sz="1100" dirty="0"/>
          </a:p>
        </p:txBody>
      </p:sp>
      <p:sp>
        <p:nvSpPr>
          <p:cNvPr id="8" name="frame-33-manager-sees-feedback"/>
          <p:cNvSpPr/>
          <p:nvPr/>
        </p:nvSpPr>
        <p:spPr>
          <a:xfrm>
            <a:off x="467258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3-manager-sees-feedback" descr="33-manager-sees-feedback">    </p:cNvPr>
          <p:cNvPicPr>
            <a:picLocks noChangeAspect="1"/>
          </p:cNvPicPr>
          <p:nvPr/>
        </p:nvPicPr>
        <p:blipFill>
          <a:blip r:embed="rId2"/>
          <a:stretch>
            <a:fillRect/>
          </a:stretch>
        </p:blipFill>
        <p:spPr>
          <a:xfrm>
            <a:off x="4709160" y="1188720"/>
            <a:ext cx="3977640" cy="3060443"/>
          </a:xfrm>
          <a:prstGeom prst="rect">
            <a:avLst/>
          </a:prstGeom>
        </p:spPr>
      </p:pic>
      <p:sp>
        <p:nvSpPr>
          <p:cNvPr id="10" name="cap-33-manager-sees-feedback"/>
          <p:cNvSpPr txBox="1"/>
          <p:nvPr/>
        </p:nvSpPr>
        <p:spPr>
          <a:xfrm>
            <a:off x="470916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manager sees it in the feedback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8</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Anonymous grievances, accountable process</a:t>
            </a:r>
            <a:endParaRPr lang="en-US" sz="2800" dirty="0"/>
          </a:p>
        </p:txBody>
      </p:sp>
      <p:sp>
        <p:nvSpPr>
          <p:cNvPr id="5" name="frame-41-grievance-filed"/>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1-grievance-filed" descr="41-grievance-filed">    </p:cNvPr>
          <p:cNvPicPr>
            <a:picLocks noChangeAspect="1"/>
          </p:cNvPicPr>
          <p:nvPr/>
        </p:nvPicPr>
        <p:blipFill>
          <a:blip r:embed="rId1"/>
          <a:stretch>
            <a:fillRect/>
          </a:stretch>
        </p:blipFill>
        <p:spPr>
          <a:xfrm>
            <a:off x="457200" y="1188720"/>
            <a:ext cx="3977640" cy="3060443"/>
          </a:xfrm>
          <a:prstGeom prst="rect">
            <a:avLst/>
          </a:prstGeom>
        </p:spPr>
      </p:pic>
      <p:sp>
        <p:nvSpPr>
          <p:cNvPr id="7" name="cap-41-grievance-filed"/>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files an anti-ragging ticket anonymously</a:t>
            </a:r>
            <a:endParaRPr lang="en-US" sz="1100" dirty="0"/>
          </a:p>
        </p:txBody>
      </p:sp>
      <p:sp>
        <p:nvSpPr>
          <p:cNvPr id="8" name="frame-f-grievance-admin"/>
          <p:cNvSpPr/>
          <p:nvPr/>
        </p:nvSpPr>
        <p:spPr>
          <a:xfrm>
            <a:off x="4672584" y="1152144"/>
            <a:ext cx="4050792" cy="234274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rievance-admin" descr="f-grievance-admin">    </p:cNvPr>
          <p:cNvPicPr>
            <a:picLocks noChangeAspect="1"/>
          </p:cNvPicPr>
          <p:nvPr/>
        </p:nvPicPr>
        <p:blipFill>
          <a:blip r:embed="rId2"/>
          <a:stretch>
            <a:fillRect/>
          </a:stretch>
        </p:blipFill>
        <p:spPr>
          <a:xfrm>
            <a:off x="4709160" y="1188720"/>
            <a:ext cx="3977640" cy="2269595"/>
          </a:xfrm>
          <a:prstGeom prst="rect">
            <a:avLst/>
          </a:prstGeom>
        </p:spPr>
      </p:pic>
      <p:sp>
        <p:nvSpPr>
          <p:cNvPr id="10" name="cap-f-grievance-admin"/>
          <p:cNvSpPr txBox="1"/>
          <p:nvPr/>
        </p:nvSpPr>
        <p:spPr>
          <a:xfrm>
            <a:off x="4709160" y="354975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Admins triage it without seeing the filer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9</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Facility bookings and work orders</a:t>
            </a:r>
            <a:endParaRPr lang="en-US" sz="2800" dirty="0"/>
          </a:p>
        </p:txBody>
      </p:sp>
      <p:sp>
        <p:nvSpPr>
          <p:cNvPr id="5" name="frame-f-bookings"/>
          <p:cNvSpPr/>
          <p:nvPr/>
        </p:nvSpPr>
        <p:spPr>
          <a:xfrm>
            <a:off x="420624" y="1152144"/>
            <a:ext cx="4050792" cy="170866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bookings" descr="f-bookings">    </p:cNvPr>
          <p:cNvPicPr>
            <a:picLocks noChangeAspect="1"/>
          </p:cNvPicPr>
          <p:nvPr/>
        </p:nvPicPr>
        <p:blipFill>
          <a:blip r:embed="rId1"/>
          <a:stretch>
            <a:fillRect/>
          </a:stretch>
        </p:blipFill>
        <p:spPr>
          <a:xfrm>
            <a:off x="457200" y="1188720"/>
            <a:ext cx="3977640" cy="1635512"/>
          </a:xfrm>
          <a:prstGeom prst="rect">
            <a:avLst/>
          </a:prstGeom>
        </p:spPr>
      </p:pic>
      <p:sp>
        <p:nvSpPr>
          <p:cNvPr id="7" name="cap-f-bookings"/>
          <p:cNvSpPr txBox="1"/>
          <p:nvPr/>
        </p:nvSpPr>
        <p:spPr>
          <a:xfrm>
            <a:off x="457200" y="291567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 approves or rejects venue bookings</a:t>
            </a:r>
            <a:endParaRPr lang="en-US" sz="1100" dirty="0"/>
          </a:p>
        </p:txBody>
      </p:sp>
      <p:sp>
        <p:nvSpPr>
          <p:cNvPr id="8" name="frame-44-maintenance-admin"/>
          <p:cNvSpPr/>
          <p:nvPr/>
        </p:nvSpPr>
        <p:spPr>
          <a:xfrm>
            <a:off x="467258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44-maintenance-admin" descr="44-maintenance-admin">    </p:cNvPr>
          <p:cNvPicPr>
            <a:picLocks noChangeAspect="1"/>
          </p:cNvPicPr>
          <p:nvPr/>
        </p:nvPicPr>
        <p:blipFill>
          <a:blip r:embed="rId2"/>
          <a:stretch>
            <a:fillRect/>
          </a:stretch>
        </p:blipFill>
        <p:spPr>
          <a:xfrm>
            <a:off x="4709160" y="1188720"/>
            <a:ext cx="3977640" cy="3060443"/>
          </a:xfrm>
          <a:prstGeom prst="rect">
            <a:avLst/>
          </a:prstGeom>
        </p:spPr>
      </p:pic>
      <p:sp>
        <p:nvSpPr>
          <p:cNvPr id="10" name="cap-44-maintenance-admin"/>
          <p:cNvSpPr txBox="1"/>
          <p:nvPr/>
        </p:nvSpPr>
        <p:spPr>
          <a:xfrm>
            <a:off x="470916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Work orders move from pending to completed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10</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Gate security with a tamper-evident ledger</a:t>
            </a:r>
            <a:endParaRPr lang="en-US" sz="2800" dirty="0"/>
          </a:p>
        </p:txBody>
      </p:sp>
      <p:sp>
        <p:nvSpPr>
          <p:cNvPr id="5" name="frame-45-biometric-gate"/>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5-biometric-gate" descr="45-biometric-gate">    </p:cNvPr>
          <p:cNvPicPr>
            <a:picLocks noChangeAspect="1"/>
          </p:cNvPicPr>
          <p:nvPr/>
        </p:nvPicPr>
        <p:blipFill>
          <a:blip r:embed="rId1"/>
          <a:stretch>
            <a:fillRect/>
          </a:stretch>
        </p:blipFill>
        <p:spPr>
          <a:xfrm>
            <a:off x="457200" y="1188720"/>
            <a:ext cx="3977640" cy="3060443"/>
          </a:xfrm>
          <a:prstGeom prst="rect">
            <a:avLst/>
          </a:prstGeom>
        </p:spPr>
      </p:pic>
      <p:sp>
        <p:nvSpPr>
          <p:cNvPr id="7" name="cap-45-biometric-gate"/>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Resident verified at gate SOC-G1</a:t>
            </a:r>
            <a:endParaRPr lang="en-US" sz="1100" dirty="0"/>
          </a:p>
        </p:txBody>
      </p:sp>
      <p:sp>
        <p:nvSpPr>
          <p:cNvPr id="8" name="frame-f-gate-ledger"/>
          <p:cNvSpPr/>
          <p:nvPr/>
        </p:nvSpPr>
        <p:spPr>
          <a:xfrm>
            <a:off x="4672584" y="1152144"/>
            <a:ext cx="4050792" cy="268248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ate-ledger" descr="f-gate-ledger">    </p:cNvPr>
          <p:cNvPicPr>
            <a:picLocks noChangeAspect="1"/>
          </p:cNvPicPr>
          <p:nvPr/>
        </p:nvPicPr>
        <p:blipFill>
          <a:blip r:embed="rId2"/>
          <a:stretch>
            <a:fillRect/>
          </a:stretch>
        </p:blipFill>
        <p:spPr>
          <a:xfrm>
            <a:off x="4709160" y="1188720"/>
            <a:ext cx="3977640" cy="2609332"/>
          </a:xfrm>
          <a:prstGeom prst="rect">
            <a:avLst/>
          </a:prstGeom>
        </p:spPr>
      </p:pic>
      <p:sp>
        <p:nvSpPr>
          <p:cNvPr id="10" name="cap-f-gate-ledger"/>
          <p:cNvSpPr txBox="1"/>
          <p:nvPr/>
        </p:nvSpPr>
        <p:spPr>
          <a:xfrm>
            <a:off x="4709160" y="388949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Hash chain verified on every read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OPERATIONS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Command overview and resident welfare</a:t>
            </a:r>
            <a:endParaRPr lang="en-US" sz="2800" dirty="0"/>
          </a:p>
        </p:txBody>
      </p:sp>
      <p:sp>
        <p:nvSpPr>
          <p:cNvPr id="5" name="frame-06-admin-overview"/>
          <p:cNvSpPr/>
          <p:nvPr/>
        </p:nvSpPr>
        <p:spPr>
          <a:xfrm>
            <a:off x="420624" y="1152144"/>
            <a:ext cx="4050792" cy="209004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6-admin-overview" descr="06-admin-overview">    </p:cNvPr>
          <p:cNvPicPr>
            <a:picLocks noChangeAspect="1"/>
          </p:cNvPicPr>
          <p:nvPr/>
        </p:nvPicPr>
        <p:blipFill>
          <a:blip r:embed="rId1"/>
          <a:stretch>
            <a:fillRect/>
          </a:stretch>
        </p:blipFill>
        <p:spPr>
          <a:xfrm>
            <a:off x="457200" y="1188720"/>
            <a:ext cx="3977640" cy="2016897"/>
          </a:xfrm>
          <a:prstGeom prst="rect">
            <a:avLst/>
          </a:prstGeom>
        </p:spPr>
      </p:pic>
      <p:sp>
        <p:nvSpPr>
          <p:cNvPr id="7" name="cap-06-admin-overview"/>
          <p:cNvSpPr txBox="1"/>
          <p:nvPr/>
        </p:nvSpPr>
        <p:spPr>
          <a:xfrm>
            <a:off x="457200" y="3297057"/>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Live session diagnostics from the server</a:t>
            </a:r>
            <a:endParaRPr lang="en-US" sz="1100" dirty="0"/>
          </a:p>
        </p:txBody>
      </p:sp>
      <p:sp>
        <p:nvSpPr>
          <p:cNvPr id="8" name="frame-47-welfare"/>
          <p:cNvSpPr/>
          <p:nvPr/>
        </p:nvSpPr>
        <p:spPr>
          <a:xfrm>
            <a:off x="467258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47-welfare" descr="47-welfare">    </p:cNvPr>
          <p:cNvPicPr>
            <a:picLocks noChangeAspect="1"/>
          </p:cNvPicPr>
          <p:nvPr/>
        </p:nvPicPr>
        <p:blipFill>
          <a:blip r:embed="rId2"/>
          <a:stretch>
            <a:fillRect/>
          </a:stretch>
        </p:blipFill>
        <p:spPr>
          <a:xfrm>
            <a:off x="4709160" y="1188720"/>
            <a:ext cx="3977640" cy="3060443"/>
          </a:xfrm>
          <a:prstGeom prst="rect">
            <a:avLst/>
          </a:prstGeom>
        </p:spPr>
      </p:pic>
      <p:sp>
        <p:nvSpPr>
          <p:cNvPr id="10" name="cap-47-welfare"/>
          <p:cNvSpPr txBox="1"/>
          <p:nvPr/>
        </p:nvSpPr>
        <p:spPr>
          <a:xfrm>
            <a:off x="470916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Welfare early-warnings resolved by the warden</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OPERATIONS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AWS hub: live or mock, always observable</a:t>
            </a:r>
            <a:endParaRPr lang="en-US" sz="2800" dirty="0"/>
          </a:p>
        </p:txBody>
      </p:sp>
      <p:sp>
        <p:nvSpPr>
          <p:cNvPr id="5" name="frame-48-aws-hub"/>
          <p:cNvSpPr/>
          <p:nvPr/>
        </p:nvSpPr>
        <p:spPr>
          <a:xfrm>
            <a:off x="420624" y="1152144"/>
            <a:ext cx="405079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8-aws-hub" descr="48-aws-hub">    </p:cNvPr>
          <p:cNvPicPr>
            <a:picLocks noChangeAspect="1"/>
          </p:cNvPicPr>
          <p:nvPr/>
        </p:nvPicPr>
        <p:blipFill>
          <a:blip r:embed="rId1"/>
          <a:stretch>
            <a:fillRect/>
          </a:stretch>
        </p:blipFill>
        <p:spPr>
          <a:xfrm>
            <a:off x="457200" y="1188720"/>
            <a:ext cx="3977640" cy="3060443"/>
          </a:xfrm>
          <a:prstGeom prst="rect">
            <a:avLst/>
          </a:prstGeom>
        </p:spPr>
      </p:pic>
      <p:sp>
        <p:nvSpPr>
          <p:cNvPr id="7" name="cap-48-aws-hub"/>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status and test console</a:t>
            </a:r>
            <a:endParaRPr lang="en-US" sz="1100" dirty="0"/>
          </a:p>
        </p:txBody>
      </p:sp>
      <p:sp>
        <p:nvSpPr>
          <p:cNvPr id="8" name="frame-f-aws-logs"/>
          <p:cNvSpPr/>
          <p:nvPr/>
        </p:nvSpPr>
        <p:spPr>
          <a:xfrm>
            <a:off x="4672584" y="1152144"/>
            <a:ext cx="4050792" cy="167356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aws-logs" descr="f-aws-logs">    </p:cNvPr>
          <p:cNvPicPr>
            <a:picLocks noChangeAspect="1"/>
          </p:cNvPicPr>
          <p:nvPr/>
        </p:nvPicPr>
        <p:blipFill>
          <a:blip r:embed="rId2"/>
          <a:stretch>
            <a:fillRect/>
          </a:stretch>
        </p:blipFill>
        <p:spPr>
          <a:xfrm>
            <a:off x="4709160" y="1188720"/>
            <a:ext cx="3977640" cy="1600415"/>
          </a:xfrm>
          <a:prstGeom prst="rect">
            <a:avLst/>
          </a:prstGeom>
        </p:spPr>
      </p:pic>
      <p:sp>
        <p:nvSpPr>
          <p:cNvPr id="10" name="cap-f-aws-logs"/>
          <p:cNvSpPr txBox="1"/>
          <p:nvPr/>
        </p:nvSpPr>
        <p:spPr>
          <a:xfrm>
            <a:off x="4709160" y="288057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Every write, email and upload in the log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PRODUCTION READINESS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From prototype to deployable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What changed under the hood to make Demeure safe to run for a real campus.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HARDENING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Built to be operated, not just demoed</a:t>
            </a:r>
            <a:endParaRPr lang="en-US" sz="2800" dirty="0"/>
          </a:p>
        </p:txBody>
      </p:sp>
      <p:sp>
        <p:nvSpPr>
          <p:cNvPr id="5" name="tile-Real authentication"/>
          <p:cNvSpPr/>
          <p:nvPr/>
        </p:nvSpPr>
        <p:spPr>
          <a:xfrm>
            <a:off x="457200" y="1188720"/>
            <a:ext cx="1920240" cy="1600200"/>
          </a:xfrm>
          <a:prstGeom prst="rect">
            <a:avLst/>
          </a:prstGeom>
          <a:solidFill>
            <a:schemeClr val="bg2"/>
          </a:solidFill>
          <a:ln w="12700">
            <a:solidFill>
              <a:schemeClr val="bg2"/>
            </a:solidFill>
            <a:prstDash val="solid"/>
          </a:ln>
        </p:spPr>
      </p:sp>
      <p:pic>
        <p:nvPicPr>
          <p:cNvPr id="6" name="Image 0" descr="Real authentication">    </p:cNvPr>
          <p:cNvPicPr>
            <a:picLocks noChangeAspect="1"/>
          </p:cNvPicPr>
          <p:nvPr/>
        </p:nvPicPr>
        <p:blipFill>
          <a:blip r:embed="rId1"/>
          <a:stretch>
            <a:fillRect/>
          </a:stretch>
        </p:blipFill>
        <p:spPr>
          <a:xfrm>
            <a:off x="658368" y="1371600"/>
            <a:ext cx="329184" cy="329184"/>
          </a:xfrm>
          <a:prstGeom prst="rect">
            <a:avLst/>
          </a:prstGeom>
        </p:spPr>
      </p:pic>
      <p:sp>
        <p:nvSpPr>
          <p:cNvPr id="7" name="Text 3"/>
          <p:cNvSpPr txBox="1"/>
          <p:nvPr/>
        </p:nvSpPr>
        <p:spPr>
          <a:xfrm>
            <a:off x="65836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Real authentication</a:t>
            </a:r>
            <a:endParaRPr lang="en-US" sz="1400" dirty="0"/>
          </a:p>
          <a:p>
            <a:pPr indent="0" marL="0">
              <a:buNone/>
            </a:pPr>
            <a:r>
              <a:rPr lang="en-US" sz="1200" dirty="0">
                <a:solidFill>
                  <a:schemeClr val="accent6"/>
                </a:solidFill>
              </a:rPr>
              <a:t>Hashed secrets, signed sessions, throttling</a:t>
            </a:r>
            <a:endParaRPr lang="en-US" sz="1400" dirty="0"/>
          </a:p>
        </p:txBody>
      </p:sp>
      <p:sp>
        <p:nvSpPr>
          <p:cNvPr id="8" name="tile-Role guards"/>
          <p:cNvSpPr/>
          <p:nvPr/>
        </p:nvSpPr>
        <p:spPr>
          <a:xfrm>
            <a:off x="2560320" y="1188720"/>
            <a:ext cx="1920240" cy="1600200"/>
          </a:xfrm>
          <a:prstGeom prst="rect">
            <a:avLst/>
          </a:prstGeom>
          <a:solidFill>
            <a:schemeClr val="bg2"/>
          </a:solidFill>
          <a:ln w="12700">
            <a:solidFill>
              <a:schemeClr val="bg2"/>
            </a:solidFill>
            <a:prstDash val="solid"/>
          </a:ln>
        </p:spPr>
      </p:sp>
      <p:pic>
        <p:nvPicPr>
          <p:cNvPr id="9" name="Image 1" descr="Role guards">    </p:cNvPr>
          <p:cNvPicPr>
            <a:picLocks noChangeAspect="1"/>
          </p:cNvPicPr>
          <p:nvPr/>
        </p:nvPicPr>
        <p:blipFill>
          <a:blip r:embed="rId2"/>
          <a:stretch>
            <a:fillRect/>
          </a:stretch>
        </p:blipFill>
        <p:spPr>
          <a:xfrm>
            <a:off x="2761488" y="1371600"/>
            <a:ext cx="329184" cy="329184"/>
          </a:xfrm>
          <a:prstGeom prst="rect">
            <a:avLst/>
          </a:prstGeom>
        </p:spPr>
      </p:pic>
      <p:sp>
        <p:nvSpPr>
          <p:cNvPr id="10" name="Text 5"/>
          <p:cNvSpPr txBox="1"/>
          <p:nvPr/>
        </p:nvSpPr>
        <p:spPr>
          <a:xfrm>
            <a:off x="276148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Role guards</a:t>
            </a:r>
            <a:endParaRPr lang="en-US" sz="1400" dirty="0"/>
          </a:p>
          <a:p>
            <a:pPr indent="0" marL="0">
              <a:buNone/>
            </a:pPr>
            <a:r>
              <a:rPr lang="en-US" sz="1200" dirty="0">
                <a:solidFill>
                  <a:schemeClr val="accent6"/>
                </a:solidFill>
              </a:rPr>
              <a:t>Every endpoint checks the caller's role and ownership</a:t>
            </a:r>
            <a:endParaRPr lang="en-US" sz="1400" dirty="0"/>
          </a:p>
        </p:txBody>
      </p:sp>
      <p:sp>
        <p:nvSpPr>
          <p:cNvPr id="11" name="tile-Durable storage"/>
          <p:cNvSpPr/>
          <p:nvPr/>
        </p:nvSpPr>
        <p:spPr>
          <a:xfrm>
            <a:off x="4663440" y="1188720"/>
            <a:ext cx="1920240" cy="1600200"/>
          </a:xfrm>
          <a:prstGeom prst="rect">
            <a:avLst/>
          </a:prstGeom>
          <a:solidFill>
            <a:schemeClr val="bg2"/>
          </a:solidFill>
          <a:ln w="12700">
            <a:solidFill>
              <a:schemeClr val="bg2"/>
            </a:solidFill>
            <a:prstDash val="solid"/>
          </a:ln>
        </p:spPr>
      </p:sp>
      <p:pic>
        <p:nvPicPr>
          <p:cNvPr id="12" name="Image 2" descr="Durable storage">    </p:cNvPr>
          <p:cNvPicPr>
            <a:picLocks noChangeAspect="1"/>
          </p:cNvPicPr>
          <p:nvPr/>
        </p:nvPicPr>
        <p:blipFill>
          <a:blip r:embed="rId3"/>
          <a:stretch>
            <a:fillRect/>
          </a:stretch>
        </p:blipFill>
        <p:spPr>
          <a:xfrm>
            <a:off x="4864608" y="1371600"/>
            <a:ext cx="329184" cy="329184"/>
          </a:xfrm>
          <a:prstGeom prst="rect">
            <a:avLst/>
          </a:prstGeom>
        </p:spPr>
      </p:pic>
      <p:sp>
        <p:nvSpPr>
          <p:cNvPr id="13" name="Text 7"/>
          <p:cNvSpPr txBox="1"/>
          <p:nvPr/>
        </p:nvSpPr>
        <p:spPr>
          <a:xfrm>
            <a:off x="486460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Durable storage</a:t>
            </a:r>
            <a:endParaRPr lang="en-US" sz="1400" dirty="0"/>
          </a:p>
          <a:p>
            <a:pPr indent="0" marL="0">
              <a:buNone/>
            </a:pPr>
            <a:r>
              <a:rPr lang="en-US" sz="1200" dirty="0">
                <a:solidFill>
                  <a:schemeClr val="accent6"/>
                </a:solidFill>
              </a:rPr>
              <a:t>SQLite locally, DynamoDB on AWS, auto-provisioned</a:t>
            </a:r>
            <a:endParaRPr lang="en-US" sz="1400" dirty="0"/>
          </a:p>
        </p:txBody>
      </p:sp>
      <p:sp>
        <p:nvSpPr>
          <p:cNvPr id="14" name="tile-Private files"/>
          <p:cNvSpPr/>
          <p:nvPr/>
        </p:nvSpPr>
        <p:spPr>
          <a:xfrm>
            <a:off x="6766560" y="1188720"/>
            <a:ext cx="1920240" cy="1600200"/>
          </a:xfrm>
          <a:prstGeom prst="rect">
            <a:avLst/>
          </a:prstGeom>
          <a:solidFill>
            <a:schemeClr val="bg2"/>
          </a:solidFill>
          <a:ln w="12700">
            <a:solidFill>
              <a:schemeClr val="bg2"/>
            </a:solidFill>
            <a:prstDash val="solid"/>
          </a:ln>
        </p:spPr>
      </p:sp>
      <p:pic>
        <p:nvPicPr>
          <p:cNvPr id="15" name="Image 3" descr="Private files">    </p:cNvPr>
          <p:cNvPicPr>
            <a:picLocks noChangeAspect="1"/>
          </p:cNvPicPr>
          <p:nvPr/>
        </p:nvPicPr>
        <p:blipFill>
          <a:blip r:embed="rId4"/>
          <a:stretch>
            <a:fillRect/>
          </a:stretch>
        </p:blipFill>
        <p:spPr>
          <a:xfrm>
            <a:off x="6967728" y="1371600"/>
            <a:ext cx="329184" cy="329184"/>
          </a:xfrm>
          <a:prstGeom prst="rect">
            <a:avLst/>
          </a:prstGeom>
        </p:spPr>
      </p:pic>
      <p:sp>
        <p:nvSpPr>
          <p:cNvPr id="16" name="Text 9"/>
          <p:cNvSpPr txBox="1"/>
          <p:nvPr/>
        </p:nvSpPr>
        <p:spPr>
          <a:xfrm>
            <a:off x="696772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Private files</a:t>
            </a:r>
            <a:endParaRPr lang="en-US" sz="1400" dirty="0"/>
          </a:p>
          <a:p>
            <a:pPr indent="0" marL="0">
              <a:buNone/>
            </a:pPr>
            <a:r>
              <a:rPr lang="en-US" sz="1200" dirty="0">
                <a:solidFill>
                  <a:schemeClr val="accent6"/>
                </a:solidFill>
              </a:rPr>
              <a:t>Type, content and size checks; owner/staff access only</a:t>
            </a:r>
            <a:endParaRPr lang="en-US" sz="1400" dirty="0"/>
          </a:p>
        </p:txBody>
      </p:sp>
      <p:sp>
        <p:nvSpPr>
          <p:cNvPr id="17" name="tile-Secure headers"/>
          <p:cNvSpPr/>
          <p:nvPr/>
        </p:nvSpPr>
        <p:spPr>
          <a:xfrm>
            <a:off x="457200" y="2926080"/>
            <a:ext cx="1920240" cy="1600200"/>
          </a:xfrm>
          <a:prstGeom prst="rect">
            <a:avLst/>
          </a:prstGeom>
          <a:solidFill>
            <a:schemeClr val="bg2"/>
          </a:solidFill>
          <a:ln w="12700">
            <a:solidFill>
              <a:schemeClr val="bg2"/>
            </a:solidFill>
            <a:prstDash val="solid"/>
          </a:ln>
        </p:spPr>
      </p:sp>
      <p:pic>
        <p:nvPicPr>
          <p:cNvPr id="18" name="Image 4" descr="Secure headers">    </p:cNvPr>
          <p:cNvPicPr>
            <a:picLocks noChangeAspect="1"/>
          </p:cNvPicPr>
          <p:nvPr/>
        </p:nvPicPr>
        <p:blipFill>
          <a:blip r:embed="rId5"/>
          <a:stretch>
            <a:fillRect/>
          </a:stretch>
        </p:blipFill>
        <p:spPr>
          <a:xfrm>
            <a:off x="658368" y="3108960"/>
            <a:ext cx="329184" cy="329184"/>
          </a:xfrm>
          <a:prstGeom prst="rect">
            <a:avLst/>
          </a:prstGeom>
        </p:spPr>
      </p:pic>
      <p:sp>
        <p:nvSpPr>
          <p:cNvPr id="19" name="Text 11"/>
          <p:cNvSpPr txBox="1"/>
          <p:nvPr/>
        </p:nvSpPr>
        <p:spPr>
          <a:xfrm>
            <a:off x="65836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Secure headers</a:t>
            </a:r>
            <a:endParaRPr lang="en-US" sz="1400" dirty="0"/>
          </a:p>
          <a:p>
            <a:pPr indent="0" marL="0">
              <a:buNone/>
            </a:pPr>
            <a:r>
              <a:rPr lang="en-US" sz="1200" dirty="0">
                <a:solidFill>
                  <a:schemeClr val="accent6"/>
                </a:solidFill>
              </a:rPr>
              <a:t>CSP, HSTS, frame-deny; docs hidden in production</a:t>
            </a:r>
            <a:endParaRPr lang="en-US" sz="1400" dirty="0"/>
          </a:p>
        </p:txBody>
      </p:sp>
      <p:sp>
        <p:nvSpPr>
          <p:cNvPr id="20" name="tile-Tested"/>
          <p:cNvSpPr/>
          <p:nvPr/>
        </p:nvSpPr>
        <p:spPr>
          <a:xfrm>
            <a:off x="2560320" y="2926080"/>
            <a:ext cx="1920240" cy="1600200"/>
          </a:xfrm>
          <a:prstGeom prst="rect">
            <a:avLst/>
          </a:prstGeom>
          <a:solidFill>
            <a:schemeClr val="bg2"/>
          </a:solidFill>
          <a:ln w="12700">
            <a:solidFill>
              <a:schemeClr val="bg2"/>
            </a:solidFill>
            <a:prstDash val="solid"/>
          </a:ln>
        </p:spPr>
      </p:sp>
      <p:pic>
        <p:nvPicPr>
          <p:cNvPr id="21" name="Image 5" descr="Tested">    </p:cNvPr>
          <p:cNvPicPr>
            <a:picLocks noChangeAspect="1"/>
          </p:cNvPicPr>
          <p:nvPr/>
        </p:nvPicPr>
        <p:blipFill>
          <a:blip r:embed="rId6"/>
          <a:stretch>
            <a:fillRect/>
          </a:stretch>
        </p:blipFill>
        <p:spPr>
          <a:xfrm>
            <a:off x="2761488" y="3108960"/>
            <a:ext cx="329184" cy="329184"/>
          </a:xfrm>
          <a:prstGeom prst="rect">
            <a:avLst/>
          </a:prstGeom>
        </p:spPr>
      </p:pic>
      <p:sp>
        <p:nvSpPr>
          <p:cNvPr id="22" name="Text 13"/>
          <p:cNvSpPr txBox="1"/>
          <p:nvPr/>
        </p:nvSpPr>
        <p:spPr>
          <a:xfrm>
            <a:off x="276148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Tested</a:t>
            </a:r>
            <a:endParaRPr lang="en-US" sz="1400" dirty="0"/>
          </a:p>
          <a:p>
            <a:pPr indent="0" marL="0">
              <a:buNone/>
            </a:pPr>
            <a:r>
              <a:rPr lang="en-US" sz="1200" dirty="0">
                <a:solidFill>
                  <a:schemeClr val="accent6"/>
                </a:solidFill>
              </a:rPr>
              <a:t>31 API tests plus 8 scripted browser scenarios</a:t>
            </a:r>
            <a:endParaRPr lang="en-US" sz="1400" dirty="0"/>
          </a:p>
        </p:txBody>
      </p:sp>
      <p:sp>
        <p:nvSpPr>
          <p:cNvPr id="23" name="tile-CI pipeline"/>
          <p:cNvSpPr/>
          <p:nvPr/>
        </p:nvSpPr>
        <p:spPr>
          <a:xfrm>
            <a:off x="4663440" y="2926080"/>
            <a:ext cx="1920240" cy="1600200"/>
          </a:xfrm>
          <a:prstGeom prst="rect">
            <a:avLst/>
          </a:prstGeom>
          <a:solidFill>
            <a:schemeClr val="bg2"/>
          </a:solidFill>
          <a:ln w="12700">
            <a:solidFill>
              <a:schemeClr val="bg2"/>
            </a:solidFill>
            <a:prstDash val="solid"/>
          </a:ln>
        </p:spPr>
      </p:sp>
      <p:pic>
        <p:nvPicPr>
          <p:cNvPr id="24" name="Image 6" descr="CI pipeline">    </p:cNvPr>
          <p:cNvPicPr>
            <a:picLocks noChangeAspect="1"/>
          </p:cNvPicPr>
          <p:nvPr/>
        </p:nvPicPr>
        <p:blipFill>
          <a:blip r:embed="rId7"/>
          <a:stretch>
            <a:fillRect/>
          </a:stretch>
        </p:blipFill>
        <p:spPr>
          <a:xfrm>
            <a:off x="4864608" y="3108960"/>
            <a:ext cx="329184" cy="329184"/>
          </a:xfrm>
          <a:prstGeom prst="rect">
            <a:avLst/>
          </a:prstGeom>
        </p:spPr>
      </p:pic>
      <p:sp>
        <p:nvSpPr>
          <p:cNvPr id="25" name="Text 15"/>
          <p:cNvSpPr txBox="1"/>
          <p:nvPr/>
        </p:nvSpPr>
        <p:spPr>
          <a:xfrm>
            <a:off x="486460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CI pipeline</a:t>
            </a:r>
            <a:endParaRPr lang="en-US" sz="1400" dirty="0"/>
          </a:p>
          <a:p>
            <a:pPr indent="0" marL="0">
              <a:buNone/>
            </a:pPr>
            <a:r>
              <a:rPr lang="en-US" sz="1200" dirty="0">
                <a:solidFill>
                  <a:schemeClr val="accent6"/>
                </a:solidFill>
              </a:rPr>
              <a:t>Lint, build, audit and tests on every push</a:t>
            </a:r>
            <a:endParaRPr lang="en-US" sz="1400" dirty="0"/>
          </a:p>
        </p:txBody>
      </p:sp>
      <p:sp>
        <p:nvSpPr>
          <p:cNvPr id="26" name="tile-One-step deploy"/>
          <p:cNvSpPr/>
          <p:nvPr/>
        </p:nvSpPr>
        <p:spPr>
          <a:xfrm>
            <a:off x="6766560" y="2926080"/>
            <a:ext cx="1920240" cy="1600200"/>
          </a:xfrm>
          <a:prstGeom prst="rect">
            <a:avLst/>
          </a:prstGeom>
          <a:solidFill>
            <a:schemeClr val="bg2"/>
          </a:solidFill>
          <a:ln w="12700">
            <a:solidFill>
              <a:schemeClr val="bg2"/>
            </a:solidFill>
            <a:prstDash val="solid"/>
          </a:ln>
        </p:spPr>
      </p:sp>
      <p:pic>
        <p:nvPicPr>
          <p:cNvPr id="27" name="Image 7" descr="One-step deploy">    </p:cNvPr>
          <p:cNvPicPr>
            <a:picLocks noChangeAspect="1"/>
          </p:cNvPicPr>
          <p:nvPr/>
        </p:nvPicPr>
        <p:blipFill>
          <a:blip r:embed="rId8"/>
          <a:stretch>
            <a:fillRect/>
          </a:stretch>
        </p:blipFill>
        <p:spPr>
          <a:xfrm>
            <a:off x="6967728" y="3108960"/>
            <a:ext cx="329184" cy="329184"/>
          </a:xfrm>
          <a:prstGeom prst="rect">
            <a:avLst/>
          </a:prstGeom>
        </p:spPr>
      </p:pic>
      <p:sp>
        <p:nvSpPr>
          <p:cNvPr id="28" name="Text 17"/>
          <p:cNvSpPr txBox="1"/>
          <p:nvPr/>
        </p:nvSpPr>
        <p:spPr>
          <a:xfrm>
            <a:off x="696772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One-step deploy</a:t>
            </a:r>
            <a:endParaRPr lang="en-US" sz="1400" dirty="0"/>
          </a:p>
          <a:p>
            <a:pPr indent="0" marL="0">
              <a:buNone/>
            </a:pPr>
            <a:r>
              <a:rPr lang="en-US" sz="1200" dirty="0">
                <a:solidFill>
                  <a:schemeClr val="accent6"/>
                </a:solidFill>
              </a:rPr>
              <a:t>Single Docker image, health check, data volume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IMPACT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Leaner and safer than the prototype</a:t>
            </a:r>
            <a:endParaRPr lang="en-US" sz="2800" dirty="0"/>
          </a:p>
        </p:txBody>
      </p:sp>
      <p:graphicFrame>
        <p:nvGraphicFramePr>
          <p:cNvPr id="5" name="Chart 0" descr=""/>
          <p:cNvGraphicFramePr/>
          <p:nvPr/>
        </p:nvGraphicFramePr>
        <p:xfrm>
          <a:off x="457200" y="1143000"/>
          <a:ext cx="4206240" cy="3429000"/>
        </p:xfrm>
        <a:graphic xmlns:a="http://schemas.openxmlformats.org/drawingml/2006/main">
          <a:graphicData uri="http://schemas.openxmlformats.org/drawingml/2006/chart">
            <c:chart xmlns:c="http://schemas.openxmlformats.org/drawingml/2006/chart" r:id="rId1"/>
          </a:graphicData>
        </a:graphic>
      </p:graphicFrame>
      <p:sp>
        <p:nvSpPr>
          <p:cNvPr id="6" name="stat-lint errors"/>
          <p:cNvSpPr txBox="1"/>
          <p:nvPr/>
        </p:nvSpPr>
        <p:spPr>
          <a:xfrm>
            <a:off x="5120640" y="1188720"/>
            <a:ext cx="35661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65 → 0</a:t>
            </a:r>
            <a:endParaRPr lang="en-US" sz="4000" dirty="0"/>
          </a:p>
        </p:txBody>
      </p:sp>
      <p:sp>
        <p:nvSpPr>
          <p:cNvPr id="7" name="Text 3"/>
          <p:cNvSpPr txBox="1"/>
          <p:nvPr/>
        </p:nvSpPr>
        <p:spPr>
          <a:xfrm>
            <a:off x="5120640" y="1901952"/>
            <a:ext cx="3566160" cy="457200"/>
          </a:xfrm>
          <a:prstGeom prst="rect">
            <a:avLst/>
          </a:prstGeom>
          <a:noFill/>
          <a:ln/>
        </p:spPr>
        <p:txBody>
          <a:bodyPr wrap="square" lIns="0" tIns="0" rIns="0" bIns="0" rtlCol="0" anchor="t"/>
          <a:lstStyle/>
          <a:p>
            <a:pPr indent="0" marL="0">
              <a:buNone/>
            </a:pPr>
            <a:r>
              <a:rPr lang="en-US" sz="1400" dirty="0">
                <a:solidFill>
                  <a:schemeClr val="accent6"/>
                </a:solidFill>
              </a:rPr>
              <a:t>lint errors</a:t>
            </a:r>
            <a:endParaRPr lang="en-US" sz="1400" dirty="0"/>
          </a:p>
        </p:txBody>
      </p:sp>
      <p:sp>
        <p:nvSpPr>
          <p:cNvPr id="8" name="stat-high-severity production vulnerabilities"/>
          <p:cNvSpPr txBox="1"/>
          <p:nvPr/>
        </p:nvSpPr>
        <p:spPr>
          <a:xfrm>
            <a:off x="5120640" y="2331720"/>
            <a:ext cx="356616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 → 0</a:t>
            </a:r>
            <a:endParaRPr lang="en-US" sz="4000" dirty="0"/>
          </a:p>
        </p:txBody>
      </p:sp>
      <p:sp>
        <p:nvSpPr>
          <p:cNvPr id="9" name="Text 5"/>
          <p:cNvSpPr txBox="1"/>
          <p:nvPr/>
        </p:nvSpPr>
        <p:spPr>
          <a:xfrm>
            <a:off x="5120640" y="3044952"/>
            <a:ext cx="3566160" cy="457200"/>
          </a:xfrm>
          <a:prstGeom prst="rect">
            <a:avLst/>
          </a:prstGeom>
          <a:noFill/>
          <a:ln/>
        </p:spPr>
        <p:txBody>
          <a:bodyPr wrap="square" lIns="0" tIns="0" rIns="0" bIns="0" rtlCol="0" anchor="t"/>
          <a:lstStyle/>
          <a:p>
            <a:pPr indent="0" marL="0">
              <a:buNone/>
            </a:pPr>
            <a:r>
              <a:rPr lang="en-US" sz="1400" dirty="0">
                <a:solidFill>
                  <a:schemeClr val="accent6"/>
                </a:solidFill>
              </a:rPr>
              <a:t>high-severity production vulnerabilities</a:t>
            </a:r>
            <a:endParaRPr lang="en-US" sz="1400" dirty="0"/>
          </a:p>
        </p:txBody>
      </p:sp>
      <p:sp>
        <p:nvSpPr>
          <p:cNvPr id="10" name="stat-automated backend tests"/>
          <p:cNvSpPr txBox="1"/>
          <p:nvPr/>
        </p:nvSpPr>
        <p:spPr>
          <a:xfrm>
            <a:off x="5120640" y="3474720"/>
            <a:ext cx="356616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0 → 31</a:t>
            </a:r>
            <a:endParaRPr lang="en-US" sz="4000" dirty="0"/>
          </a:p>
        </p:txBody>
      </p:sp>
      <p:sp>
        <p:nvSpPr>
          <p:cNvPr id="11" name="Text 7"/>
          <p:cNvSpPr txBox="1"/>
          <p:nvPr/>
        </p:nvSpPr>
        <p:spPr>
          <a:xfrm>
            <a:off x="5120640" y="4187952"/>
            <a:ext cx="3566160" cy="457200"/>
          </a:xfrm>
          <a:prstGeom prst="rect">
            <a:avLst/>
          </a:prstGeom>
          <a:noFill/>
          <a:ln/>
        </p:spPr>
        <p:txBody>
          <a:bodyPr wrap="square" lIns="0" tIns="0" rIns="0" bIns="0" rtlCol="0" anchor="t"/>
          <a:lstStyle/>
          <a:p>
            <a:pPr indent="0" marL="0">
              <a:buNone/>
            </a:pPr>
            <a:r>
              <a:rPr lang="en-US" sz="1400" dirty="0">
                <a:solidFill>
                  <a:schemeClr val="accent6"/>
                </a:solidFill>
              </a:rPr>
              <a:t>automated backend tests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NEXT STEPS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Where Demeure goes next</a:t>
            </a:r>
            <a:endParaRPr lang="en-US" sz="2800" dirty="0"/>
          </a:p>
        </p:txBody>
      </p:sp>
      <p:sp>
        <p:nvSpPr>
          <p:cNvPr id="5" name="card-Live payments"/>
          <p:cNvSpPr/>
          <p:nvPr/>
        </p:nvSpPr>
        <p:spPr>
          <a:xfrm>
            <a:off x="457200" y="1280160"/>
            <a:ext cx="1920240" cy="301752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Live payment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Live payments</a:t>
            </a:r>
            <a:endParaRPr lang="en-US" sz="1500" dirty="0"/>
          </a:p>
          <a:p>
            <a:pPr indent="0" marL="0">
              <a:spcAft>
                <a:spcPts val="400"/>
              </a:spcAft>
              <a:buNone/>
            </a:pPr>
            <a:r>
              <a:rPr lang="en-US" sz="1400" dirty="0">
                <a:solidFill>
                  <a:schemeClr val="accent6"/>
                </a:solidFill>
              </a:rPr>
              <a:t>Razorpay or PayU UPI gateway in place of the simulated collection</a:t>
            </a:r>
            <a:endParaRPr lang="en-US" sz="1500" dirty="0"/>
          </a:p>
        </p:txBody>
      </p:sp>
      <p:sp>
        <p:nvSpPr>
          <p:cNvPr id="9" name="card-SIS integration"/>
          <p:cNvSpPr/>
          <p:nvPr/>
        </p:nvSpPr>
        <p:spPr>
          <a:xfrm>
            <a:off x="2560320" y="1280160"/>
            <a:ext cx="1920240" cy="301752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SIS integration">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SIS integration</a:t>
            </a:r>
            <a:endParaRPr lang="en-US" sz="1500" dirty="0"/>
          </a:p>
          <a:p>
            <a:pPr indent="0" marL="0">
              <a:spcAft>
                <a:spcPts val="400"/>
              </a:spcAft>
              <a:buNone/>
            </a:pPr>
            <a:r>
              <a:rPr lang="en-US" sz="1400" dirty="0">
                <a:solidFill>
                  <a:schemeClr val="accent6"/>
                </a:solidFill>
              </a:rPr>
              <a:t>Real timetables, grades and library holdings</a:t>
            </a:r>
            <a:endParaRPr lang="en-US" sz="1500" dirty="0"/>
          </a:p>
        </p:txBody>
      </p:sp>
      <p:sp>
        <p:nvSpPr>
          <p:cNvPr id="13" name="card-Gate hardware"/>
          <p:cNvSpPr/>
          <p:nvPr/>
        </p:nvSpPr>
        <p:spPr>
          <a:xfrm>
            <a:off x="4663440" y="1280160"/>
            <a:ext cx="1920240" cy="301752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Gate hardware">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Gate hardware</a:t>
            </a:r>
            <a:endParaRPr lang="en-US" sz="1500" dirty="0"/>
          </a:p>
          <a:p>
            <a:pPr indent="0" marL="0">
              <a:spcAft>
                <a:spcPts val="400"/>
              </a:spcAft>
              <a:buNone/>
            </a:pPr>
            <a:r>
              <a:rPr lang="en-US" sz="1400" dirty="0">
                <a:solidFill>
                  <a:schemeClr val="accent6"/>
                </a:solidFill>
              </a:rPr>
              <a:t>Connect real biometric scanners to the ledger API</a:t>
            </a:r>
            <a:endParaRPr lang="en-US" sz="1500" dirty="0"/>
          </a:p>
        </p:txBody>
      </p:sp>
      <p:sp>
        <p:nvSpPr>
          <p:cNvPr id="17" name="card-Campus SSO"/>
          <p:cNvSpPr/>
          <p:nvPr/>
        </p:nvSpPr>
        <p:spPr>
          <a:xfrm>
            <a:off x="6766560" y="1280160"/>
            <a:ext cx="1920240" cy="301752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Campus SSO">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Campus SSO</a:t>
            </a:r>
            <a:endParaRPr lang="en-US" sz="1500" dirty="0"/>
          </a:p>
          <a:p>
            <a:pPr indent="0" marL="0">
              <a:spcAft>
                <a:spcPts val="400"/>
              </a:spcAft>
              <a:buNone/>
            </a:pPr>
            <a:r>
              <a:rPr lang="en-US" sz="1400" dirty="0">
                <a:solidFill>
                  <a:schemeClr val="accent6"/>
                </a:solidFill>
              </a:rPr>
              <a:t>Google Workspace or Azure AD sign-in for staff and students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THANK YOU</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Questions, and a live walkthrough of any scenario.</a:t>
            </a:r>
            <a:endParaRPr lang="en-US" sz="1600" dirty="0"/>
          </a:p>
        </p:txBody>
      </p:sp>
      <p:sp>
        <p:nvSpPr>
          <p:cNvPr id="5" name="Shape 3"/>
          <p:cNvSpPr/>
          <p:nvPr/>
        </p:nvSpPr>
        <p:spPr>
          <a:xfrm>
            <a:off x="4809744" y="969264"/>
            <a:ext cx="4005072" cy="2531758"/>
          </a:xfrm>
          <a:prstGeom prst="rect">
            <a:avLst/>
          </a:prstGeom>
          <a:solidFill>
            <a:schemeClr val="bg1"/>
          </a:solidFill>
          <a:ln w="12700">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Student services portal">    </p:cNvPr>
          <p:cNvPicPr>
            <a:picLocks noChangeAspect="1"/>
          </p:cNvPicPr>
          <p:nvPr/>
        </p:nvPicPr>
        <p:blipFill>
          <a:blip r:embed="rId1"/>
          <a:stretch>
            <a:fillRect/>
          </a:stretch>
        </p:blipFill>
        <p:spPr>
          <a:xfrm>
            <a:off x="4846320" y="1005840"/>
            <a:ext cx="3931920" cy="2458606"/>
          </a:xfrm>
          <a:prstGeom prst="rect">
            <a:avLst/>
          </a:prstGeom>
        </p:spPr>
      </p:pic>
    </p:spTree>
  </p:cSld>
  <p:clrMapOvr>
    <a:masterClrMapping/>
  </p:clrMapOvr>
</p:sld>
</file>

<file path=ppt/theme/theme1.xml><?xml version="1.0" encoding="utf-8"?>
<a:theme xmlns:a="http://schemas.openxmlformats.org/drawingml/2006/main" name="Demeure Campus OS">
  <a:themeElements>
    <a:clrScheme name="Demeure Campus OS">
      <a:dk1>
        <a:srgbClr val="111827"/>
      </a:dk1>
      <a:lt1>
        <a:srgbClr val="FFFFFF"/>
      </a:lt1>
      <a:dk2>
        <a:srgbClr val="1E3A5F"/>
      </a:dk2>
      <a:lt2>
        <a:srgbClr val="F8F6F2"/>
      </a:lt2>
      <a:accent1>
        <a:srgbClr val="1E3A5F"/>
      </a:accent1>
      <a:accent2>
        <a:srgbClr val="355E3B"/>
      </a:accent2>
      <a:accent3>
        <a:srgbClr val="4B8BFF"/>
      </a:accent3>
      <a:accent4>
        <a:srgbClr val="B45309"/>
      </a:accent4>
      <a:accent5>
        <a:srgbClr val="B91C1C"/>
      </a:accent5>
      <a:accent6>
        <a:srgbClr val="4B5563"/>
      </a:accent6>
      <a:hlink>
        <a:srgbClr val="1E3A5F"/>
      </a:hlink>
      <a:folHlink>
        <a:srgbClr val="4B5563"/>
      </a:folHlink>
    </a:clrScheme>
    <a:fontScheme name="Demeure Campus 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Demeure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Demeure AI: Campus OS Showcase</dc:title>
  <dc:subject>Use-case scenarios and production readiness</dc:subject>
  <dc:creator>Demeure AI Team</dc:creator>
  <cp:lastModifiedBy>Demeure AI Team</cp:lastModifiedBy>
  <cp:revision>1</cp:revision>
  <dcterms:created xsi:type="dcterms:W3CDTF">2026-10-07T03:18:50Z</dcterms:created>
  <dcterms:modified xsi:type="dcterms:W3CDTF">2026-10-07T03:18:50Z</dcterms:modified>
</cp:coreProperties>
</file>